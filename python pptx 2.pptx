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Helvetica World" charset="1" panose="020B0500040000020004"/>
      <p:regular r:id="rId17"/>
    </p:embeddedFont>
    <p:embeddedFont>
      <p:font typeface="Helvetica World Bold" charset="1" panose="020B0800040000020004"/>
      <p:regular r:id="rId18"/>
    </p:embeddedFont>
    <p:embeddedFont>
      <p:font typeface="Times New Roman MT" charset="1" panose="02030502070405020303"/>
      <p:regular r:id="rId19"/>
    </p:embeddedFont>
    <p:embeddedFont>
      <p:font typeface="Arimo" charset="1" panose="020B0604020202020204"/>
      <p:regular r:id="rId20"/>
    </p:embeddedFont>
    <p:embeddedFont>
      <p:font typeface="Glacial Indifference Italics" charset="1" panose="00000000000000000000"/>
      <p:regular r:id="rId21"/>
    </p:embeddedFont>
    <p:embeddedFont>
      <p:font typeface="Times New Roman MT Italics" charset="1" panose="02030502070405090303"/>
      <p:regular r:id="rId22"/>
    </p:embeddedFont>
    <p:embeddedFont>
      <p:font typeface="Glacial Indifference Bold Italics" charset="1" panose="00000800000000000000"/>
      <p:regular r:id="rId23"/>
    </p:embeddedFont>
    <p:embeddedFont>
      <p:font typeface="Glacial Indifference" charset="1" panose="00000000000000000000"/>
      <p:regular r:id="rId24"/>
    </p:embeddedFont>
    <p:embeddedFont>
      <p:font typeface="Times New Roman MT Bold Italics" charset="1" panose="02030802070405090303"/>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6.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jpeg" Type="http://schemas.openxmlformats.org/officeDocument/2006/relationships/image"/><Relationship Id="rId4" Target="../media/image8.jpe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9.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 Id="rId7" Target="../media/image1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media/image19.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15780466" y="639280"/>
            <a:ext cx="1478834" cy="453314"/>
            <a:chOff x="0" y="0"/>
            <a:chExt cx="389487" cy="119391"/>
          </a:xfrm>
        </p:grpSpPr>
        <p:sp>
          <p:nvSpPr>
            <p:cNvPr name="Freeform 4" id="4"/>
            <p:cNvSpPr/>
            <p:nvPr/>
          </p:nvSpPr>
          <p:spPr>
            <a:xfrm flipH="false" flipV="false" rot="0">
              <a:off x="0" y="0"/>
              <a:ext cx="389487" cy="119391"/>
            </a:xfrm>
            <a:custGeom>
              <a:avLst/>
              <a:gdLst/>
              <a:ahLst/>
              <a:cxnLst/>
              <a:rect r="r" b="b" t="t" l="l"/>
              <a:pathLst>
                <a:path h="119391" w="389487">
                  <a:moveTo>
                    <a:pt x="52352" y="0"/>
                  </a:moveTo>
                  <a:lnTo>
                    <a:pt x="337136" y="0"/>
                  </a:lnTo>
                  <a:cubicBezTo>
                    <a:pt x="366049" y="0"/>
                    <a:pt x="389487" y="23439"/>
                    <a:pt x="389487" y="52352"/>
                  </a:cubicBezTo>
                  <a:lnTo>
                    <a:pt x="389487" y="67040"/>
                  </a:lnTo>
                  <a:cubicBezTo>
                    <a:pt x="389487" y="80924"/>
                    <a:pt x="383972" y="94240"/>
                    <a:pt x="374154" y="104058"/>
                  </a:cubicBezTo>
                  <a:cubicBezTo>
                    <a:pt x="364336" y="113876"/>
                    <a:pt x="351020" y="119391"/>
                    <a:pt x="337136" y="119391"/>
                  </a:cubicBezTo>
                  <a:lnTo>
                    <a:pt x="52352" y="119391"/>
                  </a:lnTo>
                  <a:cubicBezTo>
                    <a:pt x="23439" y="119391"/>
                    <a:pt x="0" y="95953"/>
                    <a:pt x="0" y="67040"/>
                  </a:cubicBezTo>
                  <a:lnTo>
                    <a:pt x="0" y="52352"/>
                  </a:lnTo>
                  <a:cubicBezTo>
                    <a:pt x="0" y="23439"/>
                    <a:pt x="23439" y="0"/>
                    <a:pt x="52352" y="0"/>
                  </a:cubicBezTo>
                  <a:close/>
                </a:path>
              </a:pathLst>
            </a:custGeom>
            <a:gradFill rotWithShape="true">
              <a:gsLst>
                <a:gs pos="0">
                  <a:srgbClr val="5DE0E6">
                    <a:alpha val="100000"/>
                  </a:srgbClr>
                </a:gs>
                <a:gs pos="100000">
                  <a:srgbClr val="004AAD">
                    <a:alpha val="100000"/>
                  </a:srgbClr>
                </a:gs>
              </a:gsLst>
              <a:lin ang="0"/>
            </a:gradFill>
            <a:ln cap="sq">
              <a:noFill/>
              <a:prstDash val="solid"/>
              <a:miter/>
            </a:ln>
          </p:spPr>
        </p:sp>
        <p:sp>
          <p:nvSpPr>
            <p:cNvPr name="TextBox 5" id="5"/>
            <p:cNvSpPr txBox="true"/>
            <p:nvPr/>
          </p:nvSpPr>
          <p:spPr>
            <a:xfrm>
              <a:off x="0" y="28575"/>
              <a:ext cx="389487" cy="90816"/>
            </a:xfrm>
            <a:prstGeom prst="rect">
              <a:avLst/>
            </a:prstGeom>
          </p:spPr>
          <p:txBody>
            <a:bodyPr anchor="ctr" rtlCol="false" tIns="50800" lIns="50800" bIns="50800" rIns="50800"/>
            <a:lstStyle/>
            <a:p>
              <a:pPr algn="ctr">
                <a:lnSpc>
                  <a:spcPts val="1134"/>
                </a:lnSpc>
              </a:pPr>
            </a:p>
          </p:txBody>
        </p:sp>
      </p:grpSp>
      <p:grpSp>
        <p:nvGrpSpPr>
          <p:cNvPr name="Group 6" id="6"/>
          <p:cNvGrpSpPr/>
          <p:nvPr/>
        </p:nvGrpSpPr>
        <p:grpSpPr>
          <a:xfrm rot="0">
            <a:off x="10181897" y="2792486"/>
            <a:ext cx="7077403" cy="6465814"/>
            <a:chOff x="0" y="0"/>
            <a:chExt cx="1864007" cy="1702930"/>
          </a:xfrm>
        </p:grpSpPr>
        <p:sp>
          <p:nvSpPr>
            <p:cNvPr name="Freeform 7" id="7"/>
            <p:cNvSpPr/>
            <p:nvPr/>
          </p:nvSpPr>
          <p:spPr>
            <a:xfrm flipH="false" flipV="false" rot="0">
              <a:off x="0" y="0"/>
              <a:ext cx="1864007" cy="1702930"/>
            </a:xfrm>
            <a:custGeom>
              <a:avLst/>
              <a:gdLst/>
              <a:ahLst/>
              <a:cxnLst/>
              <a:rect r="r" b="b" t="t" l="l"/>
              <a:pathLst>
                <a:path h="1702930" w="1864007">
                  <a:moveTo>
                    <a:pt x="54695" y="0"/>
                  </a:moveTo>
                  <a:lnTo>
                    <a:pt x="1809313" y="0"/>
                  </a:lnTo>
                  <a:cubicBezTo>
                    <a:pt x="1823819" y="0"/>
                    <a:pt x="1837730" y="5762"/>
                    <a:pt x="1847988" y="16020"/>
                  </a:cubicBezTo>
                  <a:cubicBezTo>
                    <a:pt x="1858245" y="26277"/>
                    <a:pt x="1864007" y="40189"/>
                    <a:pt x="1864007" y="54695"/>
                  </a:cubicBezTo>
                  <a:lnTo>
                    <a:pt x="1864007" y="1648236"/>
                  </a:lnTo>
                  <a:cubicBezTo>
                    <a:pt x="1864007" y="1662742"/>
                    <a:pt x="1858245" y="1676653"/>
                    <a:pt x="1847988" y="1686911"/>
                  </a:cubicBezTo>
                  <a:cubicBezTo>
                    <a:pt x="1837730" y="1697168"/>
                    <a:pt x="1823819" y="1702930"/>
                    <a:pt x="1809313" y="1702930"/>
                  </a:cubicBezTo>
                  <a:lnTo>
                    <a:pt x="54695" y="1702930"/>
                  </a:lnTo>
                  <a:cubicBezTo>
                    <a:pt x="40189" y="1702930"/>
                    <a:pt x="26277" y="1697168"/>
                    <a:pt x="16020" y="1686911"/>
                  </a:cubicBezTo>
                  <a:cubicBezTo>
                    <a:pt x="5762" y="1676653"/>
                    <a:pt x="0" y="1662742"/>
                    <a:pt x="0" y="1648236"/>
                  </a:cubicBezTo>
                  <a:lnTo>
                    <a:pt x="0" y="54695"/>
                  </a:lnTo>
                  <a:cubicBezTo>
                    <a:pt x="0" y="40189"/>
                    <a:pt x="5762" y="26277"/>
                    <a:pt x="16020" y="16020"/>
                  </a:cubicBezTo>
                  <a:cubicBezTo>
                    <a:pt x="26277" y="5762"/>
                    <a:pt x="40189" y="0"/>
                    <a:pt x="54695" y="0"/>
                  </a:cubicBezTo>
                  <a:close/>
                </a:path>
              </a:pathLst>
            </a:custGeom>
            <a:solidFill>
              <a:srgbClr val="000000">
                <a:alpha val="49804"/>
              </a:srgbClr>
            </a:solidFill>
          </p:spPr>
        </p:sp>
        <p:sp>
          <p:nvSpPr>
            <p:cNvPr name="TextBox 8" id="8"/>
            <p:cNvSpPr txBox="true"/>
            <p:nvPr/>
          </p:nvSpPr>
          <p:spPr>
            <a:xfrm>
              <a:off x="0" y="47625"/>
              <a:ext cx="1864007" cy="1655305"/>
            </a:xfrm>
            <a:prstGeom prst="rect">
              <a:avLst/>
            </a:prstGeom>
          </p:spPr>
          <p:txBody>
            <a:bodyPr anchor="ctr" rtlCol="false" tIns="50800" lIns="50800" bIns="50800" rIns="50800"/>
            <a:lstStyle/>
            <a:p>
              <a:pPr algn="ctr">
                <a:lnSpc>
                  <a:spcPts val="1134"/>
                </a:lnSpc>
              </a:pPr>
            </a:p>
          </p:txBody>
        </p:sp>
      </p:grpSp>
      <p:grpSp>
        <p:nvGrpSpPr>
          <p:cNvPr name="Group 9" id="9"/>
          <p:cNvGrpSpPr/>
          <p:nvPr/>
        </p:nvGrpSpPr>
        <p:grpSpPr>
          <a:xfrm rot="0">
            <a:off x="10181897" y="2792486"/>
            <a:ext cx="7077403" cy="6465814"/>
            <a:chOff x="0" y="0"/>
            <a:chExt cx="1864007" cy="1702930"/>
          </a:xfrm>
        </p:grpSpPr>
        <p:sp>
          <p:nvSpPr>
            <p:cNvPr name="Freeform 10" id="10"/>
            <p:cNvSpPr/>
            <p:nvPr/>
          </p:nvSpPr>
          <p:spPr>
            <a:xfrm flipH="false" flipV="false" rot="0">
              <a:off x="0" y="0"/>
              <a:ext cx="1864007" cy="1702930"/>
            </a:xfrm>
            <a:custGeom>
              <a:avLst/>
              <a:gdLst/>
              <a:ahLst/>
              <a:cxnLst/>
              <a:rect r="r" b="b" t="t" l="l"/>
              <a:pathLst>
                <a:path h="1702930" w="1864007">
                  <a:moveTo>
                    <a:pt x="54695" y="0"/>
                  </a:moveTo>
                  <a:lnTo>
                    <a:pt x="1809313" y="0"/>
                  </a:lnTo>
                  <a:cubicBezTo>
                    <a:pt x="1823819" y="0"/>
                    <a:pt x="1837730" y="5762"/>
                    <a:pt x="1847988" y="16020"/>
                  </a:cubicBezTo>
                  <a:cubicBezTo>
                    <a:pt x="1858245" y="26277"/>
                    <a:pt x="1864007" y="40189"/>
                    <a:pt x="1864007" y="54695"/>
                  </a:cubicBezTo>
                  <a:lnTo>
                    <a:pt x="1864007" y="1648236"/>
                  </a:lnTo>
                  <a:cubicBezTo>
                    <a:pt x="1864007" y="1662742"/>
                    <a:pt x="1858245" y="1676653"/>
                    <a:pt x="1847988" y="1686911"/>
                  </a:cubicBezTo>
                  <a:cubicBezTo>
                    <a:pt x="1837730" y="1697168"/>
                    <a:pt x="1823819" y="1702930"/>
                    <a:pt x="1809313" y="1702930"/>
                  </a:cubicBezTo>
                  <a:lnTo>
                    <a:pt x="54695" y="1702930"/>
                  </a:lnTo>
                  <a:cubicBezTo>
                    <a:pt x="40189" y="1702930"/>
                    <a:pt x="26277" y="1697168"/>
                    <a:pt x="16020" y="1686911"/>
                  </a:cubicBezTo>
                  <a:cubicBezTo>
                    <a:pt x="5762" y="1676653"/>
                    <a:pt x="0" y="1662742"/>
                    <a:pt x="0" y="1648236"/>
                  </a:cubicBezTo>
                  <a:lnTo>
                    <a:pt x="0" y="54695"/>
                  </a:lnTo>
                  <a:cubicBezTo>
                    <a:pt x="0" y="40189"/>
                    <a:pt x="5762" y="26277"/>
                    <a:pt x="16020" y="16020"/>
                  </a:cubicBezTo>
                  <a:cubicBezTo>
                    <a:pt x="26277" y="5762"/>
                    <a:pt x="40189" y="0"/>
                    <a:pt x="54695" y="0"/>
                  </a:cubicBezTo>
                  <a:close/>
                </a:path>
              </a:pathLst>
            </a:custGeom>
            <a:ln w="19050" cap="rnd">
              <a:gradFill>
                <a:gsLst>
                  <a:gs pos="0">
                    <a:srgbClr val="5DE0E6">
                      <a:alpha val="100000"/>
                    </a:srgbClr>
                  </a:gs>
                  <a:gs pos="100000">
                    <a:srgbClr val="004AAD">
                      <a:alpha val="100000"/>
                    </a:srgbClr>
                  </a:gs>
                </a:gsLst>
                <a:lin ang="0"/>
              </a:gradFill>
              <a:prstDash val="solid"/>
              <a:round/>
            </a:ln>
          </p:spPr>
        </p:sp>
        <p:sp>
          <p:nvSpPr>
            <p:cNvPr name="TextBox 11" id="11"/>
            <p:cNvSpPr txBox="true"/>
            <p:nvPr/>
          </p:nvSpPr>
          <p:spPr>
            <a:xfrm>
              <a:off x="0" y="47625"/>
              <a:ext cx="1864007" cy="1655305"/>
            </a:xfrm>
            <a:prstGeom prst="rect">
              <a:avLst/>
            </a:prstGeom>
          </p:spPr>
          <p:txBody>
            <a:bodyPr anchor="ctr" rtlCol="false" tIns="50800" lIns="50800" bIns="50800" rIns="50800"/>
            <a:lstStyle/>
            <a:p>
              <a:pPr algn="ctr">
                <a:lnSpc>
                  <a:spcPts val="1134"/>
                </a:lnSpc>
              </a:pPr>
            </a:p>
          </p:txBody>
        </p:sp>
      </p:grpSp>
      <p:grpSp>
        <p:nvGrpSpPr>
          <p:cNvPr name="Group 12" id="12"/>
          <p:cNvGrpSpPr/>
          <p:nvPr/>
        </p:nvGrpSpPr>
        <p:grpSpPr>
          <a:xfrm rot="0">
            <a:off x="10685574" y="3236773"/>
            <a:ext cx="6070048" cy="5577240"/>
            <a:chOff x="0" y="0"/>
            <a:chExt cx="1090237" cy="1001724"/>
          </a:xfrm>
        </p:grpSpPr>
        <p:sp>
          <p:nvSpPr>
            <p:cNvPr name="Freeform 13" id="13"/>
            <p:cNvSpPr/>
            <p:nvPr/>
          </p:nvSpPr>
          <p:spPr>
            <a:xfrm flipH="false" flipV="false" rot="0">
              <a:off x="0" y="0"/>
              <a:ext cx="1090237" cy="1001724"/>
            </a:xfrm>
            <a:custGeom>
              <a:avLst/>
              <a:gdLst/>
              <a:ahLst/>
              <a:cxnLst/>
              <a:rect r="r" b="b" t="t" l="l"/>
              <a:pathLst>
                <a:path h="1001724" w="1090237">
                  <a:moveTo>
                    <a:pt x="63771" y="0"/>
                  </a:moveTo>
                  <a:lnTo>
                    <a:pt x="1026465" y="0"/>
                  </a:lnTo>
                  <a:cubicBezTo>
                    <a:pt x="1043378" y="0"/>
                    <a:pt x="1059599" y="6719"/>
                    <a:pt x="1071558" y="18678"/>
                  </a:cubicBezTo>
                  <a:cubicBezTo>
                    <a:pt x="1083518" y="30638"/>
                    <a:pt x="1090237" y="46858"/>
                    <a:pt x="1090237" y="63771"/>
                  </a:cubicBezTo>
                  <a:lnTo>
                    <a:pt x="1090237" y="937952"/>
                  </a:lnTo>
                  <a:cubicBezTo>
                    <a:pt x="1090237" y="973172"/>
                    <a:pt x="1061685" y="1001724"/>
                    <a:pt x="1026465" y="1001724"/>
                  </a:cubicBezTo>
                  <a:lnTo>
                    <a:pt x="63771" y="1001724"/>
                  </a:lnTo>
                  <a:cubicBezTo>
                    <a:pt x="46858" y="1001724"/>
                    <a:pt x="30638" y="995005"/>
                    <a:pt x="18678" y="983046"/>
                  </a:cubicBezTo>
                  <a:cubicBezTo>
                    <a:pt x="6719" y="971086"/>
                    <a:pt x="0" y="954866"/>
                    <a:pt x="0" y="937952"/>
                  </a:cubicBezTo>
                  <a:lnTo>
                    <a:pt x="0" y="63771"/>
                  </a:lnTo>
                  <a:cubicBezTo>
                    <a:pt x="0" y="46858"/>
                    <a:pt x="6719" y="30638"/>
                    <a:pt x="18678" y="18678"/>
                  </a:cubicBezTo>
                  <a:cubicBezTo>
                    <a:pt x="30638" y="6719"/>
                    <a:pt x="46858" y="0"/>
                    <a:pt x="63771" y="0"/>
                  </a:cubicBezTo>
                  <a:close/>
                </a:path>
              </a:pathLst>
            </a:custGeom>
            <a:blipFill>
              <a:blip r:embed="rId3"/>
              <a:stretch>
                <a:fillRect l="-31672" t="0" r="-31672" b="0"/>
              </a:stretch>
            </a:blipFill>
          </p:spPr>
        </p:sp>
      </p:grpSp>
      <p:grpSp>
        <p:nvGrpSpPr>
          <p:cNvPr name="Group 14" id="14"/>
          <p:cNvGrpSpPr/>
          <p:nvPr/>
        </p:nvGrpSpPr>
        <p:grpSpPr>
          <a:xfrm rot="0">
            <a:off x="1028700" y="7871481"/>
            <a:ext cx="1983812" cy="684161"/>
            <a:chOff x="0" y="0"/>
            <a:chExt cx="522485" cy="180191"/>
          </a:xfrm>
        </p:grpSpPr>
        <p:sp>
          <p:nvSpPr>
            <p:cNvPr name="Freeform 15" id="15"/>
            <p:cNvSpPr/>
            <p:nvPr/>
          </p:nvSpPr>
          <p:spPr>
            <a:xfrm flipH="false" flipV="false" rot="0">
              <a:off x="0" y="0"/>
              <a:ext cx="522485" cy="180191"/>
            </a:xfrm>
            <a:custGeom>
              <a:avLst/>
              <a:gdLst/>
              <a:ahLst/>
              <a:cxnLst/>
              <a:rect r="r" b="b" t="t" l="l"/>
              <a:pathLst>
                <a:path h="180191" w="522485">
                  <a:moveTo>
                    <a:pt x="90095" y="0"/>
                  </a:moveTo>
                  <a:lnTo>
                    <a:pt x="432390" y="0"/>
                  </a:lnTo>
                  <a:cubicBezTo>
                    <a:pt x="482148" y="0"/>
                    <a:pt x="522485" y="40337"/>
                    <a:pt x="522485" y="90095"/>
                  </a:cubicBezTo>
                  <a:lnTo>
                    <a:pt x="522485" y="90095"/>
                  </a:lnTo>
                  <a:cubicBezTo>
                    <a:pt x="522485" y="113990"/>
                    <a:pt x="512993" y="136906"/>
                    <a:pt x="496097" y="153802"/>
                  </a:cubicBezTo>
                  <a:cubicBezTo>
                    <a:pt x="479201" y="170698"/>
                    <a:pt x="456285" y="180191"/>
                    <a:pt x="432390" y="180191"/>
                  </a:cubicBezTo>
                  <a:lnTo>
                    <a:pt x="90095" y="180191"/>
                  </a:lnTo>
                  <a:cubicBezTo>
                    <a:pt x="66201" y="180191"/>
                    <a:pt x="43284" y="170698"/>
                    <a:pt x="26388" y="153802"/>
                  </a:cubicBezTo>
                  <a:cubicBezTo>
                    <a:pt x="9492" y="136906"/>
                    <a:pt x="0" y="113990"/>
                    <a:pt x="0" y="90095"/>
                  </a:cubicBezTo>
                  <a:lnTo>
                    <a:pt x="0" y="90095"/>
                  </a:lnTo>
                  <a:cubicBezTo>
                    <a:pt x="0" y="66201"/>
                    <a:pt x="9492" y="43284"/>
                    <a:pt x="26388" y="26388"/>
                  </a:cubicBezTo>
                  <a:cubicBezTo>
                    <a:pt x="43284" y="9492"/>
                    <a:pt x="66201" y="0"/>
                    <a:pt x="90095" y="0"/>
                  </a:cubicBezTo>
                  <a:close/>
                </a:path>
              </a:pathLst>
            </a:custGeom>
            <a:gradFill rotWithShape="true">
              <a:gsLst>
                <a:gs pos="0">
                  <a:srgbClr val="5DE0E6">
                    <a:alpha val="100000"/>
                  </a:srgbClr>
                </a:gs>
                <a:gs pos="100000">
                  <a:srgbClr val="004AAD">
                    <a:alpha val="100000"/>
                  </a:srgbClr>
                </a:gs>
              </a:gsLst>
              <a:lin ang="0"/>
            </a:gradFill>
            <a:ln cap="rnd">
              <a:noFill/>
              <a:prstDash val="solid"/>
              <a:round/>
            </a:ln>
          </p:spPr>
        </p:sp>
        <p:sp>
          <p:nvSpPr>
            <p:cNvPr name="TextBox 16" id="16"/>
            <p:cNvSpPr txBox="true"/>
            <p:nvPr/>
          </p:nvSpPr>
          <p:spPr>
            <a:xfrm>
              <a:off x="0" y="28575"/>
              <a:ext cx="522485" cy="151616"/>
            </a:xfrm>
            <a:prstGeom prst="rect">
              <a:avLst/>
            </a:prstGeom>
          </p:spPr>
          <p:txBody>
            <a:bodyPr anchor="ctr" rtlCol="false" tIns="50800" lIns="50800" bIns="50800" rIns="50800"/>
            <a:lstStyle/>
            <a:p>
              <a:pPr algn="ctr">
                <a:lnSpc>
                  <a:spcPts val="1134"/>
                </a:lnSpc>
              </a:pPr>
            </a:p>
          </p:txBody>
        </p:sp>
      </p:grpSp>
      <p:sp>
        <p:nvSpPr>
          <p:cNvPr name="TextBox 17" id="17"/>
          <p:cNvSpPr txBox="true"/>
          <p:nvPr/>
        </p:nvSpPr>
        <p:spPr>
          <a:xfrm rot="0">
            <a:off x="7054987" y="807453"/>
            <a:ext cx="810952"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Home</a:t>
            </a:r>
          </a:p>
        </p:txBody>
      </p:sp>
      <p:sp>
        <p:nvSpPr>
          <p:cNvPr name="TextBox 18" id="18"/>
          <p:cNvSpPr txBox="true"/>
          <p:nvPr/>
        </p:nvSpPr>
        <p:spPr>
          <a:xfrm rot="0">
            <a:off x="8498359" y="807453"/>
            <a:ext cx="1051116"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About Us</a:t>
            </a:r>
          </a:p>
        </p:txBody>
      </p:sp>
      <p:sp>
        <p:nvSpPr>
          <p:cNvPr name="TextBox 19" id="19"/>
          <p:cNvSpPr txBox="true"/>
          <p:nvPr/>
        </p:nvSpPr>
        <p:spPr>
          <a:xfrm rot="0">
            <a:off x="10181897" y="807453"/>
            <a:ext cx="1051116"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Services</a:t>
            </a:r>
          </a:p>
        </p:txBody>
      </p:sp>
      <p:sp>
        <p:nvSpPr>
          <p:cNvPr name="TextBox 20" id="20"/>
          <p:cNvSpPr txBox="true"/>
          <p:nvPr/>
        </p:nvSpPr>
        <p:spPr>
          <a:xfrm rot="0">
            <a:off x="16034591" y="807453"/>
            <a:ext cx="970584" cy="177293"/>
          </a:xfrm>
          <a:prstGeom prst="rect">
            <a:avLst/>
          </a:prstGeom>
        </p:spPr>
        <p:txBody>
          <a:bodyPr anchor="t" rtlCol="false" tIns="0" lIns="0" bIns="0" rIns="0">
            <a:spAutoFit/>
          </a:bodyPr>
          <a:lstStyle/>
          <a:p>
            <a:pPr algn="ctr">
              <a:lnSpc>
                <a:spcPts val="1134"/>
              </a:lnSpc>
            </a:pPr>
            <a:r>
              <a:rPr lang="en-US" b="true" sz="1400" spc="-28">
                <a:solidFill>
                  <a:srgbClr val="000000"/>
                </a:solidFill>
                <a:latin typeface="Helvetica World Bold"/>
                <a:ea typeface="Helvetica World Bold"/>
                <a:cs typeface="Helvetica World Bold"/>
                <a:sym typeface="Helvetica World Bold"/>
              </a:rPr>
              <a:t>Contact</a:t>
            </a:r>
          </a:p>
        </p:txBody>
      </p:sp>
      <p:sp>
        <p:nvSpPr>
          <p:cNvPr name="TextBox 21" id="21"/>
          <p:cNvSpPr txBox="true"/>
          <p:nvPr/>
        </p:nvSpPr>
        <p:spPr>
          <a:xfrm rot="0">
            <a:off x="838882" y="2105109"/>
            <a:ext cx="6678531" cy="2173659"/>
          </a:xfrm>
          <a:prstGeom prst="rect">
            <a:avLst/>
          </a:prstGeom>
        </p:spPr>
        <p:txBody>
          <a:bodyPr anchor="t" rtlCol="false" tIns="0" lIns="0" bIns="0" rIns="0">
            <a:spAutoFit/>
          </a:bodyPr>
          <a:lstStyle/>
          <a:p>
            <a:pPr algn="l">
              <a:lnSpc>
                <a:spcPts val="7603"/>
              </a:lnSpc>
            </a:pPr>
            <a:r>
              <a:rPr lang="en-US" b="true" sz="7311" spc="-475">
                <a:solidFill>
                  <a:srgbClr val="52CFE0"/>
                </a:solidFill>
                <a:latin typeface="Helvetica World Bold"/>
                <a:ea typeface="Helvetica World Bold"/>
                <a:cs typeface="Helvetica World Bold"/>
                <a:sym typeface="Helvetica World Bold"/>
              </a:rPr>
              <a:t>FULL STACK PYTHON </a:t>
            </a:r>
          </a:p>
        </p:txBody>
      </p:sp>
      <p:sp>
        <p:nvSpPr>
          <p:cNvPr name="TextBox 22" id="22"/>
          <p:cNvSpPr txBox="true"/>
          <p:nvPr/>
        </p:nvSpPr>
        <p:spPr>
          <a:xfrm rot="0">
            <a:off x="838882" y="4774807"/>
            <a:ext cx="8520776" cy="727861"/>
          </a:xfrm>
          <a:prstGeom prst="rect">
            <a:avLst/>
          </a:prstGeom>
        </p:spPr>
        <p:txBody>
          <a:bodyPr anchor="t" rtlCol="false" tIns="0" lIns="0" bIns="0" rIns="0">
            <a:spAutoFit/>
          </a:bodyPr>
          <a:lstStyle/>
          <a:p>
            <a:pPr algn="l">
              <a:lnSpc>
                <a:spcPts val="2640"/>
              </a:lnSpc>
            </a:pPr>
            <a:r>
              <a:rPr lang="en-US" sz="2538" spc="-50">
                <a:solidFill>
                  <a:srgbClr val="F7F7F7"/>
                </a:solidFill>
                <a:latin typeface="Times New Roman MT"/>
                <a:ea typeface="Times New Roman MT"/>
                <a:cs typeface="Times New Roman MT"/>
                <a:sym typeface="Times New Roman MT"/>
              </a:rPr>
              <a:t>A Complete Guide to Web Development, Application Architecture and Real-World Projects</a:t>
            </a:r>
          </a:p>
        </p:txBody>
      </p:sp>
      <p:sp>
        <p:nvSpPr>
          <p:cNvPr name="TextBox 23" id="23"/>
          <p:cNvSpPr txBox="true"/>
          <p:nvPr/>
        </p:nvSpPr>
        <p:spPr>
          <a:xfrm rot="0">
            <a:off x="1028700" y="8051065"/>
            <a:ext cx="1983812" cy="306197"/>
          </a:xfrm>
          <a:prstGeom prst="rect">
            <a:avLst/>
          </a:prstGeom>
        </p:spPr>
        <p:txBody>
          <a:bodyPr anchor="t" rtlCol="false" tIns="0" lIns="0" bIns="0" rIns="0">
            <a:spAutoFit/>
          </a:bodyPr>
          <a:lstStyle/>
          <a:p>
            <a:pPr algn="ctr">
              <a:lnSpc>
                <a:spcPts val="2184"/>
              </a:lnSpc>
            </a:pPr>
            <a:r>
              <a:rPr lang="en-US" b="true" sz="2100" spc="-42">
                <a:solidFill>
                  <a:srgbClr val="000000"/>
                </a:solidFill>
                <a:latin typeface="Helvetica World Bold"/>
                <a:ea typeface="Helvetica World Bold"/>
                <a:cs typeface="Helvetica World Bold"/>
                <a:sym typeface="Helvetica World Bold"/>
              </a:rPr>
              <a:t>Launch It</a:t>
            </a:r>
          </a:p>
        </p:txBody>
      </p:sp>
      <p:sp>
        <p:nvSpPr>
          <p:cNvPr name="TextBox 24" id="24"/>
          <p:cNvSpPr txBox="true"/>
          <p:nvPr/>
        </p:nvSpPr>
        <p:spPr>
          <a:xfrm rot="0">
            <a:off x="1187407" y="5683090"/>
            <a:ext cx="6678531" cy="1950820"/>
          </a:xfrm>
          <a:prstGeom prst="rect">
            <a:avLst/>
          </a:prstGeom>
        </p:spPr>
        <p:txBody>
          <a:bodyPr anchor="t" rtlCol="false" tIns="0" lIns="0" bIns="0" rIns="0">
            <a:spAutoFit/>
          </a:bodyPr>
          <a:lstStyle/>
          <a:p>
            <a:pPr algn="l">
              <a:lnSpc>
                <a:spcPts val="2519"/>
              </a:lnSpc>
            </a:pPr>
            <a:r>
              <a:rPr lang="en-US" sz="1799" spc="-35">
                <a:solidFill>
                  <a:srgbClr val="F7F7F7"/>
                </a:solidFill>
                <a:latin typeface="Arimo"/>
                <a:ea typeface="Arimo"/>
                <a:cs typeface="Arimo"/>
                <a:sym typeface="Arimo"/>
              </a:rPr>
              <a:t>Learn to design, develop, and maintain complete web applications using Python and modern development technologies.</a:t>
            </a:r>
          </a:p>
          <a:p>
            <a:pPr algn="l">
              <a:lnSpc>
                <a:spcPts val="2519"/>
              </a:lnSpc>
            </a:pPr>
            <a:r>
              <a:rPr lang="en-US" sz="1799" spc="-35">
                <a:solidFill>
                  <a:srgbClr val="F7F7F7"/>
                </a:solidFill>
                <a:latin typeface="Arimo"/>
                <a:ea typeface="Arimo"/>
                <a:cs typeface="Arimo"/>
                <a:sym typeface="Arimo"/>
              </a:rPr>
              <a:t>From writing Python code to building scalable applications, this course introduces the concepts required to develop real-world software.</a:t>
            </a:r>
          </a:p>
          <a:p>
            <a:pPr algn="l">
              <a:lnSpc>
                <a:spcPts val="2939"/>
              </a:lnSpc>
            </a:pPr>
          </a:p>
        </p:txBody>
      </p:sp>
      <p:grpSp>
        <p:nvGrpSpPr>
          <p:cNvPr name="Group 25" id="25"/>
          <p:cNvGrpSpPr/>
          <p:nvPr/>
        </p:nvGrpSpPr>
        <p:grpSpPr>
          <a:xfrm rot="0">
            <a:off x="7082977" y="7931388"/>
            <a:ext cx="624254" cy="624254"/>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100000"/>
                  </a:srgbClr>
                </a:gs>
                <a:gs pos="100000">
                  <a:srgbClr val="004AAD">
                    <a:alpha val="100000"/>
                  </a:srgbClr>
                </a:gs>
              </a:gsLst>
              <a:lin ang="0"/>
            </a:gradFill>
          </p:spPr>
        </p:sp>
        <p:sp>
          <p:nvSpPr>
            <p:cNvPr name="TextBox 27" id="27"/>
            <p:cNvSpPr txBox="true"/>
            <p:nvPr/>
          </p:nvSpPr>
          <p:spPr>
            <a:xfrm>
              <a:off x="76200" y="123825"/>
              <a:ext cx="660400" cy="612775"/>
            </a:xfrm>
            <a:prstGeom prst="rect">
              <a:avLst/>
            </a:prstGeom>
          </p:spPr>
          <p:txBody>
            <a:bodyPr anchor="ctr" rtlCol="false" tIns="50800" lIns="50800" bIns="50800" rIns="50800"/>
            <a:lstStyle/>
            <a:p>
              <a:pPr algn="ctr">
                <a:lnSpc>
                  <a:spcPts val="1134"/>
                </a:lnSpc>
              </a:pPr>
            </a:p>
          </p:txBody>
        </p:sp>
      </p:grpSp>
      <p:sp>
        <p:nvSpPr>
          <p:cNvPr name="Freeform 28" id="28"/>
          <p:cNvSpPr/>
          <p:nvPr/>
        </p:nvSpPr>
        <p:spPr>
          <a:xfrm flipH="true" flipV="false" rot="0">
            <a:off x="7313554" y="8074337"/>
            <a:ext cx="203860" cy="338357"/>
          </a:xfrm>
          <a:custGeom>
            <a:avLst/>
            <a:gdLst/>
            <a:ahLst/>
            <a:cxnLst/>
            <a:rect r="r" b="b" t="t" l="l"/>
            <a:pathLst>
              <a:path h="338357" w="203860">
                <a:moveTo>
                  <a:pt x="203859" y="0"/>
                </a:moveTo>
                <a:lnTo>
                  <a:pt x="0" y="0"/>
                </a:lnTo>
                <a:lnTo>
                  <a:pt x="0" y="338356"/>
                </a:lnTo>
                <a:lnTo>
                  <a:pt x="203859" y="338356"/>
                </a:lnTo>
                <a:lnTo>
                  <a:pt x="20385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15780466" y="639280"/>
            <a:ext cx="1478834" cy="453314"/>
            <a:chOff x="0" y="0"/>
            <a:chExt cx="389487" cy="119391"/>
          </a:xfrm>
        </p:grpSpPr>
        <p:sp>
          <p:nvSpPr>
            <p:cNvPr name="Freeform 4" id="4"/>
            <p:cNvSpPr/>
            <p:nvPr/>
          </p:nvSpPr>
          <p:spPr>
            <a:xfrm flipH="false" flipV="false" rot="0">
              <a:off x="0" y="0"/>
              <a:ext cx="389487" cy="119391"/>
            </a:xfrm>
            <a:custGeom>
              <a:avLst/>
              <a:gdLst/>
              <a:ahLst/>
              <a:cxnLst/>
              <a:rect r="r" b="b" t="t" l="l"/>
              <a:pathLst>
                <a:path h="119391" w="389487">
                  <a:moveTo>
                    <a:pt x="52352" y="0"/>
                  </a:moveTo>
                  <a:lnTo>
                    <a:pt x="337136" y="0"/>
                  </a:lnTo>
                  <a:cubicBezTo>
                    <a:pt x="366049" y="0"/>
                    <a:pt x="389487" y="23439"/>
                    <a:pt x="389487" y="52352"/>
                  </a:cubicBezTo>
                  <a:lnTo>
                    <a:pt x="389487" y="67040"/>
                  </a:lnTo>
                  <a:cubicBezTo>
                    <a:pt x="389487" y="80924"/>
                    <a:pt x="383972" y="94240"/>
                    <a:pt x="374154" y="104058"/>
                  </a:cubicBezTo>
                  <a:cubicBezTo>
                    <a:pt x="364336" y="113876"/>
                    <a:pt x="351020" y="119391"/>
                    <a:pt x="337136" y="119391"/>
                  </a:cubicBezTo>
                  <a:lnTo>
                    <a:pt x="52352" y="119391"/>
                  </a:lnTo>
                  <a:cubicBezTo>
                    <a:pt x="23439" y="119391"/>
                    <a:pt x="0" y="95953"/>
                    <a:pt x="0" y="67040"/>
                  </a:cubicBezTo>
                  <a:lnTo>
                    <a:pt x="0" y="52352"/>
                  </a:lnTo>
                  <a:cubicBezTo>
                    <a:pt x="0" y="23439"/>
                    <a:pt x="23439" y="0"/>
                    <a:pt x="52352" y="0"/>
                  </a:cubicBezTo>
                  <a:close/>
                </a:path>
              </a:pathLst>
            </a:custGeom>
            <a:gradFill rotWithShape="true">
              <a:gsLst>
                <a:gs pos="0">
                  <a:srgbClr val="5DE0E6">
                    <a:alpha val="100000"/>
                  </a:srgbClr>
                </a:gs>
                <a:gs pos="100000">
                  <a:srgbClr val="004AAD">
                    <a:alpha val="100000"/>
                  </a:srgbClr>
                </a:gs>
              </a:gsLst>
              <a:lin ang="0"/>
            </a:gradFill>
            <a:ln cap="sq">
              <a:noFill/>
              <a:prstDash val="solid"/>
              <a:miter/>
            </a:ln>
          </p:spPr>
        </p:sp>
        <p:sp>
          <p:nvSpPr>
            <p:cNvPr name="TextBox 5" id="5"/>
            <p:cNvSpPr txBox="true"/>
            <p:nvPr/>
          </p:nvSpPr>
          <p:spPr>
            <a:xfrm>
              <a:off x="0" y="28575"/>
              <a:ext cx="389487" cy="90816"/>
            </a:xfrm>
            <a:prstGeom prst="rect">
              <a:avLst/>
            </a:prstGeom>
          </p:spPr>
          <p:txBody>
            <a:bodyPr anchor="ctr" rtlCol="false" tIns="50800" lIns="50800" bIns="50800" rIns="50800"/>
            <a:lstStyle/>
            <a:p>
              <a:pPr algn="ctr">
                <a:lnSpc>
                  <a:spcPts val="1134"/>
                </a:lnSpc>
              </a:pPr>
            </a:p>
          </p:txBody>
        </p:sp>
      </p:grpSp>
      <p:grpSp>
        <p:nvGrpSpPr>
          <p:cNvPr name="Group 6" id="6"/>
          <p:cNvGrpSpPr/>
          <p:nvPr/>
        </p:nvGrpSpPr>
        <p:grpSpPr>
          <a:xfrm rot="0">
            <a:off x="905987" y="2149241"/>
            <a:ext cx="8474154" cy="4109150"/>
            <a:chOff x="0" y="0"/>
            <a:chExt cx="3369134" cy="1633706"/>
          </a:xfrm>
        </p:grpSpPr>
        <p:sp>
          <p:nvSpPr>
            <p:cNvPr name="Freeform 7" id="7"/>
            <p:cNvSpPr/>
            <p:nvPr/>
          </p:nvSpPr>
          <p:spPr>
            <a:xfrm flipH="false" flipV="false" rot="0">
              <a:off x="0" y="0"/>
              <a:ext cx="3369133" cy="1633706"/>
            </a:xfrm>
            <a:custGeom>
              <a:avLst/>
              <a:gdLst/>
              <a:ahLst/>
              <a:cxnLst/>
              <a:rect r="r" b="b" t="t" l="l"/>
              <a:pathLst>
                <a:path h="1633706" w="3369133">
                  <a:moveTo>
                    <a:pt x="45680" y="0"/>
                  </a:moveTo>
                  <a:lnTo>
                    <a:pt x="3323454" y="0"/>
                  </a:lnTo>
                  <a:cubicBezTo>
                    <a:pt x="3348682" y="0"/>
                    <a:pt x="3369133" y="20451"/>
                    <a:pt x="3369133" y="45680"/>
                  </a:cubicBezTo>
                  <a:lnTo>
                    <a:pt x="3369133" y="1588026"/>
                  </a:lnTo>
                  <a:cubicBezTo>
                    <a:pt x="3369133" y="1600141"/>
                    <a:pt x="3364321" y="1611760"/>
                    <a:pt x="3355754" y="1620326"/>
                  </a:cubicBezTo>
                  <a:cubicBezTo>
                    <a:pt x="3347188" y="1628893"/>
                    <a:pt x="3335569" y="1633706"/>
                    <a:pt x="3323454" y="1633706"/>
                  </a:cubicBezTo>
                  <a:lnTo>
                    <a:pt x="45680" y="1633706"/>
                  </a:lnTo>
                  <a:cubicBezTo>
                    <a:pt x="20451" y="1633706"/>
                    <a:pt x="0" y="1613254"/>
                    <a:pt x="0" y="1588026"/>
                  </a:cubicBezTo>
                  <a:lnTo>
                    <a:pt x="0" y="45680"/>
                  </a:lnTo>
                  <a:cubicBezTo>
                    <a:pt x="0" y="33565"/>
                    <a:pt x="4813" y="21946"/>
                    <a:pt x="13379" y="13379"/>
                  </a:cubicBezTo>
                  <a:cubicBezTo>
                    <a:pt x="21946" y="4813"/>
                    <a:pt x="33565" y="0"/>
                    <a:pt x="45680" y="0"/>
                  </a:cubicBezTo>
                  <a:close/>
                </a:path>
              </a:pathLst>
            </a:custGeom>
            <a:solidFill>
              <a:srgbClr val="000000">
                <a:alpha val="49804"/>
              </a:srgbClr>
            </a:solidFill>
          </p:spPr>
        </p:sp>
        <p:sp>
          <p:nvSpPr>
            <p:cNvPr name="TextBox 8" id="8"/>
            <p:cNvSpPr txBox="true"/>
            <p:nvPr/>
          </p:nvSpPr>
          <p:spPr>
            <a:xfrm>
              <a:off x="0" y="47625"/>
              <a:ext cx="3369134" cy="1586081"/>
            </a:xfrm>
            <a:prstGeom prst="rect">
              <a:avLst/>
            </a:prstGeom>
          </p:spPr>
          <p:txBody>
            <a:bodyPr anchor="ctr" rtlCol="false" tIns="50800" lIns="50800" bIns="50800" rIns="50800"/>
            <a:lstStyle/>
            <a:p>
              <a:pPr algn="ctr">
                <a:lnSpc>
                  <a:spcPts val="1134"/>
                </a:lnSpc>
              </a:pPr>
            </a:p>
          </p:txBody>
        </p:sp>
      </p:grpSp>
      <p:grpSp>
        <p:nvGrpSpPr>
          <p:cNvPr name="Group 9" id="9"/>
          <p:cNvGrpSpPr/>
          <p:nvPr/>
        </p:nvGrpSpPr>
        <p:grpSpPr>
          <a:xfrm rot="0">
            <a:off x="905987" y="2149241"/>
            <a:ext cx="8474154" cy="4109150"/>
            <a:chOff x="0" y="0"/>
            <a:chExt cx="3369134" cy="1633706"/>
          </a:xfrm>
        </p:grpSpPr>
        <p:sp>
          <p:nvSpPr>
            <p:cNvPr name="Freeform 10" id="10"/>
            <p:cNvSpPr/>
            <p:nvPr/>
          </p:nvSpPr>
          <p:spPr>
            <a:xfrm flipH="false" flipV="false" rot="0">
              <a:off x="0" y="0"/>
              <a:ext cx="3369133" cy="1633706"/>
            </a:xfrm>
            <a:custGeom>
              <a:avLst/>
              <a:gdLst/>
              <a:ahLst/>
              <a:cxnLst/>
              <a:rect r="r" b="b" t="t" l="l"/>
              <a:pathLst>
                <a:path h="1633706" w="3369133">
                  <a:moveTo>
                    <a:pt x="45680" y="0"/>
                  </a:moveTo>
                  <a:lnTo>
                    <a:pt x="3323454" y="0"/>
                  </a:lnTo>
                  <a:cubicBezTo>
                    <a:pt x="3348682" y="0"/>
                    <a:pt x="3369133" y="20451"/>
                    <a:pt x="3369133" y="45680"/>
                  </a:cubicBezTo>
                  <a:lnTo>
                    <a:pt x="3369133" y="1588026"/>
                  </a:lnTo>
                  <a:cubicBezTo>
                    <a:pt x="3369133" y="1600141"/>
                    <a:pt x="3364321" y="1611760"/>
                    <a:pt x="3355754" y="1620326"/>
                  </a:cubicBezTo>
                  <a:cubicBezTo>
                    <a:pt x="3347188" y="1628893"/>
                    <a:pt x="3335569" y="1633706"/>
                    <a:pt x="3323454" y="1633706"/>
                  </a:cubicBezTo>
                  <a:lnTo>
                    <a:pt x="45680" y="1633706"/>
                  </a:lnTo>
                  <a:cubicBezTo>
                    <a:pt x="20451" y="1633706"/>
                    <a:pt x="0" y="1613254"/>
                    <a:pt x="0" y="1588026"/>
                  </a:cubicBezTo>
                  <a:lnTo>
                    <a:pt x="0" y="45680"/>
                  </a:lnTo>
                  <a:cubicBezTo>
                    <a:pt x="0" y="33565"/>
                    <a:pt x="4813" y="21946"/>
                    <a:pt x="13379" y="13379"/>
                  </a:cubicBezTo>
                  <a:cubicBezTo>
                    <a:pt x="21946" y="4813"/>
                    <a:pt x="33565" y="0"/>
                    <a:pt x="45680" y="0"/>
                  </a:cubicBezTo>
                  <a:close/>
                </a:path>
              </a:pathLst>
            </a:custGeom>
            <a:ln w="19050" cap="rnd">
              <a:gradFill>
                <a:gsLst>
                  <a:gs pos="0">
                    <a:srgbClr val="5DE0E6">
                      <a:alpha val="100000"/>
                    </a:srgbClr>
                  </a:gs>
                  <a:gs pos="100000">
                    <a:srgbClr val="004AAD">
                      <a:alpha val="100000"/>
                    </a:srgbClr>
                  </a:gs>
                </a:gsLst>
                <a:lin ang="0"/>
              </a:gradFill>
              <a:prstDash val="solid"/>
              <a:round/>
            </a:ln>
          </p:spPr>
        </p:sp>
        <p:sp>
          <p:nvSpPr>
            <p:cNvPr name="TextBox 11" id="11"/>
            <p:cNvSpPr txBox="true"/>
            <p:nvPr/>
          </p:nvSpPr>
          <p:spPr>
            <a:xfrm>
              <a:off x="0" y="47625"/>
              <a:ext cx="3369134" cy="1586081"/>
            </a:xfrm>
            <a:prstGeom prst="rect">
              <a:avLst/>
            </a:prstGeom>
          </p:spPr>
          <p:txBody>
            <a:bodyPr anchor="ctr" rtlCol="false" tIns="50800" lIns="50800" bIns="50800" rIns="50800"/>
            <a:lstStyle/>
            <a:p>
              <a:pPr algn="ctr">
                <a:lnSpc>
                  <a:spcPts val="1134"/>
                </a:lnSpc>
              </a:pPr>
            </a:p>
          </p:txBody>
        </p:sp>
      </p:grpSp>
      <p:grpSp>
        <p:nvGrpSpPr>
          <p:cNvPr name="Group 12" id="12"/>
          <p:cNvGrpSpPr/>
          <p:nvPr/>
        </p:nvGrpSpPr>
        <p:grpSpPr>
          <a:xfrm rot="0">
            <a:off x="1387792" y="2594730"/>
            <a:ext cx="7568815" cy="3218171"/>
            <a:chOff x="0" y="0"/>
            <a:chExt cx="2052129" cy="872541"/>
          </a:xfrm>
        </p:grpSpPr>
        <p:sp>
          <p:nvSpPr>
            <p:cNvPr name="Freeform 13" id="13"/>
            <p:cNvSpPr/>
            <p:nvPr/>
          </p:nvSpPr>
          <p:spPr>
            <a:xfrm flipH="false" flipV="false" rot="0">
              <a:off x="0" y="0"/>
              <a:ext cx="2052129" cy="872541"/>
            </a:xfrm>
            <a:custGeom>
              <a:avLst/>
              <a:gdLst/>
              <a:ahLst/>
              <a:cxnLst/>
              <a:rect r="r" b="b" t="t" l="l"/>
              <a:pathLst>
                <a:path h="872541" w="2052129">
                  <a:moveTo>
                    <a:pt x="51144" y="0"/>
                  </a:moveTo>
                  <a:lnTo>
                    <a:pt x="2000986" y="0"/>
                  </a:lnTo>
                  <a:cubicBezTo>
                    <a:pt x="2014550" y="0"/>
                    <a:pt x="2027558" y="5388"/>
                    <a:pt x="2037150" y="14980"/>
                  </a:cubicBezTo>
                  <a:cubicBezTo>
                    <a:pt x="2046741" y="24571"/>
                    <a:pt x="2052129" y="37579"/>
                    <a:pt x="2052129" y="51144"/>
                  </a:cubicBezTo>
                  <a:lnTo>
                    <a:pt x="2052129" y="821398"/>
                  </a:lnTo>
                  <a:cubicBezTo>
                    <a:pt x="2052129" y="849643"/>
                    <a:pt x="2029231" y="872541"/>
                    <a:pt x="2000986" y="872541"/>
                  </a:cubicBezTo>
                  <a:lnTo>
                    <a:pt x="51144" y="872541"/>
                  </a:lnTo>
                  <a:cubicBezTo>
                    <a:pt x="22898" y="872541"/>
                    <a:pt x="0" y="849643"/>
                    <a:pt x="0" y="821398"/>
                  </a:cubicBezTo>
                  <a:lnTo>
                    <a:pt x="0" y="51144"/>
                  </a:lnTo>
                  <a:cubicBezTo>
                    <a:pt x="0" y="37579"/>
                    <a:pt x="5388" y="24571"/>
                    <a:pt x="14980" y="14980"/>
                  </a:cubicBezTo>
                  <a:cubicBezTo>
                    <a:pt x="24571" y="5388"/>
                    <a:pt x="37579" y="0"/>
                    <a:pt x="51144" y="0"/>
                  </a:cubicBezTo>
                  <a:close/>
                </a:path>
              </a:pathLst>
            </a:custGeom>
            <a:blipFill>
              <a:blip r:embed="rId3"/>
              <a:stretch>
                <a:fillRect l="0" t="-28347" r="0" b="-28347"/>
              </a:stretch>
            </a:blipFill>
          </p:spPr>
        </p:sp>
      </p:grpSp>
      <p:grpSp>
        <p:nvGrpSpPr>
          <p:cNvPr name="Group 14" id="14"/>
          <p:cNvGrpSpPr/>
          <p:nvPr/>
        </p:nvGrpSpPr>
        <p:grpSpPr>
          <a:xfrm rot="0">
            <a:off x="10290902" y="2149241"/>
            <a:ext cx="6968398" cy="684161"/>
            <a:chOff x="0" y="0"/>
            <a:chExt cx="1835298" cy="180191"/>
          </a:xfrm>
        </p:grpSpPr>
        <p:sp>
          <p:nvSpPr>
            <p:cNvPr name="Freeform 15" id="15"/>
            <p:cNvSpPr/>
            <p:nvPr/>
          </p:nvSpPr>
          <p:spPr>
            <a:xfrm flipH="false" flipV="false" rot="0">
              <a:off x="0" y="0"/>
              <a:ext cx="1835298" cy="180191"/>
            </a:xfrm>
            <a:custGeom>
              <a:avLst/>
              <a:gdLst/>
              <a:ahLst/>
              <a:cxnLst/>
              <a:rect r="r" b="b" t="t" l="l"/>
              <a:pathLst>
                <a:path h="180191" w="1835298">
                  <a:moveTo>
                    <a:pt x="33330" y="0"/>
                  </a:moveTo>
                  <a:lnTo>
                    <a:pt x="1801968" y="0"/>
                  </a:lnTo>
                  <a:cubicBezTo>
                    <a:pt x="1810808" y="0"/>
                    <a:pt x="1819286" y="3512"/>
                    <a:pt x="1825536" y="9762"/>
                  </a:cubicBezTo>
                  <a:cubicBezTo>
                    <a:pt x="1831787" y="16013"/>
                    <a:pt x="1835298" y="24490"/>
                    <a:pt x="1835298" y="33330"/>
                  </a:cubicBezTo>
                  <a:lnTo>
                    <a:pt x="1835298" y="146860"/>
                  </a:lnTo>
                  <a:cubicBezTo>
                    <a:pt x="1835298" y="155700"/>
                    <a:pt x="1831787" y="164178"/>
                    <a:pt x="1825536" y="170428"/>
                  </a:cubicBezTo>
                  <a:cubicBezTo>
                    <a:pt x="1819286" y="176679"/>
                    <a:pt x="1810808" y="180191"/>
                    <a:pt x="1801968" y="180191"/>
                  </a:cubicBezTo>
                  <a:lnTo>
                    <a:pt x="33330" y="180191"/>
                  </a:lnTo>
                  <a:cubicBezTo>
                    <a:pt x="24490" y="180191"/>
                    <a:pt x="16013" y="176679"/>
                    <a:pt x="9762" y="170428"/>
                  </a:cubicBezTo>
                  <a:cubicBezTo>
                    <a:pt x="3512" y="164178"/>
                    <a:pt x="0" y="155700"/>
                    <a:pt x="0" y="146860"/>
                  </a:cubicBezTo>
                  <a:lnTo>
                    <a:pt x="0" y="33330"/>
                  </a:lnTo>
                  <a:cubicBezTo>
                    <a:pt x="0" y="24490"/>
                    <a:pt x="3512" y="16013"/>
                    <a:pt x="9762" y="9762"/>
                  </a:cubicBezTo>
                  <a:cubicBezTo>
                    <a:pt x="16013" y="3512"/>
                    <a:pt x="24490" y="0"/>
                    <a:pt x="33330" y="0"/>
                  </a:cubicBezTo>
                  <a:close/>
                </a:path>
              </a:pathLst>
            </a:custGeom>
            <a:gradFill rotWithShape="true">
              <a:gsLst>
                <a:gs pos="0">
                  <a:srgbClr val="5DE0E6">
                    <a:alpha val="100000"/>
                  </a:srgbClr>
                </a:gs>
                <a:gs pos="100000">
                  <a:srgbClr val="004AAD">
                    <a:alpha val="100000"/>
                  </a:srgbClr>
                </a:gs>
              </a:gsLst>
              <a:lin ang="0"/>
            </a:gradFill>
            <a:ln cap="rnd">
              <a:noFill/>
              <a:prstDash val="solid"/>
              <a:round/>
            </a:ln>
          </p:spPr>
        </p:sp>
        <p:sp>
          <p:nvSpPr>
            <p:cNvPr name="TextBox 16" id="16"/>
            <p:cNvSpPr txBox="true"/>
            <p:nvPr/>
          </p:nvSpPr>
          <p:spPr>
            <a:xfrm>
              <a:off x="0" y="28575"/>
              <a:ext cx="1835298" cy="151616"/>
            </a:xfrm>
            <a:prstGeom prst="rect">
              <a:avLst/>
            </a:prstGeom>
          </p:spPr>
          <p:txBody>
            <a:bodyPr anchor="ctr" rtlCol="false" tIns="50800" lIns="50800" bIns="50800" rIns="50800"/>
            <a:lstStyle/>
            <a:p>
              <a:pPr algn="ctr">
                <a:lnSpc>
                  <a:spcPts val="1134"/>
                </a:lnSpc>
              </a:pPr>
            </a:p>
          </p:txBody>
        </p:sp>
      </p:grpSp>
      <p:grpSp>
        <p:nvGrpSpPr>
          <p:cNvPr name="Group 17" id="17"/>
          <p:cNvGrpSpPr/>
          <p:nvPr/>
        </p:nvGrpSpPr>
        <p:grpSpPr>
          <a:xfrm rot="0">
            <a:off x="16635046" y="8634046"/>
            <a:ext cx="624254" cy="624254"/>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100000"/>
                  </a:srgbClr>
                </a:gs>
                <a:gs pos="100000">
                  <a:srgbClr val="004AAD">
                    <a:alpha val="100000"/>
                  </a:srgbClr>
                </a:gs>
              </a:gsLst>
              <a:lin ang="0"/>
            </a:gradFill>
          </p:spPr>
        </p:sp>
        <p:sp>
          <p:nvSpPr>
            <p:cNvPr name="TextBox 19" id="19"/>
            <p:cNvSpPr txBox="true"/>
            <p:nvPr/>
          </p:nvSpPr>
          <p:spPr>
            <a:xfrm>
              <a:off x="76200" y="123825"/>
              <a:ext cx="660400" cy="612775"/>
            </a:xfrm>
            <a:prstGeom prst="rect">
              <a:avLst/>
            </a:prstGeom>
          </p:spPr>
          <p:txBody>
            <a:bodyPr anchor="ctr" rtlCol="false" tIns="50800" lIns="50800" bIns="50800" rIns="50800"/>
            <a:lstStyle/>
            <a:p>
              <a:pPr algn="ctr">
                <a:lnSpc>
                  <a:spcPts val="1134"/>
                </a:lnSpc>
              </a:pPr>
            </a:p>
          </p:txBody>
        </p:sp>
      </p:grpSp>
      <p:sp>
        <p:nvSpPr>
          <p:cNvPr name="Freeform 20" id="20"/>
          <p:cNvSpPr/>
          <p:nvPr/>
        </p:nvSpPr>
        <p:spPr>
          <a:xfrm flipH="true" flipV="false" rot="0">
            <a:off x="16865622" y="8776995"/>
            <a:ext cx="203860" cy="338357"/>
          </a:xfrm>
          <a:custGeom>
            <a:avLst/>
            <a:gdLst/>
            <a:ahLst/>
            <a:cxnLst/>
            <a:rect r="r" b="b" t="t" l="l"/>
            <a:pathLst>
              <a:path h="338357" w="203860">
                <a:moveTo>
                  <a:pt x="203860" y="0"/>
                </a:moveTo>
                <a:lnTo>
                  <a:pt x="0" y="0"/>
                </a:lnTo>
                <a:lnTo>
                  <a:pt x="0" y="338356"/>
                </a:lnTo>
                <a:lnTo>
                  <a:pt x="203860" y="338356"/>
                </a:lnTo>
                <a:lnTo>
                  <a:pt x="20386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7054987" y="807453"/>
            <a:ext cx="810952"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Home</a:t>
            </a:r>
          </a:p>
        </p:txBody>
      </p:sp>
      <p:sp>
        <p:nvSpPr>
          <p:cNvPr name="TextBox 22" id="22"/>
          <p:cNvSpPr txBox="true"/>
          <p:nvPr/>
        </p:nvSpPr>
        <p:spPr>
          <a:xfrm rot="0">
            <a:off x="8498359" y="807453"/>
            <a:ext cx="1051116"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About Us</a:t>
            </a:r>
          </a:p>
        </p:txBody>
      </p:sp>
      <p:sp>
        <p:nvSpPr>
          <p:cNvPr name="TextBox 23" id="23"/>
          <p:cNvSpPr txBox="true"/>
          <p:nvPr/>
        </p:nvSpPr>
        <p:spPr>
          <a:xfrm rot="0">
            <a:off x="10181897" y="807453"/>
            <a:ext cx="1051116"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Services</a:t>
            </a:r>
          </a:p>
        </p:txBody>
      </p:sp>
      <p:sp>
        <p:nvSpPr>
          <p:cNvPr name="TextBox 24" id="24"/>
          <p:cNvSpPr txBox="true"/>
          <p:nvPr/>
        </p:nvSpPr>
        <p:spPr>
          <a:xfrm rot="0">
            <a:off x="16034591" y="807453"/>
            <a:ext cx="970584" cy="177293"/>
          </a:xfrm>
          <a:prstGeom prst="rect">
            <a:avLst/>
          </a:prstGeom>
        </p:spPr>
        <p:txBody>
          <a:bodyPr anchor="t" rtlCol="false" tIns="0" lIns="0" bIns="0" rIns="0">
            <a:spAutoFit/>
          </a:bodyPr>
          <a:lstStyle/>
          <a:p>
            <a:pPr algn="ctr">
              <a:lnSpc>
                <a:spcPts val="1134"/>
              </a:lnSpc>
            </a:pPr>
            <a:r>
              <a:rPr lang="en-US" b="true" sz="1400" spc="-28">
                <a:solidFill>
                  <a:srgbClr val="000000"/>
                </a:solidFill>
                <a:latin typeface="Helvetica World Bold"/>
                <a:ea typeface="Helvetica World Bold"/>
                <a:cs typeface="Helvetica World Bold"/>
                <a:sym typeface="Helvetica World Bold"/>
              </a:rPr>
              <a:t>Contact</a:t>
            </a:r>
          </a:p>
        </p:txBody>
      </p:sp>
      <p:sp>
        <p:nvSpPr>
          <p:cNvPr name="TextBox 25" id="25"/>
          <p:cNvSpPr txBox="true"/>
          <p:nvPr/>
        </p:nvSpPr>
        <p:spPr>
          <a:xfrm rot="0">
            <a:off x="1028700" y="7639515"/>
            <a:ext cx="7927907" cy="1454283"/>
          </a:xfrm>
          <a:prstGeom prst="rect">
            <a:avLst/>
          </a:prstGeom>
        </p:spPr>
        <p:txBody>
          <a:bodyPr anchor="t" rtlCol="false" tIns="0" lIns="0" bIns="0" rIns="0">
            <a:spAutoFit/>
          </a:bodyPr>
          <a:lstStyle/>
          <a:p>
            <a:pPr algn="ctr">
              <a:lnSpc>
                <a:spcPts val="4812"/>
              </a:lnSpc>
            </a:pPr>
            <a:r>
              <a:rPr lang="en-US" b="true" sz="5797" spc="-376">
                <a:solidFill>
                  <a:srgbClr val="52CFE0"/>
                </a:solidFill>
                <a:latin typeface="Helvetica World Bold"/>
                <a:ea typeface="Helvetica World Bold"/>
                <a:cs typeface="Helvetica World Bold"/>
                <a:sym typeface="Helvetica World Bold"/>
              </a:rPr>
              <a:t>WHAT IS A FULL STACK DEVELOPER?</a:t>
            </a:r>
          </a:p>
        </p:txBody>
      </p:sp>
      <p:sp>
        <p:nvSpPr>
          <p:cNvPr name="TextBox 26" id="26"/>
          <p:cNvSpPr txBox="true"/>
          <p:nvPr/>
        </p:nvSpPr>
        <p:spPr>
          <a:xfrm rot="0">
            <a:off x="10290902" y="2319998"/>
            <a:ext cx="6968398" cy="431546"/>
          </a:xfrm>
          <a:prstGeom prst="rect">
            <a:avLst/>
          </a:prstGeom>
        </p:spPr>
        <p:txBody>
          <a:bodyPr anchor="t" rtlCol="false" tIns="0" lIns="0" bIns="0" rIns="0">
            <a:spAutoFit/>
          </a:bodyPr>
          <a:lstStyle/>
          <a:p>
            <a:pPr algn="ctr">
              <a:lnSpc>
                <a:spcPts val="2911"/>
              </a:lnSpc>
            </a:pPr>
            <a:r>
              <a:rPr lang="en-US" b="true" sz="2799" spc="-55">
                <a:solidFill>
                  <a:srgbClr val="000000"/>
                </a:solidFill>
                <a:latin typeface="Helvetica World Bold"/>
                <a:ea typeface="Helvetica World Bold"/>
                <a:cs typeface="Helvetica World Bold"/>
                <a:sym typeface="Helvetica World Bold"/>
              </a:rPr>
              <a:t>Defining the Role</a:t>
            </a:r>
          </a:p>
        </p:txBody>
      </p:sp>
      <p:sp>
        <p:nvSpPr>
          <p:cNvPr name="TextBox 27" id="27"/>
          <p:cNvSpPr txBox="true"/>
          <p:nvPr/>
        </p:nvSpPr>
        <p:spPr>
          <a:xfrm rot="0">
            <a:off x="9623754" y="3074095"/>
            <a:ext cx="4242425" cy="3770844"/>
          </a:xfrm>
          <a:prstGeom prst="rect">
            <a:avLst/>
          </a:prstGeom>
        </p:spPr>
        <p:txBody>
          <a:bodyPr anchor="t" rtlCol="false" tIns="0" lIns="0" bIns="0" rIns="0">
            <a:spAutoFit/>
          </a:bodyPr>
          <a:lstStyle/>
          <a:p>
            <a:pPr algn="l">
              <a:lnSpc>
                <a:spcPts val="2723"/>
              </a:lnSpc>
            </a:pPr>
            <a:r>
              <a:rPr lang="en-US" sz="1945" i="true" spc="-38">
                <a:solidFill>
                  <a:srgbClr val="F7F7F7"/>
                </a:solidFill>
                <a:latin typeface="Glacial Indifference Italics"/>
                <a:ea typeface="Glacial Indifference Italics"/>
                <a:cs typeface="Glacial Indifference Italics"/>
                <a:sym typeface="Glacial Indifference Italics"/>
              </a:rPr>
              <a:t>A Full Stack Developer works on different parts of a web application, from the user interface to server-side functionality and data management.</a:t>
            </a:r>
          </a:p>
          <a:p>
            <a:pPr algn="l">
              <a:lnSpc>
                <a:spcPts val="2723"/>
              </a:lnSpc>
            </a:pPr>
            <a:r>
              <a:rPr lang="en-US" sz="1945" i="true" spc="-38">
                <a:solidFill>
                  <a:srgbClr val="F7F7F7"/>
                </a:solidFill>
                <a:latin typeface="Glacial Indifference Italics"/>
                <a:ea typeface="Glacial Indifference Italics"/>
                <a:cs typeface="Glacial Indifference Italics"/>
                <a:sym typeface="Glacial Indifference Italics"/>
              </a:rPr>
              <a:t>Full Stack Developers understand how different components communicate and work together. They also need to understand application structure, code organization, and the complete software development process.</a:t>
            </a:r>
          </a:p>
          <a:p>
            <a:pPr algn="l">
              <a:lnSpc>
                <a:spcPts val="2723"/>
              </a:lnSpc>
            </a:pPr>
          </a:p>
        </p:txBody>
      </p:sp>
      <p:sp>
        <p:nvSpPr>
          <p:cNvPr name="TextBox 28" id="28"/>
          <p:cNvSpPr txBox="true"/>
          <p:nvPr/>
        </p:nvSpPr>
        <p:spPr>
          <a:xfrm rot="0">
            <a:off x="14129395" y="3083620"/>
            <a:ext cx="3810393" cy="3605934"/>
          </a:xfrm>
          <a:prstGeom prst="rect">
            <a:avLst/>
          </a:prstGeom>
        </p:spPr>
        <p:txBody>
          <a:bodyPr anchor="t" rtlCol="false" tIns="0" lIns="0" bIns="0" rIns="0">
            <a:spAutoFit/>
          </a:bodyPr>
          <a:lstStyle/>
          <a:p>
            <a:pPr algn="l">
              <a:lnSpc>
                <a:spcPts val="2865"/>
              </a:lnSpc>
            </a:pPr>
            <a:r>
              <a:rPr lang="en-US" sz="2047" i="true" spc="-40">
                <a:solidFill>
                  <a:srgbClr val="F7F7F7"/>
                </a:solidFill>
                <a:latin typeface="Glacial Indifference Italics"/>
                <a:ea typeface="Glacial Indifference Italics"/>
                <a:cs typeface="Glacial Indifference Italics"/>
                <a:sym typeface="Glacial Indifference Italics"/>
              </a:rPr>
              <a:t>Main Responsibilities</a:t>
            </a:r>
          </a:p>
          <a:p>
            <a:pPr algn="l" marL="441976" indent="-220988" lvl="1">
              <a:lnSpc>
                <a:spcPts val="2865"/>
              </a:lnSpc>
              <a:buFont typeface="Arial"/>
              <a:buChar char="•"/>
            </a:pPr>
            <a:r>
              <a:rPr lang="en-US" sz="2047" i="true" spc="-40">
                <a:solidFill>
                  <a:srgbClr val="F7F7F7"/>
                </a:solidFill>
                <a:latin typeface="Glacial Indifference Italics"/>
                <a:ea typeface="Glacial Indifference Italics"/>
                <a:cs typeface="Glacial Indifference Italics"/>
                <a:sym typeface="Glacial Indifference Italics"/>
              </a:rPr>
              <a:t>Understand application requirements</a:t>
            </a:r>
          </a:p>
          <a:p>
            <a:pPr algn="l" marL="441976" indent="-220988" lvl="1">
              <a:lnSpc>
                <a:spcPts val="2865"/>
              </a:lnSpc>
              <a:buFont typeface="Arial"/>
              <a:buChar char="•"/>
            </a:pPr>
            <a:r>
              <a:rPr lang="en-US" sz="2047" i="true" spc="-40">
                <a:solidFill>
                  <a:srgbClr val="F7F7F7"/>
                </a:solidFill>
                <a:latin typeface="Glacial Indifference Italics"/>
                <a:ea typeface="Glacial Indifference Italics"/>
                <a:cs typeface="Glacial Indifference Italics"/>
                <a:sym typeface="Glacial Indifference Italics"/>
              </a:rPr>
              <a:t>Organize code into reusable components</a:t>
            </a:r>
          </a:p>
          <a:p>
            <a:pPr algn="l" marL="441976" indent="-220988" lvl="1">
              <a:lnSpc>
                <a:spcPts val="2865"/>
              </a:lnSpc>
              <a:buFont typeface="Arial"/>
              <a:buChar char="•"/>
            </a:pPr>
            <a:r>
              <a:rPr lang="en-US" sz="2047" i="true" spc="-40">
                <a:solidFill>
                  <a:srgbClr val="F7F7F7"/>
                </a:solidFill>
                <a:latin typeface="Glacial Indifference Italics"/>
                <a:ea typeface="Glacial Indifference Italics"/>
                <a:cs typeface="Glacial Indifference Italics"/>
                <a:sym typeface="Glacial Indifference Italics"/>
              </a:rPr>
              <a:t>Connect different parts of an application</a:t>
            </a:r>
          </a:p>
          <a:p>
            <a:pPr algn="l" marL="441976" indent="-220988" lvl="1">
              <a:lnSpc>
                <a:spcPts val="2865"/>
              </a:lnSpc>
              <a:buFont typeface="Arial"/>
              <a:buChar char="•"/>
            </a:pPr>
            <a:r>
              <a:rPr lang="en-US" sz="2047" i="true" spc="-40">
                <a:solidFill>
                  <a:srgbClr val="F7F7F7"/>
                </a:solidFill>
                <a:latin typeface="Glacial Indifference Italics"/>
                <a:ea typeface="Glacial Indifference Italics"/>
                <a:cs typeface="Glacial Indifference Italics"/>
                <a:sym typeface="Glacial Indifference Italics"/>
              </a:rPr>
              <a:t>Maintain and improve existing applications</a:t>
            </a:r>
          </a:p>
          <a:p>
            <a:pPr algn="l">
              <a:lnSpc>
                <a:spcPts val="2865"/>
              </a:lnSpc>
            </a:pPr>
          </a:p>
        </p:txBody>
      </p:sp>
      <p:grpSp>
        <p:nvGrpSpPr>
          <p:cNvPr name="Group 29" id="29"/>
          <p:cNvGrpSpPr/>
          <p:nvPr/>
        </p:nvGrpSpPr>
        <p:grpSpPr>
          <a:xfrm rot="0">
            <a:off x="10290902" y="6858389"/>
            <a:ext cx="3915083" cy="2399911"/>
            <a:chOff x="0" y="0"/>
            <a:chExt cx="1061495" cy="650687"/>
          </a:xfrm>
        </p:grpSpPr>
        <p:sp>
          <p:nvSpPr>
            <p:cNvPr name="Freeform 30" id="30"/>
            <p:cNvSpPr/>
            <p:nvPr/>
          </p:nvSpPr>
          <p:spPr>
            <a:xfrm flipH="false" flipV="false" rot="0">
              <a:off x="0" y="0"/>
              <a:ext cx="1061495" cy="650687"/>
            </a:xfrm>
            <a:custGeom>
              <a:avLst/>
              <a:gdLst/>
              <a:ahLst/>
              <a:cxnLst/>
              <a:rect r="r" b="b" t="t" l="l"/>
              <a:pathLst>
                <a:path h="650687" w="1061495">
                  <a:moveTo>
                    <a:pt x="98873" y="0"/>
                  </a:moveTo>
                  <a:lnTo>
                    <a:pt x="962622" y="0"/>
                  </a:lnTo>
                  <a:cubicBezTo>
                    <a:pt x="988844" y="0"/>
                    <a:pt x="1013993" y="10417"/>
                    <a:pt x="1032535" y="28959"/>
                  </a:cubicBezTo>
                  <a:cubicBezTo>
                    <a:pt x="1051078" y="47502"/>
                    <a:pt x="1061495" y="72650"/>
                    <a:pt x="1061495" y="98873"/>
                  </a:cubicBezTo>
                  <a:lnTo>
                    <a:pt x="1061495" y="551814"/>
                  </a:lnTo>
                  <a:cubicBezTo>
                    <a:pt x="1061495" y="578036"/>
                    <a:pt x="1051078" y="603185"/>
                    <a:pt x="1032535" y="621727"/>
                  </a:cubicBezTo>
                  <a:cubicBezTo>
                    <a:pt x="1013993" y="640270"/>
                    <a:pt x="988844" y="650687"/>
                    <a:pt x="962622" y="650687"/>
                  </a:cubicBezTo>
                  <a:lnTo>
                    <a:pt x="98873" y="650687"/>
                  </a:lnTo>
                  <a:cubicBezTo>
                    <a:pt x="72650" y="650687"/>
                    <a:pt x="47502" y="640270"/>
                    <a:pt x="28959" y="621727"/>
                  </a:cubicBezTo>
                  <a:cubicBezTo>
                    <a:pt x="10417" y="603185"/>
                    <a:pt x="0" y="578036"/>
                    <a:pt x="0" y="551814"/>
                  </a:cubicBezTo>
                  <a:lnTo>
                    <a:pt x="0" y="98873"/>
                  </a:lnTo>
                  <a:cubicBezTo>
                    <a:pt x="0" y="72650"/>
                    <a:pt x="10417" y="47502"/>
                    <a:pt x="28959" y="28959"/>
                  </a:cubicBezTo>
                  <a:cubicBezTo>
                    <a:pt x="47502" y="10417"/>
                    <a:pt x="72650" y="0"/>
                    <a:pt x="98873" y="0"/>
                  </a:cubicBezTo>
                  <a:close/>
                </a:path>
              </a:pathLst>
            </a:custGeom>
            <a:blipFill>
              <a:blip r:embed="rId6"/>
              <a:stretch>
                <a:fillRect l="0" t="-4378" r="0" b="-4378"/>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15780466" y="639280"/>
            <a:ext cx="1478834" cy="453314"/>
            <a:chOff x="0" y="0"/>
            <a:chExt cx="389487" cy="119391"/>
          </a:xfrm>
        </p:grpSpPr>
        <p:sp>
          <p:nvSpPr>
            <p:cNvPr name="Freeform 4" id="4"/>
            <p:cNvSpPr/>
            <p:nvPr/>
          </p:nvSpPr>
          <p:spPr>
            <a:xfrm flipH="false" flipV="false" rot="0">
              <a:off x="0" y="0"/>
              <a:ext cx="389487" cy="119391"/>
            </a:xfrm>
            <a:custGeom>
              <a:avLst/>
              <a:gdLst/>
              <a:ahLst/>
              <a:cxnLst/>
              <a:rect r="r" b="b" t="t" l="l"/>
              <a:pathLst>
                <a:path h="119391" w="389487">
                  <a:moveTo>
                    <a:pt x="52352" y="0"/>
                  </a:moveTo>
                  <a:lnTo>
                    <a:pt x="337136" y="0"/>
                  </a:lnTo>
                  <a:cubicBezTo>
                    <a:pt x="366049" y="0"/>
                    <a:pt x="389487" y="23439"/>
                    <a:pt x="389487" y="52352"/>
                  </a:cubicBezTo>
                  <a:lnTo>
                    <a:pt x="389487" y="67040"/>
                  </a:lnTo>
                  <a:cubicBezTo>
                    <a:pt x="389487" y="80924"/>
                    <a:pt x="383972" y="94240"/>
                    <a:pt x="374154" y="104058"/>
                  </a:cubicBezTo>
                  <a:cubicBezTo>
                    <a:pt x="364336" y="113876"/>
                    <a:pt x="351020" y="119391"/>
                    <a:pt x="337136" y="119391"/>
                  </a:cubicBezTo>
                  <a:lnTo>
                    <a:pt x="52352" y="119391"/>
                  </a:lnTo>
                  <a:cubicBezTo>
                    <a:pt x="23439" y="119391"/>
                    <a:pt x="0" y="95953"/>
                    <a:pt x="0" y="67040"/>
                  </a:cubicBezTo>
                  <a:lnTo>
                    <a:pt x="0" y="52352"/>
                  </a:lnTo>
                  <a:cubicBezTo>
                    <a:pt x="0" y="23439"/>
                    <a:pt x="23439" y="0"/>
                    <a:pt x="52352" y="0"/>
                  </a:cubicBezTo>
                  <a:close/>
                </a:path>
              </a:pathLst>
            </a:custGeom>
            <a:gradFill rotWithShape="true">
              <a:gsLst>
                <a:gs pos="0">
                  <a:srgbClr val="5DE0E6">
                    <a:alpha val="100000"/>
                  </a:srgbClr>
                </a:gs>
                <a:gs pos="100000">
                  <a:srgbClr val="004AAD">
                    <a:alpha val="100000"/>
                  </a:srgbClr>
                </a:gs>
              </a:gsLst>
              <a:lin ang="0"/>
            </a:gradFill>
            <a:ln cap="sq">
              <a:noFill/>
              <a:prstDash val="solid"/>
              <a:miter/>
            </a:ln>
          </p:spPr>
        </p:sp>
        <p:sp>
          <p:nvSpPr>
            <p:cNvPr name="TextBox 5" id="5"/>
            <p:cNvSpPr txBox="true"/>
            <p:nvPr/>
          </p:nvSpPr>
          <p:spPr>
            <a:xfrm>
              <a:off x="0" y="28575"/>
              <a:ext cx="389487" cy="90816"/>
            </a:xfrm>
            <a:prstGeom prst="rect">
              <a:avLst/>
            </a:prstGeom>
          </p:spPr>
          <p:txBody>
            <a:bodyPr anchor="ctr" rtlCol="false" tIns="50800" lIns="50800" bIns="50800" rIns="50800"/>
            <a:lstStyle/>
            <a:p>
              <a:pPr algn="ctr">
                <a:lnSpc>
                  <a:spcPts val="1134"/>
                </a:lnSpc>
              </a:pPr>
            </a:p>
          </p:txBody>
        </p:sp>
      </p:grpSp>
      <p:grpSp>
        <p:nvGrpSpPr>
          <p:cNvPr name="Group 6" id="6"/>
          <p:cNvGrpSpPr/>
          <p:nvPr/>
        </p:nvGrpSpPr>
        <p:grpSpPr>
          <a:xfrm rot="0">
            <a:off x="1028700" y="2871608"/>
            <a:ext cx="4295905" cy="6386692"/>
            <a:chOff x="0" y="0"/>
            <a:chExt cx="1707956" cy="2539205"/>
          </a:xfrm>
        </p:grpSpPr>
        <p:sp>
          <p:nvSpPr>
            <p:cNvPr name="Freeform 7" id="7"/>
            <p:cNvSpPr/>
            <p:nvPr/>
          </p:nvSpPr>
          <p:spPr>
            <a:xfrm flipH="false" flipV="false" rot="0">
              <a:off x="0" y="0"/>
              <a:ext cx="1707956" cy="2539205"/>
            </a:xfrm>
            <a:custGeom>
              <a:avLst/>
              <a:gdLst/>
              <a:ahLst/>
              <a:cxnLst/>
              <a:rect r="r" b="b" t="t" l="l"/>
              <a:pathLst>
                <a:path h="2539205" w="1707956">
                  <a:moveTo>
                    <a:pt x="90108" y="0"/>
                  </a:moveTo>
                  <a:lnTo>
                    <a:pt x="1617847" y="0"/>
                  </a:lnTo>
                  <a:cubicBezTo>
                    <a:pt x="1667613" y="0"/>
                    <a:pt x="1707956" y="40343"/>
                    <a:pt x="1707956" y="90108"/>
                  </a:cubicBezTo>
                  <a:lnTo>
                    <a:pt x="1707956" y="2449097"/>
                  </a:lnTo>
                  <a:cubicBezTo>
                    <a:pt x="1707956" y="2472996"/>
                    <a:pt x="1698462" y="2495915"/>
                    <a:pt x="1681564" y="2512813"/>
                  </a:cubicBezTo>
                  <a:cubicBezTo>
                    <a:pt x="1664665" y="2529712"/>
                    <a:pt x="1641746" y="2539205"/>
                    <a:pt x="1617847" y="2539205"/>
                  </a:cubicBezTo>
                  <a:lnTo>
                    <a:pt x="90108" y="2539205"/>
                  </a:lnTo>
                  <a:cubicBezTo>
                    <a:pt x="66210" y="2539205"/>
                    <a:pt x="43291" y="2529712"/>
                    <a:pt x="26392" y="2512813"/>
                  </a:cubicBezTo>
                  <a:cubicBezTo>
                    <a:pt x="9494" y="2495915"/>
                    <a:pt x="0" y="2472996"/>
                    <a:pt x="0" y="2449097"/>
                  </a:cubicBezTo>
                  <a:lnTo>
                    <a:pt x="0" y="90108"/>
                  </a:lnTo>
                  <a:cubicBezTo>
                    <a:pt x="0" y="66210"/>
                    <a:pt x="9494" y="43291"/>
                    <a:pt x="26392" y="26392"/>
                  </a:cubicBezTo>
                  <a:cubicBezTo>
                    <a:pt x="43291" y="9494"/>
                    <a:pt x="66210" y="0"/>
                    <a:pt x="90108" y="0"/>
                  </a:cubicBezTo>
                  <a:close/>
                </a:path>
              </a:pathLst>
            </a:custGeom>
            <a:solidFill>
              <a:srgbClr val="000000">
                <a:alpha val="49804"/>
              </a:srgbClr>
            </a:solidFill>
          </p:spPr>
        </p:sp>
        <p:sp>
          <p:nvSpPr>
            <p:cNvPr name="TextBox 8" id="8"/>
            <p:cNvSpPr txBox="true"/>
            <p:nvPr/>
          </p:nvSpPr>
          <p:spPr>
            <a:xfrm>
              <a:off x="0" y="47625"/>
              <a:ext cx="1707956" cy="2491580"/>
            </a:xfrm>
            <a:prstGeom prst="rect">
              <a:avLst/>
            </a:prstGeom>
          </p:spPr>
          <p:txBody>
            <a:bodyPr anchor="ctr" rtlCol="false" tIns="50800" lIns="50800" bIns="50800" rIns="50800"/>
            <a:lstStyle/>
            <a:p>
              <a:pPr algn="ctr">
                <a:lnSpc>
                  <a:spcPts val="1134"/>
                </a:lnSpc>
              </a:pPr>
            </a:p>
          </p:txBody>
        </p:sp>
      </p:grpSp>
      <p:grpSp>
        <p:nvGrpSpPr>
          <p:cNvPr name="Group 9" id="9"/>
          <p:cNvGrpSpPr/>
          <p:nvPr/>
        </p:nvGrpSpPr>
        <p:grpSpPr>
          <a:xfrm rot="0">
            <a:off x="1028700" y="2871608"/>
            <a:ext cx="4295905" cy="6386692"/>
            <a:chOff x="0" y="0"/>
            <a:chExt cx="1707956" cy="2539205"/>
          </a:xfrm>
        </p:grpSpPr>
        <p:sp>
          <p:nvSpPr>
            <p:cNvPr name="Freeform 10" id="10"/>
            <p:cNvSpPr/>
            <p:nvPr/>
          </p:nvSpPr>
          <p:spPr>
            <a:xfrm flipH="false" flipV="false" rot="0">
              <a:off x="0" y="0"/>
              <a:ext cx="1707956" cy="2539205"/>
            </a:xfrm>
            <a:custGeom>
              <a:avLst/>
              <a:gdLst/>
              <a:ahLst/>
              <a:cxnLst/>
              <a:rect r="r" b="b" t="t" l="l"/>
              <a:pathLst>
                <a:path h="2539205" w="1707956">
                  <a:moveTo>
                    <a:pt x="90108" y="0"/>
                  </a:moveTo>
                  <a:lnTo>
                    <a:pt x="1617847" y="0"/>
                  </a:lnTo>
                  <a:cubicBezTo>
                    <a:pt x="1667613" y="0"/>
                    <a:pt x="1707956" y="40343"/>
                    <a:pt x="1707956" y="90108"/>
                  </a:cubicBezTo>
                  <a:lnTo>
                    <a:pt x="1707956" y="2449097"/>
                  </a:lnTo>
                  <a:cubicBezTo>
                    <a:pt x="1707956" y="2472996"/>
                    <a:pt x="1698462" y="2495915"/>
                    <a:pt x="1681564" y="2512813"/>
                  </a:cubicBezTo>
                  <a:cubicBezTo>
                    <a:pt x="1664665" y="2529712"/>
                    <a:pt x="1641746" y="2539205"/>
                    <a:pt x="1617847" y="2539205"/>
                  </a:cubicBezTo>
                  <a:lnTo>
                    <a:pt x="90108" y="2539205"/>
                  </a:lnTo>
                  <a:cubicBezTo>
                    <a:pt x="66210" y="2539205"/>
                    <a:pt x="43291" y="2529712"/>
                    <a:pt x="26392" y="2512813"/>
                  </a:cubicBezTo>
                  <a:cubicBezTo>
                    <a:pt x="9494" y="2495915"/>
                    <a:pt x="0" y="2472996"/>
                    <a:pt x="0" y="2449097"/>
                  </a:cubicBezTo>
                  <a:lnTo>
                    <a:pt x="0" y="90108"/>
                  </a:lnTo>
                  <a:cubicBezTo>
                    <a:pt x="0" y="66210"/>
                    <a:pt x="9494" y="43291"/>
                    <a:pt x="26392" y="26392"/>
                  </a:cubicBezTo>
                  <a:cubicBezTo>
                    <a:pt x="43291" y="9494"/>
                    <a:pt x="66210" y="0"/>
                    <a:pt x="90108" y="0"/>
                  </a:cubicBezTo>
                  <a:close/>
                </a:path>
              </a:pathLst>
            </a:custGeom>
            <a:ln w="19050" cap="rnd">
              <a:gradFill>
                <a:gsLst>
                  <a:gs pos="0">
                    <a:srgbClr val="5DE0E6">
                      <a:alpha val="100000"/>
                    </a:srgbClr>
                  </a:gs>
                  <a:gs pos="100000">
                    <a:srgbClr val="004AAD">
                      <a:alpha val="100000"/>
                    </a:srgbClr>
                  </a:gs>
                </a:gsLst>
                <a:lin ang="0"/>
              </a:gradFill>
              <a:prstDash val="solid"/>
              <a:round/>
            </a:ln>
          </p:spPr>
        </p:sp>
        <p:sp>
          <p:nvSpPr>
            <p:cNvPr name="TextBox 11" id="11"/>
            <p:cNvSpPr txBox="true"/>
            <p:nvPr/>
          </p:nvSpPr>
          <p:spPr>
            <a:xfrm>
              <a:off x="0" y="47625"/>
              <a:ext cx="1707956" cy="2491580"/>
            </a:xfrm>
            <a:prstGeom prst="rect">
              <a:avLst/>
            </a:prstGeom>
          </p:spPr>
          <p:txBody>
            <a:bodyPr anchor="ctr" rtlCol="false" tIns="50800" lIns="50800" bIns="50800" rIns="50800"/>
            <a:lstStyle/>
            <a:p>
              <a:pPr algn="ctr">
                <a:lnSpc>
                  <a:spcPts val="1134"/>
                </a:lnSpc>
              </a:pPr>
            </a:p>
          </p:txBody>
        </p:sp>
      </p:grpSp>
      <p:grpSp>
        <p:nvGrpSpPr>
          <p:cNvPr name="Group 12" id="12"/>
          <p:cNvGrpSpPr/>
          <p:nvPr/>
        </p:nvGrpSpPr>
        <p:grpSpPr>
          <a:xfrm rot="0">
            <a:off x="1510505" y="3404633"/>
            <a:ext cx="3347390" cy="3044301"/>
            <a:chOff x="0" y="0"/>
            <a:chExt cx="907576" cy="825400"/>
          </a:xfrm>
        </p:grpSpPr>
        <p:sp>
          <p:nvSpPr>
            <p:cNvPr name="Freeform 13" id="13"/>
            <p:cNvSpPr/>
            <p:nvPr/>
          </p:nvSpPr>
          <p:spPr>
            <a:xfrm flipH="false" flipV="false" rot="0">
              <a:off x="0" y="0"/>
              <a:ext cx="907576" cy="825400"/>
            </a:xfrm>
            <a:custGeom>
              <a:avLst/>
              <a:gdLst/>
              <a:ahLst/>
              <a:cxnLst/>
              <a:rect r="r" b="b" t="t" l="l"/>
              <a:pathLst>
                <a:path h="825400" w="907576">
                  <a:moveTo>
                    <a:pt x="115641" y="0"/>
                  </a:moveTo>
                  <a:lnTo>
                    <a:pt x="791935" y="0"/>
                  </a:lnTo>
                  <a:cubicBezTo>
                    <a:pt x="855802" y="0"/>
                    <a:pt x="907576" y="51774"/>
                    <a:pt x="907576" y="115641"/>
                  </a:cubicBezTo>
                  <a:lnTo>
                    <a:pt x="907576" y="709759"/>
                  </a:lnTo>
                  <a:cubicBezTo>
                    <a:pt x="907576" y="740429"/>
                    <a:pt x="895393" y="769842"/>
                    <a:pt x="873706" y="791529"/>
                  </a:cubicBezTo>
                  <a:cubicBezTo>
                    <a:pt x="852019" y="813216"/>
                    <a:pt x="822605" y="825400"/>
                    <a:pt x="791935" y="825400"/>
                  </a:cubicBezTo>
                  <a:lnTo>
                    <a:pt x="115641" y="825400"/>
                  </a:lnTo>
                  <a:cubicBezTo>
                    <a:pt x="51774" y="825400"/>
                    <a:pt x="0" y="773626"/>
                    <a:pt x="0" y="709759"/>
                  </a:cubicBezTo>
                  <a:lnTo>
                    <a:pt x="0" y="115641"/>
                  </a:lnTo>
                  <a:cubicBezTo>
                    <a:pt x="0" y="51774"/>
                    <a:pt x="51774" y="0"/>
                    <a:pt x="115641" y="0"/>
                  </a:cubicBezTo>
                  <a:close/>
                </a:path>
              </a:pathLst>
            </a:custGeom>
            <a:blipFill>
              <a:blip r:embed="rId3"/>
              <a:stretch>
                <a:fillRect l="-10630" t="0" r="-10630" b="0"/>
              </a:stretch>
            </a:blipFill>
          </p:spPr>
        </p:sp>
      </p:grpSp>
      <p:grpSp>
        <p:nvGrpSpPr>
          <p:cNvPr name="Group 14" id="14"/>
          <p:cNvGrpSpPr/>
          <p:nvPr/>
        </p:nvGrpSpPr>
        <p:grpSpPr>
          <a:xfrm rot="0">
            <a:off x="11093532" y="5764773"/>
            <a:ext cx="6165768" cy="684161"/>
            <a:chOff x="0" y="0"/>
            <a:chExt cx="1623906" cy="180191"/>
          </a:xfrm>
        </p:grpSpPr>
        <p:sp>
          <p:nvSpPr>
            <p:cNvPr name="Freeform 15" id="15"/>
            <p:cNvSpPr/>
            <p:nvPr/>
          </p:nvSpPr>
          <p:spPr>
            <a:xfrm flipH="false" flipV="false" rot="0">
              <a:off x="0" y="0"/>
              <a:ext cx="1623906" cy="180191"/>
            </a:xfrm>
            <a:custGeom>
              <a:avLst/>
              <a:gdLst/>
              <a:ahLst/>
              <a:cxnLst/>
              <a:rect r="r" b="b" t="t" l="l"/>
              <a:pathLst>
                <a:path h="180191" w="1623906">
                  <a:moveTo>
                    <a:pt x="37669" y="0"/>
                  </a:moveTo>
                  <a:lnTo>
                    <a:pt x="1586237" y="0"/>
                  </a:lnTo>
                  <a:cubicBezTo>
                    <a:pt x="1596227" y="0"/>
                    <a:pt x="1605809" y="3969"/>
                    <a:pt x="1612873" y="11033"/>
                  </a:cubicBezTo>
                  <a:cubicBezTo>
                    <a:pt x="1619937" y="18097"/>
                    <a:pt x="1623906" y="27678"/>
                    <a:pt x="1623906" y="37669"/>
                  </a:cubicBezTo>
                  <a:lnTo>
                    <a:pt x="1623906" y="142522"/>
                  </a:lnTo>
                  <a:cubicBezTo>
                    <a:pt x="1623906" y="152512"/>
                    <a:pt x="1619937" y="162093"/>
                    <a:pt x="1612873" y="169158"/>
                  </a:cubicBezTo>
                  <a:cubicBezTo>
                    <a:pt x="1605809" y="176222"/>
                    <a:pt x="1596227" y="180191"/>
                    <a:pt x="1586237" y="180191"/>
                  </a:cubicBezTo>
                  <a:lnTo>
                    <a:pt x="37669" y="180191"/>
                  </a:lnTo>
                  <a:cubicBezTo>
                    <a:pt x="27678" y="180191"/>
                    <a:pt x="18097" y="176222"/>
                    <a:pt x="11033" y="169158"/>
                  </a:cubicBezTo>
                  <a:cubicBezTo>
                    <a:pt x="3969" y="162093"/>
                    <a:pt x="0" y="152512"/>
                    <a:pt x="0" y="142522"/>
                  </a:cubicBezTo>
                  <a:lnTo>
                    <a:pt x="0" y="37669"/>
                  </a:lnTo>
                  <a:cubicBezTo>
                    <a:pt x="0" y="27678"/>
                    <a:pt x="3969" y="18097"/>
                    <a:pt x="11033" y="11033"/>
                  </a:cubicBezTo>
                  <a:cubicBezTo>
                    <a:pt x="18097" y="3969"/>
                    <a:pt x="27678" y="0"/>
                    <a:pt x="37669" y="0"/>
                  </a:cubicBezTo>
                  <a:close/>
                </a:path>
              </a:pathLst>
            </a:custGeom>
            <a:gradFill rotWithShape="true">
              <a:gsLst>
                <a:gs pos="0">
                  <a:srgbClr val="5DE0E6">
                    <a:alpha val="100000"/>
                  </a:srgbClr>
                </a:gs>
                <a:gs pos="100000">
                  <a:srgbClr val="004AAD">
                    <a:alpha val="100000"/>
                  </a:srgbClr>
                </a:gs>
              </a:gsLst>
              <a:lin ang="0"/>
            </a:gradFill>
            <a:ln cap="rnd">
              <a:noFill/>
              <a:prstDash val="solid"/>
              <a:round/>
            </a:ln>
          </p:spPr>
        </p:sp>
        <p:sp>
          <p:nvSpPr>
            <p:cNvPr name="TextBox 16" id="16"/>
            <p:cNvSpPr txBox="true"/>
            <p:nvPr/>
          </p:nvSpPr>
          <p:spPr>
            <a:xfrm>
              <a:off x="0" y="28575"/>
              <a:ext cx="1623906" cy="151616"/>
            </a:xfrm>
            <a:prstGeom prst="rect">
              <a:avLst/>
            </a:prstGeom>
          </p:spPr>
          <p:txBody>
            <a:bodyPr anchor="ctr" rtlCol="false" tIns="50800" lIns="50800" bIns="50800" rIns="50800"/>
            <a:lstStyle/>
            <a:p>
              <a:pPr algn="ctr">
                <a:lnSpc>
                  <a:spcPts val="1134"/>
                </a:lnSpc>
              </a:pPr>
            </a:p>
          </p:txBody>
        </p:sp>
      </p:grpSp>
      <p:sp>
        <p:nvSpPr>
          <p:cNvPr name="TextBox 17" id="17"/>
          <p:cNvSpPr txBox="true"/>
          <p:nvPr/>
        </p:nvSpPr>
        <p:spPr>
          <a:xfrm rot="0">
            <a:off x="11093532" y="3164502"/>
            <a:ext cx="6165768" cy="1629915"/>
          </a:xfrm>
          <a:prstGeom prst="rect">
            <a:avLst/>
          </a:prstGeom>
        </p:spPr>
        <p:txBody>
          <a:bodyPr anchor="t" rtlCol="false" tIns="0" lIns="0" bIns="0" rIns="0">
            <a:spAutoFit/>
          </a:bodyPr>
          <a:lstStyle/>
          <a:p>
            <a:pPr algn="l">
              <a:lnSpc>
                <a:spcPts val="5418"/>
              </a:lnSpc>
            </a:pPr>
            <a:r>
              <a:rPr lang="en-US" b="true" sz="6528" spc="-424">
                <a:solidFill>
                  <a:srgbClr val="52CFE0"/>
                </a:solidFill>
                <a:latin typeface="Helvetica World Bold"/>
                <a:ea typeface="Helvetica World Bold"/>
                <a:cs typeface="Helvetica World Bold"/>
                <a:sym typeface="Helvetica World Bold"/>
              </a:rPr>
              <a:t>TYPES OF PROGRAMMERS</a:t>
            </a:r>
          </a:p>
        </p:txBody>
      </p:sp>
      <p:sp>
        <p:nvSpPr>
          <p:cNvPr name="TextBox 18" id="18"/>
          <p:cNvSpPr txBox="true"/>
          <p:nvPr/>
        </p:nvSpPr>
        <p:spPr>
          <a:xfrm rot="0">
            <a:off x="7054987" y="807453"/>
            <a:ext cx="810952"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Home</a:t>
            </a:r>
          </a:p>
        </p:txBody>
      </p:sp>
      <p:sp>
        <p:nvSpPr>
          <p:cNvPr name="TextBox 19" id="19"/>
          <p:cNvSpPr txBox="true"/>
          <p:nvPr/>
        </p:nvSpPr>
        <p:spPr>
          <a:xfrm rot="0">
            <a:off x="8498359" y="807453"/>
            <a:ext cx="1051116"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About Us</a:t>
            </a:r>
          </a:p>
        </p:txBody>
      </p:sp>
      <p:sp>
        <p:nvSpPr>
          <p:cNvPr name="TextBox 20" id="20"/>
          <p:cNvSpPr txBox="true"/>
          <p:nvPr/>
        </p:nvSpPr>
        <p:spPr>
          <a:xfrm rot="0">
            <a:off x="10181897" y="807453"/>
            <a:ext cx="1051116"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Services</a:t>
            </a:r>
          </a:p>
        </p:txBody>
      </p:sp>
      <p:sp>
        <p:nvSpPr>
          <p:cNvPr name="TextBox 21" id="21"/>
          <p:cNvSpPr txBox="true"/>
          <p:nvPr/>
        </p:nvSpPr>
        <p:spPr>
          <a:xfrm rot="0">
            <a:off x="16034591" y="807453"/>
            <a:ext cx="970584" cy="177293"/>
          </a:xfrm>
          <a:prstGeom prst="rect">
            <a:avLst/>
          </a:prstGeom>
        </p:spPr>
        <p:txBody>
          <a:bodyPr anchor="t" rtlCol="false" tIns="0" lIns="0" bIns="0" rIns="0">
            <a:spAutoFit/>
          </a:bodyPr>
          <a:lstStyle/>
          <a:p>
            <a:pPr algn="ctr">
              <a:lnSpc>
                <a:spcPts val="1134"/>
              </a:lnSpc>
            </a:pPr>
            <a:r>
              <a:rPr lang="en-US" b="true" sz="1400" spc="-28">
                <a:solidFill>
                  <a:srgbClr val="000000"/>
                </a:solidFill>
                <a:latin typeface="Helvetica World Bold"/>
                <a:ea typeface="Helvetica World Bold"/>
                <a:cs typeface="Helvetica World Bold"/>
                <a:sym typeface="Helvetica World Bold"/>
              </a:rPr>
              <a:t>Contact</a:t>
            </a:r>
          </a:p>
        </p:txBody>
      </p:sp>
      <p:sp>
        <p:nvSpPr>
          <p:cNvPr name="TextBox 22" id="22"/>
          <p:cNvSpPr txBox="true"/>
          <p:nvPr/>
        </p:nvSpPr>
        <p:spPr>
          <a:xfrm rot="0">
            <a:off x="11093532" y="5910131"/>
            <a:ext cx="6165768" cy="431546"/>
          </a:xfrm>
          <a:prstGeom prst="rect">
            <a:avLst/>
          </a:prstGeom>
        </p:spPr>
        <p:txBody>
          <a:bodyPr anchor="t" rtlCol="false" tIns="0" lIns="0" bIns="0" rIns="0">
            <a:spAutoFit/>
          </a:bodyPr>
          <a:lstStyle/>
          <a:p>
            <a:pPr algn="ctr">
              <a:lnSpc>
                <a:spcPts val="2911"/>
              </a:lnSpc>
            </a:pPr>
            <a:r>
              <a:rPr lang="en-US" b="true" sz="2799" spc="-55">
                <a:solidFill>
                  <a:srgbClr val="000000"/>
                </a:solidFill>
                <a:latin typeface="Helvetica World Bold"/>
                <a:ea typeface="Helvetica World Bold"/>
                <a:cs typeface="Helvetica World Bold"/>
                <a:sym typeface="Helvetica World Bold"/>
              </a:rPr>
              <a:t>Specializations in Programming</a:t>
            </a:r>
          </a:p>
        </p:txBody>
      </p:sp>
      <p:sp>
        <p:nvSpPr>
          <p:cNvPr name="TextBox 23" id="23"/>
          <p:cNvSpPr txBox="true"/>
          <p:nvPr/>
        </p:nvSpPr>
        <p:spPr>
          <a:xfrm rot="0">
            <a:off x="1594403" y="7516413"/>
            <a:ext cx="3092042" cy="1304784"/>
          </a:xfrm>
          <a:prstGeom prst="rect">
            <a:avLst/>
          </a:prstGeom>
        </p:spPr>
        <p:txBody>
          <a:bodyPr anchor="t" rtlCol="false" tIns="0" lIns="0" bIns="0" rIns="0">
            <a:spAutoFit/>
          </a:bodyPr>
          <a:lstStyle/>
          <a:p>
            <a:pPr algn="l">
              <a:lnSpc>
                <a:spcPts val="2598"/>
              </a:lnSpc>
            </a:pPr>
            <a:r>
              <a:rPr lang="en-US" sz="1856" spc="-37">
                <a:solidFill>
                  <a:srgbClr val="F7F7F7"/>
                </a:solidFill>
                <a:latin typeface="Helvetica World"/>
                <a:ea typeface="Helvetica World"/>
                <a:cs typeface="Helvetica World"/>
                <a:sym typeface="Helvetica World"/>
              </a:rPr>
              <a:t> Creates the visual parts of websites that users interact with.</a:t>
            </a:r>
          </a:p>
          <a:p>
            <a:pPr algn="l">
              <a:lnSpc>
                <a:spcPts val="2598"/>
              </a:lnSpc>
            </a:pPr>
          </a:p>
        </p:txBody>
      </p:sp>
      <p:sp>
        <p:nvSpPr>
          <p:cNvPr name="TextBox 24" id="24"/>
          <p:cNvSpPr txBox="true"/>
          <p:nvPr/>
        </p:nvSpPr>
        <p:spPr>
          <a:xfrm rot="0">
            <a:off x="1028700" y="6836408"/>
            <a:ext cx="4295905" cy="431546"/>
          </a:xfrm>
          <a:prstGeom prst="rect">
            <a:avLst/>
          </a:prstGeom>
        </p:spPr>
        <p:txBody>
          <a:bodyPr anchor="t" rtlCol="false" tIns="0" lIns="0" bIns="0" rIns="0">
            <a:spAutoFit/>
          </a:bodyPr>
          <a:lstStyle/>
          <a:p>
            <a:pPr algn="ctr">
              <a:lnSpc>
                <a:spcPts val="2911"/>
              </a:lnSpc>
            </a:pPr>
            <a:r>
              <a:rPr lang="en-US" b="true" sz="2799" spc="-55">
                <a:solidFill>
                  <a:srgbClr val="52CFE0"/>
                </a:solidFill>
                <a:latin typeface="Helvetica World Bold"/>
                <a:ea typeface="Helvetica World Bold"/>
                <a:cs typeface="Helvetica World Bold"/>
                <a:sym typeface="Helvetica World Bold"/>
              </a:rPr>
              <a:t>Frontend Developer</a:t>
            </a:r>
          </a:p>
        </p:txBody>
      </p:sp>
      <p:grpSp>
        <p:nvGrpSpPr>
          <p:cNvPr name="Group 25" id="25"/>
          <p:cNvGrpSpPr/>
          <p:nvPr/>
        </p:nvGrpSpPr>
        <p:grpSpPr>
          <a:xfrm rot="0">
            <a:off x="6133532" y="2871608"/>
            <a:ext cx="4295905" cy="6386692"/>
            <a:chOff x="0" y="0"/>
            <a:chExt cx="1707956" cy="2539205"/>
          </a:xfrm>
        </p:grpSpPr>
        <p:sp>
          <p:nvSpPr>
            <p:cNvPr name="Freeform 26" id="26"/>
            <p:cNvSpPr/>
            <p:nvPr/>
          </p:nvSpPr>
          <p:spPr>
            <a:xfrm flipH="false" flipV="false" rot="0">
              <a:off x="0" y="0"/>
              <a:ext cx="1707956" cy="2539205"/>
            </a:xfrm>
            <a:custGeom>
              <a:avLst/>
              <a:gdLst/>
              <a:ahLst/>
              <a:cxnLst/>
              <a:rect r="r" b="b" t="t" l="l"/>
              <a:pathLst>
                <a:path h="2539205" w="1707956">
                  <a:moveTo>
                    <a:pt x="90108" y="0"/>
                  </a:moveTo>
                  <a:lnTo>
                    <a:pt x="1617847" y="0"/>
                  </a:lnTo>
                  <a:cubicBezTo>
                    <a:pt x="1667613" y="0"/>
                    <a:pt x="1707956" y="40343"/>
                    <a:pt x="1707956" y="90108"/>
                  </a:cubicBezTo>
                  <a:lnTo>
                    <a:pt x="1707956" y="2449097"/>
                  </a:lnTo>
                  <a:cubicBezTo>
                    <a:pt x="1707956" y="2472996"/>
                    <a:pt x="1698462" y="2495915"/>
                    <a:pt x="1681564" y="2512813"/>
                  </a:cubicBezTo>
                  <a:cubicBezTo>
                    <a:pt x="1664665" y="2529712"/>
                    <a:pt x="1641746" y="2539205"/>
                    <a:pt x="1617847" y="2539205"/>
                  </a:cubicBezTo>
                  <a:lnTo>
                    <a:pt x="90108" y="2539205"/>
                  </a:lnTo>
                  <a:cubicBezTo>
                    <a:pt x="66210" y="2539205"/>
                    <a:pt x="43291" y="2529712"/>
                    <a:pt x="26392" y="2512813"/>
                  </a:cubicBezTo>
                  <a:cubicBezTo>
                    <a:pt x="9494" y="2495915"/>
                    <a:pt x="0" y="2472996"/>
                    <a:pt x="0" y="2449097"/>
                  </a:cubicBezTo>
                  <a:lnTo>
                    <a:pt x="0" y="90108"/>
                  </a:lnTo>
                  <a:cubicBezTo>
                    <a:pt x="0" y="66210"/>
                    <a:pt x="9494" y="43291"/>
                    <a:pt x="26392" y="26392"/>
                  </a:cubicBezTo>
                  <a:cubicBezTo>
                    <a:pt x="43291" y="9494"/>
                    <a:pt x="66210" y="0"/>
                    <a:pt x="90108" y="0"/>
                  </a:cubicBezTo>
                  <a:close/>
                </a:path>
              </a:pathLst>
            </a:custGeom>
            <a:solidFill>
              <a:srgbClr val="000000">
                <a:alpha val="49804"/>
              </a:srgbClr>
            </a:solidFill>
          </p:spPr>
        </p:sp>
        <p:sp>
          <p:nvSpPr>
            <p:cNvPr name="TextBox 27" id="27"/>
            <p:cNvSpPr txBox="true"/>
            <p:nvPr/>
          </p:nvSpPr>
          <p:spPr>
            <a:xfrm>
              <a:off x="0" y="47625"/>
              <a:ext cx="1707956" cy="2491580"/>
            </a:xfrm>
            <a:prstGeom prst="rect">
              <a:avLst/>
            </a:prstGeom>
          </p:spPr>
          <p:txBody>
            <a:bodyPr anchor="ctr" rtlCol="false" tIns="50800" lIns="50800" bIns="50800" rIns="50800"/>
            <a:lstStyle/>
            <a:p>
              <a:pPr algn="ctr">
                <a:lnSpc>
                  <a:spcPts val="1134"/>
                </a:lnSpc>
              </a:pPr>
            </a:p>
          </p:txBody>
        </p:sp>
      </p:grpSp>
      <p:grpSp>
        <p:nvGrpSpPr>
          <p:cNvPr name="Group 28" id="28"/>
          <p:cNvGrpSpPr/>
          <p:nvPr/>
        </p:nvGrpSpPr>
        <p:grpSpPr>
          <a:xfrm rot="0">
            <a:off x="6133532" y="2871608"/>
            <a:ext cx="4295905" cy="6386692"/>
            <a:chOff x="0" y="0"/>
            <a:chExt cx="1707956" cy="2539205"/>
          </a:xfrm>
        </p:grpSpPr>
        <p:sp>
          <p:nvSpPr>
            <p:cNvPr name="Freeform 29" id="29"/>
            <p:cNvSpPr/>
            <p:nvPr/>
          </p:nvSpPr>
          <p:spPr>
            <a:xfrm flipH="false" flipV="false" rot="0">
              <a:off x="0" y="0"/>
              <a:ext cx="1707956" cy="2539205"/>
            </a:xfrm>
            <a:custGeom>
              <a:avLst/>
              <a:gdLst/>
              <a:ahLst/>
              <a:cxnLst/>
              <a:rect r="r" b="b" t="t" l="l"/>
              <a:pathLst>
                <a:path h="2539205" w="1707956">
                  <a:moveTo>
                    <a:pt x="90108" y="0"/>
                  </a:moveTo>
                  <a:lnTo>
                    <a:pt x="1617847" y="0"/>
                  </a:lnTo>
                  <a:cubicBezTo>
                    <a:pt x="1667613" y="0"/>
                    <a:pt x="1707956" y="40343"/>
                    <a:pt x="1707956" y="90108"/>
                  </a:cubicBezTo>
                  <a:lnTo>
                    <a:pt x="1707956" y="2449097"/>
                  </a:lnTo>
                  <a:cubicBezTo>
                    <a:pt x="1707956" y="2472996"/>
                    <a:pt x="1698462" y="2495915"/>
                    <a:pt x="1681564" y="2512813"/>
                  </a:cubicBezTo>
                  <a:cubicBezTo>
                    <a:pt x="1664665" y="2529712"/>
                    <a:pt x="1641746" y="2539205"/>
                    <a:pt x="1617847" y="2539205"/>
                  </a:cubicBezTo>
                  <a:lnTo>
                    <a:pt x="90108" y="2539205"/>
                  </a:lnTo>
                  <a:cubicBezTo>
                    <a:pt x="66210" y="2539205"/>
                    <a:pt x="43291" y="2529712"/>
                    <a:pt x="26392" y="2512813"/>
                  </a:cubicBezTo>
                  <a:cubicBezTo>
                    <a:pt x="9494" y="2495915"/>
                    <a:pt x="0" y="2472996"/>
                    <a:pt x="0" y="2449097"/>
                  </a:cubicBezTo>
                  <a:lnTo>
                    <a:pt x="0" y="90108"/>
                  </a:lnTo>
                  <a:cubicBezTo>
                    <a:pt x="0" y="66210"/>
                    <a:pt x="9494" y="43291"/>
                    <a:pt x="26392" y="26392"/>
                  </a:cubicBezTo>
                  <a:cubicBezTo>
                    <a:pt x="43291" y="9494"/>
                    <a:pt x="66210" y="0"/>
                    <a:pt x="90108" y="0"/>
                  </a:cubicBezTo>
                  <a:close/>
                </a:path>
              </a:pathLst>
            </a:custGeom>
            <a:ln w="19050" cap="rnd">
              <a:gradFill>
                <a:gsLst>
                  <a:gs pos="0">
                    <a:srgbClr val="5DE0E6">
                      <a:alpha val="100000"/>
                    </a:srgbClr>
                  </a:gs>
                  <a:gs pos="100000">
                    <a:srgbClr val="004AAD">
                      <a:alpha val="100000"/>
                    </a:srgbClr>
                  </a:gs>
                </a:gsLst>
                <a:lin ang="0"/>
              </a:gradFill>
              <a:prstDash val="solid"/>
              <a:round/>
            </a:ln>
          </p:spPr>
        </p:sp>
        <p:sp>
          <p:nvSpPr>
            <p:cNvPr name="TextBox 30" id="30"/>
            <p:cNvSpPr txBox="true"/>
            <p:nvPr/>
          </p:nvSpPr>
          <p:spPr>
            <a:xfrm>
              <a:off x="0" y="47625"/>
              <a:ext cx="1707956" cy="2491580"/>
            </a:xfrm>
            <a:prstGeom prst="rect">
              <a:avLst/>
            </a:prstGeom>
          </p:spPr>
          <p:txBody>
            <a:bodyPr anchor="ctr" rtlCol="false" tIns="50800" lIns="50800" bIns="50800" rIns="50800"/>
            <a:lstStyle/>
            <a:p>
              <a:pPr algn="ctr">
                <a:lnSpc>
                  <a:spcPts val="1134"/>
                </a:lnSpc>
              </a:pPr>
            </a:p>
          </p:txBody>
        </p:sp>
      </p:grpSp>
      <p:grpSp>
        <p:nvGrpSpPr>
          <p:cNvPr name="Group 31" id="31"/>
          <p:cNvGrpSpPr/>
          <p:nvPr/>
        </p:nvGrpSpPr>
        <p:grpSpPr>
          <a:xfrm rot="0">
            <a:off x="6615336" y="3404633"/>
            <a:ext cx="3347390" cy="3044301"/>
            <a:chOff x="0" y="0"/>
            <a:chExt cx="907576" cy="825400"/>
          </a:xfrm>
        </p:grpSpPr>
        <p:sp>
          <p:nvSpPr>
            <p:cNvPr name="Freeform 32" id="32"/>
            <p:cNvSpPr/>
            <p:nvPr/>
          </p:nvSpPr>
          <p:spPr>
            <a:xfrm flipH="false" flipV="false" rot="0">
              <a:off x="0" y="0"/>
              <a:ext cx="907576" cy="825400"/>
            </a:xfrm>
            <a:custGeom>
              <a:avLst/>
              <a:gdLst/>
              <a:ahLst/>
              <a:cxnLst/>
              <a:rect r="r" b="b" t="t" l="l"/>
              <a:pathLst>
                <a:path h="825400" w="907576">
                  <a:moveTo>
                    <a:pt x="115641" y="0"/>
                  </a:moveTo>
                  <a:lnTo>
                    <a:pt x="791935" y="0"/>
                  </a:lnTo>
                  <a:cubicBezTo>
                    <a:pt x="855802" y="0"/>
                    <a:pt x="907576" y="51774"/>
                    <a:pt x="907576" y="115641"/>
                  </a:cubicBezTo>
                  <a:lnTo>
                    <a:pt x="907576" y="709759"/>
                  </a:lnTo>
                  <a:cubicBezTo>
                    <a:pt x="907576" y="740429"/>
                    <a:pt x="895393" y="769842"/>
                    <a:pt x="873706" y="791529"/>
                  </a:cubicBezTo>
                  <a:cubicBezTo>
                    <a:pt x="852019" y="813216"/>
                    <a:pt x="822605" y="825400"/>
                    <a:pt x="791935" y="825400"/>
                  </a:cubicBezTo>
                  <a:lnTo>
                    <a:pt x="115641" y="825400"/>
                  </a:lnTo>
                  <a:cubicBezTo>
                    <a:pt x="51774" y="825400"/>
                    <a:pt x="0" y="773626"/>
                    <a:pt x="0" y="709759"/>
                  </a:cubicBezTo>
                  <a:lnTo>
                    <a:pt x="0" y="115641"/>
                  </a:lnTo>
                  <a:cubicBezTo>
                    <a:pt x="0" y="51774"/>
                    <a:pt x="51774" y="0"/>
                    <a:pt x="115641" y="0"/>
                  </a:cubicBezTo>
                  <a:close/>
                </a:path>
              </a:pathLst>
            </a:custGeom>
            <a:blipFill>
              <a:blip r:embed="rId4"/>
              <a:stretch>
                <a:fillRect l="-18251" t="0" r="-18251" b="0"/>
              </a:stretch>
            </a:blipFill>
          </p:spPr>
        </p:sp>
      </p:grpSp>
      <p:sp>
        <p:nvSpPr>
          <p:cNvPr name="TextBox 33" id="33"/>
          <p:cNvSpPr txBox="true"/>
          <p:nvPr/>
        </p:nvSpPr>
        <p:spPr>
          <a:xfrm rot="0">
            <a:off x="6715079" y="7440213"/>
            <a:ext cx="3566561" cy="1016801"/>
          </a:xfrm>
          <a:prstGeom prst="rect">
            <a:avLst/>
          </a:prstGeom>
        </p:spPr>
        <p:txBody>
          <a:bodyPr anchor="t" rtlCol="false" tIns="0" lIns="0" bIns="0" rIns="0">
            <a:spAutoFit/>
          </a:bodyPr>
          <a:lstStyle/>
          <a:p>
            <a:pPr algn="l">
              <a:lnSpc>
                <a:spcPts val="2710"/>
              </a:lnSpc>
            </a:pPr>
            <a:r>
              <a:rPr lang="en-US" sz="1936" spc="-38">
                <a:solidFill>
                  <a:srgbClr val="F7F7F7"/>
                </a:solidFill>
                <a:latin typeface="Helvetica World"/>
                <a:ea typeface="Helvetica World"/>
                <a:cs typeface="Helvetica World"/>
                <a:sym typeface="Helvetica World"/>
              </a:rPr>
              <a:t>Develops server-side logic and manages databases.</a:t>
            </a:r>
          </a:p>
          <a:p>
            <a:pPr algn="l">
              <a:lnSpc>
                <a:spcPts val="2710"/>
              </a:lnSpc>
            </a:pPr>
          </a:p>
        </p:txBody>
      </p:sp>
      <p:sp>
        <p:nvSpPr>
          <p:cNvPr name="TextBox 34" id="34"/>
          <p:cNvSpPr txBox="true"/>
          <p:nvPr/>
        </p:nvSpPr>
        <p:spPr>
          <a:xfrm rot="0">
            <a:off x="6133532" y="6836408"/>
            <a:ext cx="4295905" cy="431546"/>
          </a:xfrm>
          <a:prstGeom prst="rect">
            <a:avLst/>
          </a:prstGeom>
        </p:spPr>
        <p:txBody>
          <a:bodyPr anchor="t" rtlCol="false" tIns="0" lIns="0" bIns="0" rIns="0">
            <a:spAutoFit/>
          </a:bodyPr>
          <a:lstStyle/>
          <a:p>
            <a:pPr algn="ctr">
              <a:lnSpc>
                <a:spcPts val="2911"/>
              </a:lnSpc>
            </a:pPr>
            <a:r>
              <a:rPr lang="en-US" b="true" sz="2799" spc="-55">
                <a:solidFill>
                  <a:srgbClr val="52CFE0"/>
                </a:solidFill>
                <a:latin typeface="Helvetica World Bold"/>
                <a:ea typeface="Helvetica World Bold"/>
                <a:cs typeface="Helvetica World Bold"/>
                <a:sym typeface="Helvetica World Bold"/>
              </a:rPr>
              <a:t>Backend Developer</a:t>
            </a:r>
          </a:p>
        </p:txBody>
      </p:sp>
      <p:sp>
        <p:nvSpPr>
          <p:cNvPr name="TextBox 35" id="35"/>
          <p:cNvSpPr txBox="true"/>
          <p:nvPr/>
        </p:nvSpPr>
        <p:spPr>
          <a:xfrm rot="0">
            <a:off x="11093532" y="6712583"/>
            <a:ext cx="6491601" cy="2828085"/>
          </a:xfrm>
          <a:prstGeom prst="rect">
            <a:avLst/>
          </a:prstGeom>
        </p:spPr>
        <p:txBody>
          <a:bodyPr anchor="t" rtlCol="false" tIns="0" lIns="0" bIns="0" rIns="0">
            <a:spAutoFit/>
          </a:bodyPr>
          <a:lstStyle/>
          <a:p>
            <a:pPr algn="l">
              <a:lnSpc>
                <a:spcPts val="3183"/>
              </a:lnSpc>
            </a:pPr>
            <a:r>
              <a:rPr lang="en-US" sz="2273" i="true" spc="-45">
                <a:solidFill>
                  <a:srgbClr val="F7F7F7"/>
                </a:solidFill>
                <a:latin typeface="Times New Roman MT Italics"/>
                <a:ea typeface="Times New Roman MT Italics"/>
                <a:cs typeface="Times New Roman MT Italics"/>
                <a:sym typeface="Times New Roman MT Italics"/>
              </a:rPr>
              <a:t>Programmers specialize in different areas based on the software they develop and the technologies they use. Some create websites, while others develop mobile apps, manage databases, or build intelligent systems. Each type of programmer plays an important role in creating and maintaining modern technology.</a:t>
            </a:r>
          </a:p>
          <a:p>
            <a:pPr algn="l">
              <a:lnSpc>
                <a:spcPts val="3183"/>
              </a:lnSpc>
            </a:pPr>
          </a:p>
        </p:txBody>
      </p:sp>
      <p:grpSp>
        <p:nvGrpSpPr>
          <p:cNvPr name="Group 36" id="36"/>
          <p:cNvGrpSpPr/>
          <p:nvPr/>
        </p:nvGrpSpPr>
        <p:grpSpPr>
          <a:xfrm rot="0">
            <a:off x="16635046" y="8634046"/>
            <a:ext cx="624254" cy="624254"/>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100000"/>
                  </a:srgbClr>
                </a:gs>
                <a:gs pos="100000">
                  <a:srgbClr val="004AAD">
                    <a:alpha val="100000"/>
                  </a:srgbClr>
                </a:gs>
              </a:gsLst>
              <a:lin ang="0"/>
            </a:gradFill>
          </p:spPr>
        </p:sp>
        <p:sp>
          <p:nvSpPr>
            <p:cNvPr name="TextBox 38" id="38"/>
            <p:cNvSpPr txBox="true"/>
            <p:nvPr/>
          </p:nvSpPr>
          <p:spPr>
            <a:xfrm>
              <a:off x="76200" y="123825"/>
              <a:ext cx="660400" cy="612775"/>
            </a:xfrm>
            <a:prstGeom prst="rect">
              <a:avLst/>
            </a:prstGeom>
          </p:spPr>
          <p:txBody>
            <a:bodyPr anchor="ctr" rtlCol="false" tIns="50800" lIns="50800" bIns="50800" rIns="50800"/>
            <a:lstStyle/>
            <a:p>
              <a:pPr algn="ctr">
                <a:lnSpc>
                  <a:spcPts val="1134"/>
                </a:lnSpc>
              </a:pPr>
            </a:p>
          </p:txBody>
        </p:sp>
      </p:grpSp>
      <p:sp>
        <p:nvSpPr>
          <p:cNvPr name="Freeform 39" id="39"/>
          <p:cNvSpPr/>
          <p:nvPr/>
        </p:nvSpPr>
        <p:spPr>
          <a:xfrm flipH="true" flipV="false" rot="0">
            <a:off x="16865622" y="8776995"/>
            <a:ext cx="203860" cy="338357"/>
          </a:xfrm>
          <a:custGeom>
            <a:avLst/>
            <a:gdLst/>
            <a:ahLst/>
            <a:cxnLst/>
            <a:rect r="r" b="b" t="t" l="l"/>
            <a:pathLst>
              <a:path h="338357" w="203860">
                <a:moveTo>
                  <a:pt x="203860" y="0"/>
                </a:moveTo>
                <a:lnTo>
                  <a:pt x="0" y="0"/>
                </a:lnTo>
                <a:lnTo>
                  <a:pt x="0" y="338356"/>
                </a:lnTo>
                <a:lnTo>
                  <a:pt x="203860" y="338356"/>
                </a:lnTo>
                <a:lnTo>
                  <a:pt x="2038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15780466" y="639280"/>
            <a:ext cx="1478834" cy="453314"/>
            <a:chOff x="0" y="0"/>
            <a:chExt cx="389487" cy="119391"/>
          </a:xfrm>
        </p:grpSpPr>
        <p:sp>
          <p:nvSpPr>
            <p:cNvPr name="Freeform 4" id="4"/>
            <p:cNvSpPr/>
            <p:nvPr/>
          </p:nvSpPr>
          <p:spPr>
            <a:xfrm flipH="false" flipV="false" rot="0">
              <a:off x="0" y="0"/>
              <a:ext cx="389487" cy="119391"/>
            </a:xfrm>
            <a:custGeom>
              <a:avLst/>
              <a:gdLst/>
              <a:ahLst/>
              <a:cxnLst/>
              <a:rect r="r" b="b" t="t" l="l"/>
              <a:pathLst>
                <a:path h="119391" w="389487">
                  <a:moveTo>
                    <a:pt x="52352" y="0"/>
                  </a:moveTo>
                  <a:lnTo>
                    <a:pt x="337136" y="0"/>
                  </a:lnTo>
                  <a:cubicBezTo>
                    <a:pt x="366049" y="0"/>
                    <a:pt x="389487" y="23439"/>
                    <a:pt x="389487" y="52352"/>
                  </a:cubicBezTo>
                  <a:lnTo>
                    <a:pt x="389487" y="67040"/>
                  </a:lnTo>
                  <a:cubicBezTo>
                    <a:pt x="389487" y="80924"/>
                    <a:pt x="383972" y="94240"/>
                    <a:pt x="374154" y="104058"/>
                  </a:cubicBezTo>
                  <a:cubicBezTo>
                    <a:pt x="364336" y="113876"/>
                    <a:pt x="351020" y="119391"/>
                    <a:pt x="337136" y="119391"/>
                  </a:cubicBezTo>
                  <a:lnTo>
                    <a:pt x="52352" y="119391"/>
                  </a:lnTo>
                  <a:cubicBezTo>
                    <a:pt x="23439" y="119391"/>
                    <a:pt x="0" y="95953"/>
                    <a:pt x="0" y="67040"/>
                  </a:cubicBezTo>
                  <a:lnTo>
                    <a:pt x="0" y="52352"/>
                  </a:lnTo>
                  <a:cubicBezTo>
                    <a:pt x="0" y="23439"/>
                    <a:pt x="23439" y="0"/>
                    <a:pt x="52352" y="0"/>
                  </a:cubicBezTo>
                  <a:close/>
                </a:path>
              </a:pathLst>
            </a:custGeom>
            <a:gradFill rotWithShape="true">
              <a:gsLst>
                <a:gs pos="0">
                  <a:srgbClr val="5DE0E6">
                    <a:alpha val="100000"/>
                  </a:srgbClr>
                </a:gs>
                <a:gs pos="100000">
                  <a:srgbClr val="004AAD">
                    <a:alpha val="100000"/>
                  </a:srgbClr>
                </a:gs>
              </a:gsLst>
              <a:lin ang="0"/>
            </a:gradFill>
            <a:ln cap="sq">
              <a:noFill/>
              <a:prstDash val="solid"/>
              <a:miter/>
            </a:ln>
          </p:spPr>
        </p:sp>
        <p:sp>
          <p:nvSpPr>
            <p:cNvPr name="TextBox 5" id="5"/>
            <p:cNvSpPr txBox="true"/>
            <p:nvPr/>
          </p:nvSpPr>
          <p:spPr>
            <a:xfrm>
              <a:off x="0" y="28575"/>
              <a:ext cx="389487" cy="90816"/>
            </a:xfrm>
            <a:prstGeom prst="rect">
              <a:avLst/>
            </a:prstGeom>
          </p:spPr>
          <p:txBody>
            <a:bodyPr anchor="ctr" rtlCol="false" tIns="50800" lIns="50800" bIns="50800" rIns="50800"/>
            <a:lstStyle/>
            <a:p>
              <a:pPr algn="ctr">
                <a:lnSpc>
                  <a:spcPts val="1134"/>
                </a:lnSpc>
              </a:pPr>
            </a:p>
          </p:txBody>
        </p:sp>
      </p:grpSp>
      <p:grpSp>
        <p:nvGrpSpPr>
          <p:cNvPr name="Group 6" id="6"/>
          <p:cNvGrpSpPr/>
          <p:nvPr/>
        </p:nvGrpSpPr>
        <p:grpSpPr>
          <a:xfrm rot="0">
            <a:off x="10411853" y="2871608"/>
            <a:ext cx="6847447" cy="684161"/>
            <a:chOff x="0" y="0"/>
            <a:chExt cx="1803443" cy="180191"/>
          </a:xfrm>
        </p:grpSpPr>
        <p:sp>
          <p:nvSpPr>
            <p:cNvPr name="Freeform 7" id="7"/>
            <p:cNvSpPr/>
            <p:nvPr/>
          </p:nvSpPr>
          <p:spPr>
            <a:xfrm flipH="false" flipV="false" rot="0">
              <a:off x="0" y="0"/>
              <a:ext cx="1803443" cy="180191"/>
            </a:xfrm>
            <a:custGeom>
              <a:avLst/>
              <a:gdLst/>
              <a:ahLst/>
              <a:cxnLst/>
              <a:rect r="r" b="b" t="t" l="l"/>
              <a:pathLst>
                <a:path h="180191" w="1803443">
                  <a:moveTo>
                    <a:pt x="33919" y="0"/>
                  </a:moveTo>
                  <a:lnTo>
                    <a:pt x="1769524" y="0"/>
                  </a:lnTo>
                  <a:cubicBezTo>
                    <a:pt x="1778520" y="0"/>
                    <a:pt x="1787147" y="3574"/>
                    <a:pt x="1793508" y="9935"/>
                  </a:cubicBezTo>
                  <a:cubicBezTo>
                    <a:pt x="1799869" y="16296"/>
                    <a:pt x="1803443" y="24923"/>
                    <a:pt x="1803443" y="33919"/>
                  </a:cubicBezTo>
                  <a:lnTo>
                    <a:pt x="1803443" y="146272"/>
                  </a:lnTo>
                  <a:cubicBezTo>
                    <a:pt x="1803443" y="155267"/>
                    <a:pt x="1799869" y="163895"/>
                    <a:pt x="1793508" y="170256"/>
                  </a:cubicBezTo>
                  <a:cubicBezTo>
                    <a:pt x="1787147" y="176617"/>
                    <a:pt x="1778520" y="180191"/>
                    <a:pt x="1769524" y="180191"/>
                  </a:cubicBezTo>
                  <a:lnTo>
                    <a:pt x="33919" y="180191"/>
                  </a:lnTo>
                  <a:cubicBezTo>
                    <a:pt x="15186" y="180191"/>
                    <a:pt x="0" y="165005"/>
                    <a:pt x="0" y="146272"/>
                  </a:cubicBezTo>
                  <a:lnTo>
                    <a:pt x="0" y="33919"/>
                  </a:lnTo>
                  <a:cubicBezTo>
                    <a:pt x="0" y="24923"/>
                    <a:pt x="3574" y="16296"/>
                    <a:pt x="9935" y="9935"/>
                  </a:cubicBezTo>
                  <a:cubicBezTo>
                    <a:pt x="16296" y="3574"/>
                    <a:pt x="24923" y="0"/>
                    <a:pt x="33919" y="0"/>
                  </a:cubicBezTo>
                  <a:close/>
                </a:path>
              </a:pathLst>
            </a:custGeom>
            <a:gradFill rotWithShape="true">
              <a:gsLst>
                <a:gs pos="0">
                  <a:srgbClr val="5DE0E6">
                    <a:alpha val="100000"/>
                  </a:srgbClr>
                </a:gs>
                <a:gs pos="100000">
                  <a:srgbClr val="004AAD">
                    <a:alpha val="100000"/>
                  </a:srgbClr>
                </a:gs>
              </a:gsLst>
              <a:lin ang="0"/>
            </a:gradFill>
            <a:ln cap="rnd">
              <a:noFill/>
              <a:prstDash val="solid"/>
              <a:round/>
            </a:ln>
          </p:spPr>
        </p:sp>
        <p:sp>
          <p:nvSpPr>
            <p:cNvPr name="TextBox 8" id="8"/>
            <p:cNvSpPr txBox="true"/>
            <p:nvPr/>
          </p:nvSpPr>
          <p:spPr>
            <a:xfrm>
              <a:off x="0" y="28575"/>
              <a:ext cx="1803443" cy="151616"/>
            </a:xfrm>
            <a:prstGeom prst="rect">
              <a:avLst/>
            </a:prstGeom>
          </p:spPr>
          <p:txBody>
            <a:bodyPr anchor="ctr" rtlCol="false" tIns="50800" lIns="50800" bIns="50800" rIns="50800"/>
            <a:lstStyle/>
            <a:p>
              <a:pPr algn="ctr">
                <a:lnSpc>
                  <a:spcPts val="1134"/>
                </a:lnSpc>
              </a:pPr>
            </a:p>
          </p:txBody>
        </p:sp>
      </p:grpSp>
      <p:sp>
        <p:nvSpPr>
          <p:cNvPr name="TextBox 9" id="9"/>
          <p:cNvSpPr txBox="true"/>
          <p:nvPr/>
        </p:nvSpPr>
        <p:spPr>
          <a:xfrm rot="0">
            <a:off x="10181897" y="7771137"/>
            <a:ext cx="7499093" cy="1489614"/>
          </a:xfrm>
          <a:prstGeom prst="rect">
            <a:avLst/>
          </a:prstGeom>
        </p:spPr>
        <p:txBody>
          <a:bodyPr anchor="t" rtlCol="false" tIns="0" lIns="0" bIns="0" rIns="0">
            <a:spAutoFit/>
          </a:bodyPr>
          <a:lstStyle/>
          <a:p>
            <a:pPr algn="ctr">
              <a:lnSpc>
                <a:spcPts val="4979"/>
              </a:lnSpc>
            </a:pPr>
            <a:r>
              <a:rPr lang="en-US" b="true" sz="5999" spc="-389">
                <a:solidFill>
                  <a:srgbClr val="52CFE0"/>
                </a:solidFill>
                <a:latin typeface="Helvetica World Bold"/>
                <a:ea typeface="Helvetica World Bold"/>
                <a:cs typeface="Helvetica World Bold"/>
                <a:sym typeface="Helvetica World Bold"/>
              </a:rPr>
              <a:t>ADVANCED PYTHON        CONCEPTS </a:t>
            </a:r>
          </a:p>
        </p:txBody>
      </p:sp>
      <p:sp>
        <p:nvSpPr>
          <p:cNvPr name="TextBox 10" id="10"/>
          <p:cNvSpPr txBox="true"/>
          <p:nvPr/>
        </p:nvSpPr>
        <p:spPr>
          <a:xfrm rot="0">
            <a:off x="7054987" y="807453"/>
            <a:ext cx="810952"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Home</a:t>
            </a:r>
          </a:p>
        </p:txBody>
      </p:sp>
      <p:sp>
        <p:nvSpPr>
          <p:cNvPr name="TextBox 11" id="11"/>
          <p:cNvSpPr txBox="true"/>
          <p:nvPr/>
        </p:nvSpPr>
        <p:spPr>
          <a:xfrm rot="0">
            <a:off x="8498359" y="807453"/>
            <a:ext cx="1051116"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About Us</a:t>
            </a:r>
          </a:p>
        </p:txBody>
      </p:sp>
      <p:sp>
        <p:nvSpPr>
          <p:cNvPr name="TextBox 12" id="12"/>
          <p:cNvSpPr txBox="true"/>
          <p:nvPr/>
        </p:nvSpPr>
        <p:spPr>
          <a:xfrm rot="0">
            <a:off x="10181897" y="807453"/>
            <a:ext cx="1051116"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Services</a:t>
            </a:r>
          </a:p>
        </p:txBody>
      </p:sp>
      <p:sp>
        <p:nvSpPr>
          <p:cNvPr name="TextBox 13" id="13"/>
          <p:cNvSpPr txBox="true"/>
          <p:nvPr/>
        </p:nvSpPr>
        <p:spPr>
          <a:xfrm rot="0">
            <a:off x="16034591" y="807453"/>
            <a:ext cx="970584" cy="177293"/>
          </a:xfrm>
          <a:prstGeom prst="rect">
            <a:avLst/>
          </a:prstGeom>
        </p:spPr>
        <p:txBody>
          <a:bodyPr anchor="t" rtlCol="false" tIns="0" lIns="0" bIns="0" rIns="0">
            <a:spAutoFit/>
          </a:bodyPr>
          <a:lstStyle/>
          <a:p>
            <a:pPr algn="ctr">
              <a:lnSpc>
                <a:spcPts val="1134"/>
              </a:lnSpc>
            </a:pPr>
            <a:r>
              <a:rPr lang="en-US" b="true" sz="1400" spc="-28">
                <a:solidFill>
                  <a:srgbClr val="000000"/>
                </a:solidFill>
                <a:latin typeface="Helvetica World Bold"/>
                <a:ea typeface="Helvetica World Bold"/>
                <a:cs typeface="Helvetica World Bold"/>
                <a:sym typeface="Helvetica World Bold"/>
              </a:rPr>
              <a:t>Contact</a:t>
            </a:r>
          </a:p>
        </p:txBody>
      </p:sp>
      <p:sp>
        <p:nvSpPr>
          <p:cNvPr name="TextBox 14" id="14"/>
          <p:cNvSpPr txBox="true"/>
          <p:nvPr/>
        </p:nvSpPr>
        <p:spPr>
          <a:xfrm rot="0">
            <a:off x="10411853" y="3016966"/>
            <a:ext cx="6847447" cy="412529"/>
          </a:xfrm>
          <a:prstGeom prst="rect">
            <a:avLst/>
          </a:prstGeom>
        </p:spPr>
        <p:txBody>
          <a:bodyPr anchor="t" rtlCol="false" tIns="0" lIns="0" bIns="0" rIns="0">
            <a:spAutoFit/>
          </a:bodyPr>
          <a:lstStyle/>
          <a:p>
            <a:pPr algn="ctr">
              <a:lnSpc>
                <a:spcPts val="2911"/>
              </a:lnSpc>
            </a:pPr>
            <a:r>
              <a:rPr lang="en-US" b="true" sz="2799" spc="-55">
                <a:solidFill>
                  <a:srgbClr val="000000"/>
                </a:solidFill>
                <a:latin typeface="Helvetica World Bold"/>
                <a:ea typeface="Helvetica World Bold"/>
                <a:cs typeface="Helvetica World Bold"/>
                <a:sym typeface="Helvetica World Bold"/>
              </a:rPr>
              <a:t>Advanced Python Concepts</a:t>
            </a:r>
          </a:p>
        </p:txBody>
      </p:sp>
      <p:sp>
        <p:nvSpPr>
          <p:cNvPr name="TextBox 15" id="15"/>
          <p:cNvSpPr txBox="true"/>
          <p:nvPr/>
        </p:nvSpPr>
        <p:spPr>
          <a:xfrm rot="0">
            <a:off x="11111279" y="4079558"/>
            <a:ext cx="5868766" cy="3192764"/>
          </a:xfrm>
          <a:prstGeom prst="rect">
            <a:avLst/>
          </a:prstGeom>
        </p:spPr>
        <p:txBody>
          <a:bodyPr anchor="t" rtlCol="false" tIns="0" lIns="0" bIns="0" rIns="0">
            <a:spAutoFit/>
          </a:bodyPr>
          <a:lstStyle/>
          <a:p>
            <a:pPr algn="l">
              <a:lnSpc>
                <a:spcPts val="3629"/>
              </a:lnSpc>
            </a:pPr>
            <a:r>
              <a:rPr lang="en-US" sz="2592" spc="-51">
                <a:solidFill>
                  <a:srgbClr val="F7F7F7"/>
                </a:solidFill>
                <a:latin typeface="Helvetica World"/>
                <a:ea typeface="Helvetica World"/>
                <a:cs typeface="Helvetica World"/>
                <a:sym typeface="Helvetica World"/>
              </a:rPr>
              <a:t>Advanced Python concepts help developers write efficient, reusable, and maintainable code. These concepts are useful when building large applications and working on complex programming tasks.</a:t>
            </a:r>
          </a:p>
          <a:p>
            <a:pPr algn="l">
              <a:lnSpc>
                <a:spcPts val="3629"/>
              </a:lnSpc>
            </a:pPr>
          </a:p>
        </p:txBody>
      </p:sp>
      <p:grpSp>
        <p:nvGrpSpPr>
          <p:cNvPr name="Group 16" id="16"/>
          <p:cNvGrpSpPr/>
          <p:nvPr/>
        </p:nvGrpSpPr>
        <p:grpSpPr>
          <a:xfrm rot="0">
            <a:off x="9144000" y="5699753"/>
            <a:ext cx="624254" cy="62425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100000"/>
                  </a:srgbClr>
                </a:gs>
                <a:gs pos="100000">
                  <a:srgbClr val="004AAD">
                    <a:alpha val="100000"/>
                  </a:srgbClr>
                </a:gs>
              </a:gsLst>
              <a:lin ang="0"/>
            </a:gradFill>
          </p:spPr>
        </p:sp>
        <p:sp>
          <p:nvSpPr>
            <p:cNvPr name="TextBox 18" id="18"/>
            <p:cNvSpPr txBox="true"/>
            <p:nvPr/>
          </p:nvSpPr>
          <p:spPr>
            <a:xfrm>
              <a:off x="76200" y="123825"/>
              <a:ext cx="660400" cy="612775"/>
            </a:xfrm>
            <a:prstGeom prst="rect">
              <a:avLst/>
            </a:prstGeom>
          </p:spPr>
          <p:txBody>
            <a:bodyPr anchor="ctr" rtlCol="false" tIns="50800" lIns="50800" bIns="50800" rIns="50800"/>
            <a:lstStyle/>
            <a:p>
              <a:pPr algn="ctr">
                <a:lnSpc>
                  <a:spcPts val="1134"/>
                </a:lnSpc>
              </a:pPr>
            </a:p>
          </p:txBody>
        </p:sp>
      </p:grpSp>
      <p:sp>
        <p:nvSpPr>
          <p:cNvPr name="Freeform 19" id="19"/>
          <p:cNvSpPr/>
          <p:nvPr/>
        </p:nvSpPr>
        <p:spPr>
          <a:xfrm flipH="true" flipV="false" rot="0">
            <a:off x="9374577" y="5842701"/>
            <a:ext cx="203860" cy="338357"/>
          </a:xfrm>
          <a:custGeom>
            <a:avLst/>
            <a:gdLst/>
            <a:ahLst/>
            <a:cxnLst/>
            <a:rect r="r" b="b" t="t" l="l"/>
            <a:pathLst>
              <a:path h="338357" w="203860">
                <a:moveTo>
                  <a:pt x="203859" y="0"/>
                </a:moveTo>
                <a:lnTo>
                  <a:pt x="0" y="0"/>
                </a:lnTo>
                <a:lnTo>
                  <a:pt x="0" y="338357"/>
                </a:lnTo>
                <a:lnTo>
                  <a:pt x="203859" y="338357"/>
                </a:lnTo>
                <a:lnTo>
                  <a:pt x="203859"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0" id="20"/>
          <p:cNvGrpSpPr/>
          <p:nvPr/>
        </p:nvGrpSpPr>
        <p:grpSpPr>
          <a:xfrm rot="0">
            <a:off x="1028700" y="2871608"/>
            <a:ext cx="3520029" cy="2934293"/>
            <a:chOff x="0" y="0"/>
            <a:chExt cx="1707956" cy="1423750"/>
          </a:xfrm>
        </p:grpSpPr>
        <p:sp>
          <p:nvSpPr>
            <p:cNvPr name="Freeform 21" id="21"/>
            <p:cNvSpPr/>
            <p:nvPr/>
          </p:nvSpPr>
          <p:spPr>
            <a:xfrm flipH="false" flipV="false" rot="0">
              <a:off x="0" y="0"/>
              <a:ext cx="1707956" cy="1423750"/>
            </a:xfrm>
            <a:custGeom>
              <a:avLst/>
              <a:gdLst/>
              <a:ahLst/>
              <a:cxnLst/>
              <a:rect r="r" b="b" t="t" l="l"/>
              <a:pathLst>
                <a:path h="1423750" w="1707956">
                  <a:moveTo>
                    <a:pt x="109970" y="0"/>
                  </a:moveTo>
                  <a:lnTo>
                    <a:pt x="1597986" y="0"/>
                  </a:lnTo>
                  <a:cubicBezTo>
                    <a:pt x="1658721" y="0"/>
                    <a:pt x="1707956" y="49235"/>
                    <a:pt x="1707956" y="109970"/>
                  </a:cubicBezTo>
                  <a:lnTo>
                    <a:pt x="1707956" y="1313781"/>
                  </a:lnTo>
                  <a:cubicBezTo>
                    <a:pt x="1707956" y="1342947"/>
                    <a:pt x="1696370" y="1370918"/>
                    <a:pt x="1675746" y="1391541"/>
                  </a:cubicBezTo>
                  <a:cubicBezTo>
                    <a:pt x="1655123" y="1412164"/>
                    <a:pt x="1627152" y="1423750"/>
                    <a:pt x="1597986" y="1423750"/>
                  </a:cubicBezTo>
                  <a:lnTo>
                    <a:pt x="109970" y="1423750"/>
                  </a:lnTo>
                  <a:cubicBezTo>
                    <a:pt x="80804" y="1423750"/>
                    <a:pt x="52833" y="1412164"/>
                    <a:pt x="32209" y="1391541"/>
                  </a:cubicBezTo>
                  <a:cubicBezTo>
                    <a:pt x="11586" y="1370918"/>
                    <a:pt x="0" y="1342947"/>
                    <a:pt x="0" y="1313781"/>
                  </a:cubicBezTo>
                  <a:lnTo>
                    <a:pt x="0" y="109970"/>
                  </a:lnTo>
                  <a:cubicBezTo>
                    <a:pt x="0" y="80804"/>
                    <a:pt x="11586" y="52833"/>
                    <a:pt x="32209" y="32209"/>
                  </a:cubicBezTo>
                  <a:cubicBezTo>
                    <a:pt x="52833" y="11586"/>
                    <a:pt x="80804" y="0"/>
                    <a:pt x="109970" y="0"/>
                  </a:cubicBezTo>
                  <a:close/>
                </a:path>
              </a:pathLst>
            </a:custGeom>
            <a:solidFill>
              <a:srgbClr val="000000">
                <a:alpha val="49804"/>
              </a:srgbClr>
            </a:solidFill>
          </p:spPr>
        </p:sp>
        <p:sp>
          <p:nvSpPr>
            <p:cNvPr name="TextBox 22" id="22"/>
            <p:cNvSpPr txBox="true"/>
            <p:nvPr/>
          </p:nvSpPr>
          <p:spPr>
            <a:xfrm>
              <a:off x="0" y="47625"/>
              <a:ext cx="1707956" cy="1376125"/>
            </a:xfrm>
            <a:prstGeom prst="rect">
              <a:avLst/>
            </a:prstGeom>
          </p:spPr>
          <p:txBody>
            <a:bodyPr anchor="ctr" rtlCol="false" tIns="50800" lIns="50800" bIns="50800" rIns="50800"/>
            <a:lstStyle/>
            <a:p>
              <a:pPr algn="ctr">
                <a:lnSpc>
                  <a:spcPts val="1134"/>
                </a:lnSpc>
              </a:pPr>
            </a:p>
          </p:txBody>
        </p:sp>
      </p:grpSp>
      <p:grpSp>
        <p:nvGrpSpPr>
          <p:cNvPr name="Group 23" id="23"/>
          <p:cNvGrpSpPr/>
          <p:nvPr/>
        </p:nvGrpSpPr>
        <p:grpSpPr>
          <a:xfrm rot="0">
            <a:off x="1028700" y="2871608"/>
            <a:ext cx="3520029" cy="2934293"/>
            <a:chOff x="0" y="0"/>
            <a:chExt cx="1707956" cy="1423750"/>
          </a:xfrm>
        </p:grpSpPr>
        <p:sp>
          <p:nvSpPr>
            <p:cNvPr name="Freeform 24" id="24"/>
            <p:cNvSpPr/>
            <p:nvPr/>
          </p:nvSpPr>
          <p:spPr>
            <a:xfrm flipH="false" flipV="false" rot="0">
              <a:off x="0" y="0"/>
              <a:ext cx="1707956" cy="1423750"/>
            </a:xfrm>
            <a:custGeom>
              <a:avLst/>
              <a:gdLst/>
              <a:ahLst/>
              <a:cxnLst/>
              <a:rect r="r" b="b" t="t" l="l"/>
              <a:pathLst>
                <a:path h="1423750" w="1707956">
                  <a:moveTo>
                    <a:pt x="109970" y="0"/>
                  </a:moveTo>
                  <a:lnTo>
                    <a:pt x="1597986" y="0"/>
                  </a:lnTo>
                  <a:cubicBezTo>
                    <a:pt x="1658721" y="0"/>
                    <a:pt x="1707956" y="49235"/>
                    <a:pt x="1707956" y="109970"/>
                  </a:cubicBezTo>
                  <a:lnTo>
                    <a:pt x="1707956" y="1313781"/>
                  </a:lnTo>
                  <a:cubicBezTo>
                    <a:pt x="1707956" y="1342947"/>
                    <a:pt x="1696370" y="1370918"/>
                    <a:pt x="1675746" y="1391541"/>
                  </a:cubicBezTo>
                  <a:cubicBezTo>
                    <a:pt x="1655123" y="1412164"/>
                    <a:pt x="1627152" y="1423750"/>
                    <a:pt x="1597986" y="1423750"/>
                  </a:cubicBezTo>
                  <a:lnTo>
                    <a:pt x="109970" y="1423750"/>
                  </a:lnTo>
                  <a:cubicBezTo>
                    <a:pt x="80804" y="1423750"/>
                    <a:pt x="52833" y="1412164"/>
                    <a:pt x="32209" y="1391541"/>
                  </a:cubicBezTo>
                  <a:cubicBezTo>
                    <a:pt x="11586" y="1370918"/>
                    <a:pt x="0" y="1342947"/>
                    <a:pt x="0" y="1313781"/>
                  </a:cubicBezTo>
                  <a:lnTo>
                    <a:pt x="0" y="109970"/>
                  </a:lnTo>
                  <a:cubicBezTo>
                    <a:pt x="0" y="80804"/>
                    <a:pt x="11586" y="52833"/>
                    <a:pt x="32209" y="32209"/>
                  </a:cubicBezTo>
                  <a:cubicBezTo>
                    <a:pt x="52833" y="11586"/>
                    <a:pt x="80804" y="0"/>
                    <a:pt x="109970" y="0"/>
                  </a:cubicBezTo>
                  <a:close/>
                </a:path>
              </a:pathLst>
            </a:custGeom>
            <a:ln w="19050" cap="rnd">
              <a:gradFill>
                <a:gsLst>
                  <a:gs pos="0">
                    <a:srgbClr val="5DE0E6">
                      <a:alpha val="100000"/>
                    </a:srgbClr>
                  </a:gs>
                  <a:gs pos="100000">
                    <a:srgbClr val="004AAD">
                      <a:alpha val="100000"/>
                    </a:srgbClr>
                  </a:gs>
                </a:gsLst>
                <a:lin ang="0"/>
              </a:gradFill>
              <a:prstDash val="solid"/>
              <a:round/>
            </a:ln>
          </p:spPr>
        </p:sp>
        <p:sp>
          <p:nvSpPr>
            <p:cNvPr name="TextBox 25" id="25"/>
            <p:cNvSpPr txBox="true"/>
            <p:nvPr/>
          </p:nvSpPr>
          <p:spPr>
            <a:xfrm>
              <a:off x="0" y="47625"/>
              <a:ext cx="1707956" cy="1376125"/>
            </a:xfrm>
            <a:prstGeom prst="rect">
              <a:avLst/>
            </a:prstGeom>
          </p:spPr>
          <p:txBody>
            <a:bodyPr anchor="ctr" rtlCol="false" tIns="50800" lIns="50800" bIns="50800" rIns="50800"/>
            <a:lstStyle/>
            <a:p>
              <a:pPr algn="ctr">
                <a:lnSpc>
                  <a:spcPts val="1134"/>
                </a:lnSpc>
              </a:pPr>
            </a:p>
          </p:txBody>
        </p:sp>
      </p:grpSp>
      <p:sp>
        <p:nvSpPr>
          <p:cNvPr name="TextBox 26" id="26"/>
          <p:cNvSpPr txBox="true"/>
          <p:nvPr/>
        </p:nvSpPr>
        <p:spPr>
          <a:xfrm rot="0">
            <a:off x="1028700" y="3391539"/>
            <a:ext cx="3510328" cy="1880800"/>
          </a:xfrm>
          <a:prstGeom prst="rect">
            <a:avLst/>
          </a:prstGeom>
        </p:spPr>
        <p:txBody>
          <a:bodyPr anchor="t" rtlCol="false" tIns="0" lIns="0" bIns="0" rIns="0">
            <a:spAutoFit/>
          </a:bodyPr>
          <a:lstStyle/>
          <a:p>
            <a:pPr algn="ctr">
              <a:lnSpc>
                <a:spcPts val="2697"/>
              </a:lnSpc>
            </a:pPr>
            <a:r>
              <a:rPr lang="en-US" b="true" sz="2593" spc="-51" u="sng">
                <a:solidFill>
                  <a:srgbClr val="52CFE0"/>
                </a:solidFill>
                <a:latin typeface="Helvetica World Bold"/>
                <a:ea typeface="Helvetica World Bold"/>
                <a:cs typeface="Helvetica World Bold"/>
                <a:sym typeface="Helvetica World Bold"/>
              </a:rPr>
              <a:t>DECORATORS</a:t>
            </a:r>
            <a:r>
              <a:rPr lang="en-US" b="true" sz="2593" spc="-51">
                <a:solidFill>
                  <a:srgbClr val="52CFE0"/>
                </a:solidFill>
                <a:latin typeface="Helvetica World Bold"/>
                <a:ea typeface="Helvetica World Bold"/>
                <a:cs typeface="Helvetica World Bold"/>
                <a:sym typeface="Helvetica World Bold"/>
              </a:rPr>
              <a:t> </a:t>
            </a:r>
          </a:p>
          <a:p>
            <a:pPr algn="ctr">
              <a:lnSpc>
                <a:spcPts val="2281"/>
              </a:lnSpc>
            </a:pPr>
            <a:r>
              <a:rPr lang="en-US" b="true" sz="2193" spc="-43">
                <a:solidFill>
                  <a:srgbClr val="52CFE0"/>
                </a:solidFill>
                <a:latin typeface="Helvetica World Bold"/>
                <a:ea typeface="Helvetica World Bold"/>
                <a:cs typeface="Helvetica World Bold"/>
                <a:sym typeface="Helvetica World Bold"/>
              </a:rPr>
              <a:t>Modify or extend the behavior of functions without changing their original code.</a:t>
            </a:r>
          </a:p>
          <a:p>
            <a:pPr algn="ctr">
              <a:lnSpc>
                <a:spcPts val="1969"/>
              </a:lnSpc>
            </a:pPr>
          </a:p>
        </p:txBody>
      </p:sp>
      <p:grpSp>
        <p:nvGrpSpPr>
          <p:cNvPr name="Group 27" id="27"/>
          <p:cNvGrpSpPr/>
          <p:nvPr/>
        </p:nvGrpSpPr>
        <p:grpSpPr>
          <a:xfrm rot="0">
            <a:off x="5113991" y="2871608"/>
            <a:ext cx="3520029" cy="2934293"/>
            <a:chOff x="0" y="0"/>
            <a:chExt cx="1707956" cy="1423750"/>
          </a:xfrm>
        </p:grpSpPr>
        <p:sp>
          <p:nvSpPr>
            <p:cNvPr name="Freeform 28" id="28"/>
            <p:cNvSpPr/>
            <p:nvPr/>
          </p:nvSpPr>
          <p:spPr>
            <a:xfrm flipH="false" flipV="false" rot="0">
              <a:off x="0" y="0"/>
              <a:ext cx="1707956" cy="1423750"/>
            </a:xfrm>
            <a:custGeom>
              <a:avLst/>
              <a:gdLst/>
              <a:ahLst/>
              <a:cxnLst/>
              <a:rect r="r" b="b" t="t" l="l"/>
              <a:pathLst>
                <a:path h="1423750" w="1707956">
                  <a:moveTo>
                    <a:pt x="109970" y="0"/>
                  </a:moveTo>
                  <a:lnTo>
                    <a:pt x="1597986" y="0"/>
                  </a:lnTo>
                  <a:cubicBezTo>
                    <a:pt x="1658721" y="0"/>
                    <a:pt x="1707956" y="49235"/>
                    <a:pt x="1707956" y="109970"/>
                  </a:cubicBezTo>
                  <a:lnTo>
                    <a:pt x="1707956" y="1313781"/>
                  </a:lnTo>
                  <a:cubicBezTo>
                    <a:pt x="1707956" y="1342947"/>
                    <a:pt x="1696370" y="1370918"/>
                    <a:pt x="1675746" y="1391541"/>
                  </a:cubicBezTo>
                  <a:cubicBezTo>
                    <a:pt x="1655123" y="1412164"/>
                    <a:pt x="1627152" y="1423750"/>
                    <a:pt x="1597986" y="1423750"/>
                  </a:cubicBezTo>
                  <a:lnTo>
                    <a:pt x="109970" y="1423750"/>
                  </a:lnTo>
                  <a:cubicBezTo>
                    <a:pt x="80804" y="1423750"/>
                    <a:pt x="52833" y="1412164"/>
                    <a:pt x="32209" y="1391541"/>
                  </a:cubicBezTo>
                  <a:cubicBezTo>
                    <a:pt x="11586" y="1370918"/>
                    <a:pt x="0" y="1342947"/>
                    <a:pt x="0" y="1313781"/>
                  </a:cubicBezTo>
                  <a:lnTo>
                    <a:pt x="0" y="109970"/>
                  </a:lnTo>
                  <a:cubicBezTo>
                    <a:pt x="0" y="80804"/>
                    <a:pt x="11586" y="52833"/>
                    <a:pt x="32209" y="32209"/>
                  </a:cubicBezTo>
                  <a:cubicBezTo>
                    <a:pt x="52833" y="11586"/>
                    <a:pt x="80804" y="0"/>
                    <a:pt x="109970" y="0"/>
                  </a:cubicBezTo>
                  <a:close/>
                </a:path>
              </a:pathLst>
            </a:custGeom>
            <a:solidFill>
              <a:srgbClr val="000000">
                <a:alpha val="49804"/>
              </a:srgbClr>
            </a:solidFill>
          </p:spPr>
        </p:sp>
        <p:sp>
          <p:nvSpPr>
            <p:cNvPr name="TextBox 29" id="29"/>
            <p:cNvSpPr txBox="true"/>
            <p:nvPr/>
          </p:nvSpPr>
          <p:spPr>
            <a:xfrm>
              <a:off x="0" y="47625"/>
              <a:ext cx="1707956" cy="1376125"/>
            </a:xfrm>
            <a:prstGeom prst="rect">
              <a:avLst/>
            </a:prstGeom>
          </p:spPr>
          <p:txBody>
            <a:bodyPr anchor="ctr" rtlCol="false" tIns="50800" lIns="50800" bIns="50800" rIns="50800"/>
            <a:lstStyle/>
            <a:p>
              <a:pPr algn="ctr">
                <a:lnSpc>
                  <a:spcPts val="1134"/>
                </a:lnSpc>
              </a:pPr>
            </a:p>
          </p:txBody>
        </p:sp>
      </p:grpSp>
      <p:grpSp>
        <p:nvGrpSpPr>
          <p:cNvPr name="Group 30" id="30"/>
          <p:cNvGrpSpPr/>
          <p:nvPr/>
        </p:nvGrpSpPr>
        <p:grpSpPr>
          <a:xfrm rot="0">
            <a:off x="5113991" y="2871608"/>
            <a:ext cx="3520029" cy="2934293"/>
            <a:chOff x="0" y="0"/>
            <a:chExt cx="1707956" cy="1423750"/>
          </a:xfrm>
        </p:grpSpPr>
        <p:sp>
          <p:nvSpPr>
            <p:cNvPr name="Freeform 31" id="31"/>
            <p:cNvSpPr/>
            <p:nvPr/>
          </p:nvSpPr>
          <p:spPr>
            <a:xfrm flipH="false" flipV="false" rot="0">
              <a:off x="0" y="0"/>
              <a:ext cx="1707956" cy="1423750"/>
            </a:xfrm>
            <a:custGeom>
              <a:avLst/>
              <a:gdLst/>
              <a:ahLst/>
              <a:cxnLst/>
              <a:rect r="r" b="b" t="t" l="l"/>
              <a:pathLst>
                <a:path h="1423750" w="1707956">
                  <a:moveTo>
                    <a:pt x="109970" y="0"/>
                  </a:moveTo>
                  <a:lnTo>
                    <a:pt x="1597986" y="0"/>
                  </a:lnTo>
                  <a:cubicBezTo>
                    <a:pt x="1658721" y="0"/>
                    <a:pt x="1707956" y="49235"/>
                    <a:pt x="1707956" y="109970"/>
                  </a:cubicBezTo>
                  <a:lnTo>
                    <a:pt x="1707956" y="1313781"/>
                  </a:lnTo>
                  <a:cubicBezTo>
                    <a:pt x="1707956" y="1342947"/>
                    <a:pt x="1696370" y="1370918"/>
                    <a:pt x="1675746" y="1391541"/>
                  </a:cubicBezTo>
                  <a:cubicBezTo>
                    <a:pt x="1655123" y="1412164"/>
                    <a:pt x="1627152" y="1423750"/>
                    <a:pt x="1597986" y="1423750"/>
                  </a:cubicBezTo>
                  <a:lnTo>
                    <a:pt x="109970" y="1423750"/>
                  </a:lnTo>
                  <a:cubicBezTo>
                    <a:pt x="80804" y="1423750"/>
                    <a:pt x="52833" y="1412164"/>
                    <a:pt x="32209" y="1391541"/>
                  </a:cubicBezTo>
                  <a:cubicBezTo>
                    <a:pt x="11586" y="1370918"/>
                    <a:pt x="0" y="1342947"/>
                    <a:pt x="0" y="1313781"/>
                  </a:cubicBezTo>
                  <a:lnTo>
                    <a:pt x="0" y="109970"/>
                  </a:lnTo>
                  <a:cubicBezTo>
                    <a:pt x="0" y="80804"/>
                    <a:pt x="11586" y="52833"/>
                    <a:pt x="32209" y="32209"/>
                  </a:cubicBezTo>
                  <a:cubicBezTo>
                    <a:pt x="52833" y="11586"/>
                    <a:pt x="80804" y="0"/>
                    <a:pt x="109970" y="0"/>
                  </a:cubicBezTo>
                  <a:close/>
                </a:path>
              </a:pathLst>
            </a:custGeom>
            <a:ln w="19050" cap="rnd">
              <a:gradFill>
                <a:gsLst>
                  <a:gs pos="0">
                    <a:srgbClr val="5DE0E6">
                      <a:alpha val="100000"/>
                    </a:srgbClr>
                  </a:gs>
                  <a:gs pos="100000">
                    <a:srgbClr val="004AAD">
                      <a:alpha val="100000"/>
                    </a:srgbClr>
                  </a:gs>
                </a:gsLst>
                <a:lin ang="0"/>
              </a:gradFill>
              <a:prstDash val="solid"/>
              <a:round/>
            </a:ln>
          </p:spPr>
        </p:sp>
        <p:sp>
          <p:nvSpPr>
            <p:cNvPr name="TextBox 32" id="32"/>
            <p:cNvSpPr txBox="true"/>
            <p:nvPr/>
          </p:nvSpPr>
          <p:spPr>
            <a:xfrm>
              <a:off x="0" y="47625"/>
              <a:ext cx="1707956" cy="1376125"/>
            </a:xfrm>
            <a:prstGeom prst="rect">
              <a:avLst/>
            </a:prstGeom>
          </p:spPr>
          <p:txBody>
            <a:bodyPr anchor="ctr" rtlCol="false" tIns="50800" lIns="50800" bIns="50800" rIns="50800"/>
            <a:lstStyle/>
            <a:p>
              <a:pPr algn="ctr">
                <a:lnSpc>
                  <a:spcPts val="1134"/>
                </a:lnSpc>
              </a:pPr>
            </a:p>
          </p:txBody>
        </p:sp>
      </p:grpSp>
      <p:sp>
        <p:nvSpPr>
          <p:cNvPr name="TextBox 33" id="33"/>
          <p:cNvSpPr txBox="true"/>
          <p:nvPr/>
        </p:nvSpPr>
        <p:spPr>
          <a:xfrm rot="0">
            <a:off x="5208376" y="3326006"/>
            <a:ext cx="3289983" cy="2073123"/>
          </a:xfrm>
          <a:prstGeom prst="rect">
            <a:avLst/>
          </a:prstGeom>
        </p:spPr>
        <p:txBody>
          <a:bodyPr anchor="t" rtlCol="false" tIns="0" lIns="0" bIns="0" rIns="0">
            <a:spAutoFit/>
          </a:bodyPr>
          <a:lstStyle/>
          <a:p>
            <a:pPr algn="ctr">
              <a:lnSpc>
                <a:spcPts val="3369"/>
              </a:lnSpc>
            </a:pPr>
            <a:r>
              <a:rPr lang="en-US" b="true" sz="3239" spc="-64" u="sng">
                <a:solidFill>
                  <a:srgbClr val="52CFE0"/>
                </a:solidFill>
                <a:latin typeface="Helvetica World Bold"/>
                <a:ea typeface="Helvetica World Bold"/>
                <a:cs typeface="Helvetica World Bold"/>
                <a:sym typeface="Helvetica World Bold"/>
              </a:rPr>
              <a:t>Generators</a:t>
            </a:r>
          </a:p>
          <a:p>
            <a:pPr algn="ctr">
              <a:lnSpc>
                <a:spcPts val="2329"/>
              </a:lnSpc>
            </a:pPr>
            <a:r>
              <a:rPr lang="en-US" b="true" sz="2239" spc="-44">
                <a:solidFill>
                  <a:srgbClr val="52CFE0"/>
                </a:solidFill>
                <a:latin typeface="Helvetica World Bold"/>
                <a:ea typeface="Helvetica World Bold"/>
                <a:cs typeface="Helvetica World Bold"/>
                <a:sym typeface="Helvetica World Bold"/>
              </a:rPr>
              <a:t>Produce values one at a time, helping process large amounts of data efficiently.</a:t>
            </a:r>
          </a:p>
          <a:p>
            <a:pPr algn="ctr">
              <a:lnSpc>
                <a:spcPts val="2329"/>
              </a:lnSpc>
            </a:pPr>
          </a:p>
        </p:txBody>
      </p:sp>
      <p:grpSp>
        <p:nvGrpSpPr>
          <p:cNvPr name="Group 34" id="34"/>
          <p:cNvGrpSpPr/>
          <p:nvPr/>
        </p:nvGrpSpPr>
        <p:grpSpPr>
          <a:xfrm rot="0">
            <a:off x="1028700" y="6324007"/>
            <a:ext cx="3520029" cy="2934293"/>
            <a:chOff x="0" y="0"/>
            <a:chExt cx="1707956" cy="1423750"/>
          </a:xfrm>
        </p:grpSpPr>
        <p:sp>
          <p:nvSpPr>
            <p:cNvPr name="Freeform 35" id="35"/>
            <p:cNvSpPr/>
            <p:nvPr/>
          </p:nvSpPr>
          <p:spPr>
            <a:xfrm flipH="false" flipV="false" rot="0">
              <a:off x="0" y="0"/>
              <a:ext cx="1707956" cy="1423750"/>
            </a:xfrm>
            <a:custGeom>
              <a:avLst/>
              <a:gdLst/>
              <a:ahLst/>
              <a:cxnLst/>
              <a:rect r="r" b="b" t="t" l="l"/>
              <a:pathLst>
                <a:path h="1423750" w="1707956">
                  <a:moveTo>
                    <a:pt x="109970" y="0"/>
                  </a:moveTo>
                  <a:lnTo>
                    <a:pt x="1597986" y="0"/>
                  </a:lnTo>
                  <a:cubicBezTo>
                    <a:pt x="1658721" y="0"/>
                    <a:pt x="1707956" y="49235"/>
                    <a:pt x="1707956" y="109970"/>
                  </a:cubicBezTo>
                  <a:lnTo>
                    <a:pt x="1707956" y="1313781"/>
                  </a:lnTo>
                  <a:cubicBezTo>
                    <a:pt x="1707956" y="1342947"/>
                    <a:pt x="1696370" y="1370918"/>
                    <a:pt x="1675746" y="1391541"/>
                  </a:cubicBezTo>
                  <a:cubicBezTo>
                    <a:pt x="1655123" y="1412164"/>
                    <a:pt x="1627152" y="1423750"/>
                    <a:pt x="1597986" y="1423750"/>
                  </a:cubicBezTo>
                  <a:lnTo>
                    <a:pt x="109970" y="1423750"/>
                  </a:lnTo>
                  <a:cubicBezTo>
                    <a:pt x="80804" y="1423750"/>
                    <a:pt x="52833" y="1412164"/>
                    <a:pt x="32209" y="1391541"/>
                  </a:cubicBezTo>
                  <a:cubicBezTo>
                    <a:pt x="11586" y="1370918"/>
                    <a:pt x="0" y="1342947"/>
                    <a:pt x="0" y="1313781"/>
                  </a:cubicBezTo>
                  <a:lnTo>
                    <a:pt x="0" y="109970"/>
                  </a:lnTo>
                  <a:cubicBezTo>
                    <a:pt x="0" y="80804"/>
                    <a:pt x="11586" y="52833"/>
                    <a:pt x="32209" y="32209"/>
                  </a:cubicBezTo>
                  <a:cubicBezTo>
                    <a:pt x="52833" y="11586"/>
                    <a:pt x="80804" y="0"/>
                    <a:pt x="109970" y="0"/>
                  </a:cubicBezTo>
                  <a:close/>
                </a:path>
              </a:pathLst>
            </a:custGeom>
            <a:solidFill>
              <a:srgbClr val="000000">
                <a:alpha val="49804"/>
              </a:srgbClr>
            </a:solidFill>
          </p:spPr>
        </p:sp>
        <p:sp>
          <p:nvSpPr>
            <p:cNvPr name="TextBox 36" id="36"/>
            <p:cNvSpPr txBox="true"/>
            <p:nvPr/>
          </p:nvSpPr>
          <p:spPr>
            <a:xfrm>
              <a:off x="0" y="47625"/>
              <a:ext cx="1707956" cy="1376125"/>
            </a:xfrm>
            <a:prstGeom prst="rect">
              <a:avLst/>
            </a:prstGeom>
          </p:spPr>
          <p:txBody>
            <a:bodyPr anchor="ctr" rtlCol="false" tIns="50800" lIns="50800" bIns="50800" rIns="50800"/>
            <a:lstStyle/>
            <a:p>
              <a:pPr algn="ctr">
                <a:lnSpc>
                  <a:spcPts val="1134"/>
                </a:lnSpc>
              </a:pPr>
            </a:p>
          </p:txBody>
        </p:sp>
      </p:grpSp>
      <p:grpSp>
        <p:nvGrpSpPr>
          <p:cNvPr name="Group 37" id="37"/>
          <p:cNvGrpSpPr/>
          <p:nvPr/>
        </p:nvGrpSpPr>
        <p:grpSpPr>
          <a:xfrm rot="0">
            <a:off x="1028700" y="6324007"/>
            <a:ext cx="3520029" cy="2934293"/>
            <a:chOff x="0" y="0"/>
            <a:chExt cx="1707956" cy="1423750"/>
          </a:xfrm>
        </p:grpSpPr>
        <p:sp>
          <p:nvSpPr>
            <p:cNvPr name="Freeform 38" id="38"/>
            <p:cNvSpPr/>
            <p:nvPr/>
          </p:nvSpPr>
          <p:spPr>
            <a:xfrm flipH="false" flipV="false" rot="0">
              <a:off x="0" y="0"/>
              <a:ext cx="1707956" cy="1423750"/>
            </a:xfrm>
            <a:custGeom>
              <a:avLst/>
              <a:gdLst/>
              <a:ahLst/>
              <a:cxnLst/>
              <a:rect r="r" b="b" t="t" l="l"/>
              <a:pathLst>
                <a:path h="1423750" w="1707956">
                  <a:moveTo>
                    <a:pt x="109970" y="0"/>
                  </a:moveTo>
                  <a:lnTo>
                    <a:pt x="1597986" y="0"/>
                  </a:lnTo>
                  <a:cubicBezTo>
                    <a:pt x="1658721" y="0"/>
                    <a:pt x="1707956" y="49235"/>
                    <a:pt x="1707956" y="109970"/>
                  </a:cubicBezTo>
                  <a:lnTo>
                    <a:pt x="1707956" y="1313781"/>
                  </a:lnTo>
                  <a:cubicBezTo>
                    <a:pt x="1707956" y="1342947"/>
                    <a:pt x="1696370" y="1370918"/>
                    <a:pt x="1675746" y="1391541"/>
                  </a:cubicBezTo>
                  <a:cubicBezTo>
                    <a:pt x="1655123" y="1412164"/>
                    <a:pt x="1627152" y="1423750"/>
                    <a:pt x="1597986" y="1423750"/>
                  </a:cubicBezTo>
                  <a:lnTo>
                    <a:pt x="109970" y="1423750"/>
                  </a:lnTo>
                  <a:cubicBezTo>
                    <a:pt x="80804" y="1423750"/>
                    <a:pt x="52833" y="1412164"/>
                    <a:pt x="32209" y="1391541"/>
                  </a:cubicBezTo>
                  <a:cubicBezTo>
                    <a:pt x="11586" y="1370918"/>
                    <a:pt x="0" y="1342947"/>
                    <a:pt x="0" y="1313781"/>
                  </a:cubicBezTo>
                  <a:lnTo>
                    <a:pt x="0" y="109970"/>
                  </a:lnTo>
                  <a:cubicBezTo>
                    <a:pt x="0" y="80804"/>
                    <a:pt x="11586" y="52833"/>
                    <a:pt x="32209" y="32209"/>
                  </a:cubicBezTo>
                  <a:cubicBezTo>
                    <a:pt x="52833" y="11586"/>
                    <a:pt x="80804" y="0"/>
                    <a:pt x="109970" y="0"/>
                  </a:cubicBezTo>
                  <a:close/>
                </a:path>
              </a:pathLst>
            </a:custGeom>
            <a:ln w="19050" cap="rnd">
              <a:gradFill>
                <a:gsLst>
                  <a:gs pos="0">
                    <a:srgbClr val="5DE0E6">
                      <a:alpha val="100000"/>
                    </a:srgbClr>
                  </a:gs>
                  <a:gs pos="100000">
                    <a:srgbClr val="004AAD">
                      <a:alpha val="100000"/>
                    </a:srgbClr>
                  </a:gs>
                </a:gsLst>
                <a:lin ang="0"/>
              </a:gradFill>
              <a:prstDash val="solid"/>
              <a:round/>
            </a:ln>
          </p:spPr>
        </p:sp>
        <p:sp>
          <p:nvSpPr>
            <p:cNvPr name="TextBox 39" id="39"/>
            <p:cNvSpPr txBox="true"/>
            <p:nvPr/>
          </p:nvSpPr>
          <p:spPr>
            <a:xfrm>
              <a:off x="0" y="47625"/>
              <a:ext cx="1707956" cy="1376125"/>
            </a:xfrm>
            <a:prstGeom prst="rect">
              <a:avLst/>
            </a:prstGeom>
          </p:spPr>
          <p:txBody>
            <a:bodyPr anchor="ctr" rtlCol="false" tIns="50800" lIns="50800" bIns="50800" rIns="50800"/>
            <a:lstStyle/>
            <a:p>
              <a:pPr algn="ctr">
                <a:lnSpc>
                  <a:spcPts val="1134"/>
                </a:lnSpc>
              </a:pPr>
            </a:p>
          </p:txBody>
        </p:sp>
      </p:grpSp>
      <p:sp>
        <p:nvSpPr>
          <p:cNvPr name="TextBox 40" id="40"/>
          <p:cNvSpPr txBox="true"/>
          <p:nvPr/>
        </p:nvSpPr>
        <p:spPr>
          <a:xfrm rot="0">
            <a:off x="1028700" y="6984830"/>
            <a:ext cx="3474853" cy="1851439"/>
          </a:xfrm>
          <a:prstGeom prst="rect">
            <a:avLst/>
          </a:prstGeom>
        </p:spPr>
        <p:txBody>
          <a:bodyPr anchor="t" rtlCol="false" tIns="0" lIns="0" bIns="0" rIns="0">
            <a:spAutoFit/>
          </a:bodyPr>
          <a:lstStyle/>
          <a:p>
            <a:pPr algn="ctr">
              <a:lnSpc>
                <a:spcPts val="2599"/>
              </a:lnSpc>
            </a:pPr>
            <a:r>
              <a:rPr lang="en-US" b="true" sz="2499" spc="-49" u="sng">
                <a:solidFill>
                  <a:srgbClr val="52CFE0"/>
                </a:solidFill>
                <a:latin typeface="Helvetica World Bold"/>
                <a:ea typeface="Helvetica World Bold"/>
                <a:cs typeface="Helvetica World Bold"/>
                <a:sym typeface="Helvetica World Bold"/>
              </a:rPr>
              <a:t>List Comprehensions</a:t>
            </a:r>
          </a:p>
          <a:p>
            <a:pPr algn="ctr">
              <a:lnSpc>
                <a:spcPts val="2599"/>
              </a:lnSpc>
            </a:pPr>
            <a:r>
              <a:rPr lang="en-US" b="true" sz="2499" spc="-49">
                <a:solidFill>
                  <a:srgbClr val="52CFE0"/>
                </a:solidFill>
                <a:latin typeface="Helvetica World Bold"/>
                <a:ea typeface="Helvetica World Bold"/>
                <a:cs typeface="Helvetica World Bold"/>
                <a:sym typeface="Helvetica World Bold"/>
              </a:rPr>
              <a:t>Create lists using concise and readable expressions.</a:t>
            </a:r>
          </a:p>
          <a:p>
            <a:pPr algn="ctr">
              <a:lnSpc>
                <a:spcPts val="3327"/>
              </a:lnSpc>
            </a:pPr>
          </a:p>
        </p:txBody>
      </p:sp>
      <p:grpSp>
        <p:nvGrpSpPr>
          <p:cNvPr name="Group 41" id="41"/>
          <p:cNvGrpSpPr/>
          <p:nvPr/>
        </p:nvGrpSpPr>
        <p:grpSpPr>
          <a:xfrm rot="0">
            <a:off x="5113991" y="6324007"/>
            <a:ext cx="3520029" cy="2934293"/>
            <a:chOff x="0" y="0"/>
            <a:chExt cx="1707956" cy="1423750"/>
          </a:xfrm>
        </p:grpSpPr>
        <p:sp>
          <p:nvSpPr>
            <p:cNvPr name="Freeform 42" id="42"/>
            <p:cNvSpPr/>
            <p:nvPr/>
          </p:nvSpPr>
          <p:spPr>
            <a:xfrm flipH="false" flipV="false" rot="0">
              <a:off x="0" y="0"/>
              <a:ext cx="1707956" cy="1423750"/>
            </a:xfrm>
            <a:custGeom>
              <a:avLst/>
              <a:gdLst/>
              <a:ahLst/>
              <a:cxnLst/>
              <a:rect r="r" b="b" t="t" l="l"/>
              <a:pathLst>
                <a:path h="1423750" w="1707956">
                  <a:moveTo>
                    <a:pt x="109970" y="0"/>
                  </a:moveTo>
                  <a:lnTo>
                    <a:pt x="1597986" y="0"/>
                  </a:lnTo>
                  <a:cubicBezTo>
                    <a:pt x="1658721" y="0"/>
                    <a:pt x="1707956" y="49235"/>
                    <a:pt x="1707956" y="109970"/>
                  </a:cubicBezTo>
                  <a:lnTo>
                    <a:pt x="1707956" y="1313781"/>
                  </a:lnTo>
                  <a:cubicBezTo>
                    <a:pt x="1707956" y="1342947"/>
                    <a:pt x="1696370" y="1370918"/>
                    <a:pt x="1675746" y="1391541"/>
                  </a:cubicBezTo>
                  <a:cubicBezTo>
                    <a:pt x="1655123" y="1412164"/>
                    <a:pt x="1627152" y="1423750"/>
                    <a:pt x="1597986" y="1423750"/>
                  </a:cubicBezTo>
                  <a:lnTo>
                    <a:pt x="109970" y="1423750"/>
                  </a:lnTo>
                  <a:cubicBezTo>
                    <a:pt x="80804" y="1423750"/>
                    <a:pt x="52833" y="1412164"/>
                    <a:pt x="32209" y="1391541"/>
                  </a:cubicBezTo>
                  <a:cubicBezTo>
                    <a:pt x="11586" y="1370918"/>
                    <a:pt x="0" y="1342947"/>
                    <a:pt x="0" y="1313781"/>
                  </a:cubicBezTo>
                  <a:lnTo>
                    <a:pt x="0" y="109970"/>
                  </a:lnTo>
                  <a:cubicBezTo>
                    <a:pt x="0" y="80804"/>
                    <a:pt x="11586" y="52833"/>
                    <a:pt x="32209" y="32209"/>
                  </a:cubicBezTo>
                  <a:cubicBezTo>
                    <a:pt x="52833" y="11586"/>
                    <a:pt x="80804" y="0"/>
                    <a:pt x="109970" y="0"/>
                  </a:cubicBezTo>
                  <a:close/>
                </a:path>
              </a:pathLst>
            </a:custGeom>
            <a:solidFill>
              <a:srgbClr val="000000">
                <a:alpha val="49804"/>
              </a:srgbClr>
            </a:solidFill>
          </p:spPr>
        </p:sp>
        <p:sp>
          <p:nvSpPr>
            <p:cNvPr name="TextBox 43" id="43"/>
            <p:cNvSpPr txBox="true"/>
            <p:nvPr/>
          </p:nvSpPr>
          <p:spPr>
            <a:xfrm>
              <a:off x="0" y="47625"/>
              <a:ext cx="1707956" cy="1376125"/>
            </a:xfrm>
            <a:prstGeom prst="rect">
              <a:avLst/>
            </a:prstGeom>
          </p:spPr>
          <p:txBody>
            <a:bodyPr anchor="ctr" rtlCol="false" tIns="50800" lIns="50800" bIns="50800" rIns="50800"/>
            <a:lstStyle/>
            <a:p>
              <a:pPr algn="ctr">
                <a:lnSpc>
                  <a:spcPts val="1134"/>
                </a:lnSpc>
              </a:pPr>
            </a:p>
          </p:txBody>
        </p:sp>
      </p:grpSp>
      <p:grpSp>
        <p:nvGrpSpPr>
          <p:cNvPr name="Group 44" id="44"/>
          <p:cNvGrpSpPr/>
          <p:nvPr/>
        </p:nvGrpSpPr>
        <p:grpSpPr>
          <a:xfrm rot="0">
            <a:off x="5113991" y="6324007"/>
            <a:ext cx="3520029" cy="2934293"/>
            <a:chOff x="0" y="0"/>
            <a:chExt cx="1707956" cy="1423750"/>
          </a:xfrm>
        </p:grpSpPr>
        <p:sp>
          <p:nvSpPr>
            <p:cNvPr name="Freeform 45" id="45"/>
            <p:cNvSpPr/>
            <p:nvPr/>
          </p:nvSpPr>
          <p:spPr>
            <a:xfrm flipH="false" flipV="false" rot="0">
              <a:off x="0" y="0"/>
              <a:ext cx="1707956" cy="1423750"/>
            </a:xfrm>
            <a:custGeom>
              <a:avLst/>
              <a:gdLst/>
              <a:ahLst/>
              <a:cxnLst/>
              <a:rect r="r" b="b" t="t" l="l"/>
              <a:pathLst>
                <a:path h="1423750" w="1707956">
                  <a:moveTo>
                    <a:pt x="109970" y="0"/>
                  </a:moveTo>
                  <a:lnTo>
                    <a:pt x="1597986" y="0"/>
                  </a:lnTo>
                  <a:cubicBezTo>
                    <a:pt x="1658721" y="0"/>
                    <a:pt x="1707956" y="49235"/>
                    <a:pt x="1707956" y="109970"/>
                  </a:cubicBezTo>
                  <a:lnTo>
                    <a:pt x="1707956" y="1313781"/>
                  </a:lnTo>
                  <a:cubicBezTo>
                    <a:pt x="1707956" y="1342947"/>
                    <a:pt x="1696370" y="1370918"/>
                    <a:pt x="1675746" y="1391541"/>
                  </a:cubicBezTo>
                  <a:cubicBezTo>
                    <a:pt x="1655123" y="1412164"/>
                    <a:pt x="1627152" y="1423750"/>
                    <a:pt x="1597986" y="1423750"/>
                  </a:cubicBezTo>
                  <a:lnTo>
                    <a:pt x="109970" y="1423750"/>
                  </a:lnTo>
                  <a:cubicBezTo>
                    <a:pt x="80804" y="1423750"/>
                    <a:pt x="52833" y="1412164"/>
                    <a:pt x="32209" y="1391541"/>
                  </a:cubicBezTo>
                  <a:cubicBezTo>
                    <a:pt x="11586" y="1370918"/>
                    <a:pt x="0" y="1342947"/>
                    <a:pt x="0" y="1313781"/>
                  </a:cubicBezTo>
                  <a:lnTo>
                    <a:pt x="0" y="109970"/>
                  </a:lnTo>
                  <a:cubicBezTo>
                    <a:pt x="0" y="80804"/>
                    <a:pt x="11586" y="52833"/>
                    <a:pt x="32209" y="32209"/>
                  </a:cubicBezTo>
                  <a:cubicBezTo>
                    <a:pt x="52833" y="11586"/>
                    <a:pt x="80804" y="0"/>
                    <a:pt x="109970" y="0"/>
                  </a:cubicBezTo>
                  <a:close/>
                </a:path>
              </a:pathLst>
            </a:custGeom>
            <a:ln w="19050" cap="rnd">
              <a:gradFill>
                <a:gsLst>
                  <a:gs pos="0">
                    <a:srgbClr val="5DE0E6">
                      <a:alpha val="100000"/>
                    </a:srgbClr>
                  </a:gs>
                  <a:gs pos="100000">
                    <a:srgbClr val="004AAD">
                      <a:alpha val="100000"/>
                    </a:srgbClr>
                  </a:gs>
                </a:gsLst>
                <a:lin ang="0"/>
              </a:gradFill>
              <a:prstDash val="solid"/>
              <a:round/>
            </a:ln>
          </p:spPr>
        </p:sp>
        <p:sp>
          <p:nvSpPr>
            <p:cNvPr name="TextBox 46" id="46"/>
            <p:cNvSpPr txBox="true"/>
            <p:nvPr/>
          </p:nvSpPr>
          <p:spPr>
            <a:xfrm>
              <a:off x="0" y="47625"/>
              <a:ext cx="1707956" cy="1376125"/>
            </a:xfrm>
            <a:prstGeom prst="rect">
              <a:avLst/>
            </a:prstGeom>
          </p:spPr>
          <p:txBody>
            <a:bodyPr anchor="ctr" rtlCol="false" tIns="50800" lIns="50800" bIns="50800" rIns="50800"/>
            <a:lstStyle/>
            <a:p>
              <a:pPr algn="ctr">
                <a:lnSpc>
                  <a:spcPts val="1134"/>
                </a:lnSpc>
              </a:pPr>
            </a:p>
          </p:txBody>
        </p:sp>
      </p:grpSp>
      <p:sp>
        <p:nvSpPr>
          <p:cNvPr name="TextBox 47" id="47"/>
          <p:cNvSpPr txBox="true"/>
          <p:nvPr/>
        </p:nvSpPr>
        <p:spPr>
          <a:xfrm rot="0">
            <a:off x="5208376" y="6975305"/>
            <a:ext cx="3425643" cy="1668138"/>
          </a:xfrm>
          <a:prstGeom prst="rect">
            <a:avLst/>
          </a:prstGeom>
        </p:spPr>
        <p:txBody>
          <a:bodyPr anchor="t" rtlCol="false" tIns="0" lIns="0" bIns="0" rIns="0">
            <a:spAutoFit/>
          </a:bodyPr>
          <a:lstStyle/>
          <a:p>
            <a:pPr algn="ctr">
              <a:lnSpc>
                <a:spcPts val="2547"/>
              </a:lnSpc>
            </a:pPr>
            <a:r>
              <a:rPr lang="en-US" b="true" sz="2449" spc="-48" u="sng">
                <a:solidFill>
                  <a:srgbClr val="52CFE0"/>
                </a:solidFill>
                <a:latin typeface="Helvetica World Bold"/>
                <a:ea typeface="Helvetica World Bold"/>
                <a:cs typeface="Helvetica World Bold"/>
                <a:sym typeface="Helvetica World Bold"/>
              </a:rPr>
              <a:t>Modules and Packages</a:t>
            </a:r>
          </a:p>
          <a:p>
            <a:pPr algn="ctr">
              <a:lnSpc>
                <a:spcPts val="2547"/>
              </a:lnSpc>
            </a:pPr>
            <a:r>
              <a:rPr lang="en-US" b="true" sz="2449" spc="-48">
                <a:solidFill>
                  <a:srgbClr val="52CFE0"/>
                </a:solidFill>
                <a:latin typeface="Helvetica World Bold"/>
                <a:ea typeface="Helvetica World Bold"/>
                <a:cs typeface="Helvetica World Bold"/>
                <a:sym typeface="Helvetica World Bold"/>
              </a:rPr>
              <a:t>Organize code into separate files and reusable components.</a:t>
            </a:r>
          </a:p>
          <a:p>
            <a:pPr algn="ctr">
              <a:lnSpc>
                <a:spcPts val="2547"/>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15780466" y="639280"/>
            <a:ext cx="1478834" cy="453314"/>
            <a:chOff x="0" y="0"/>
            <a:chExt cx="389487" cy="119391"/>
          </a:xfrm>
        </p:grpSpPr>
        <p:sp>
          <p:nvSpPr>
            <p:cNvPr name="Freeform 4" id="4"/>
            <p:cNvSpPr/>
            <p:nvPr/>
          </p:nvSpPr>
          <p:spPr>
            <a:xfrm flipH="false" flipV="false" rot="0">
              <a:off x="0" y="0"/>
              <a:ext cx="389487" cy="119391"/>
            </a:xfrm>
            <a:custGeom>
              <a:avLst/>
              <a:gdLst/>
              <a:ahLst/>
              <a:cxnLst/>
              <a:rect r="r" b="b" t="t" l="l"/>
              <a:pathLst>
                <a:path h="119391" w="389487">
                  <a:moveTo>
                    <a:pt x="52352" y="0"/>
                  </a:moveTo>
                  <a:lnTo>
                    <a:pt x="337136" y="0"/>
                  </a:lnTo>
                  <a:cubicBezTo>
                    <a:pt x="366049" y="0"/>
                    <a:pt x="389487" y="23439"/>
                    <a:pt x="389487" y="52352"/>
                  </a:cubicBezTo>
                  <a:lnTo>
                    <a:pt x="389487" y="67040"/>
                  </a:lnTo>
                  <a:cubicBezTo>
                    <a:pt x="389487" y="80924"/>
                    <a:pt x="383972" y="94240"/>
                    <a:pt x="374154" y="104058"/>
                  </a:cubicBezTo>
                  <a:cubicBezTo>
                    <a:pt x="364336" y="113876"/>
                    <a:pt x="351020" y="119391"/>
                    <a:pt x="337136" y="119391"/>
                  </a:cubicBezTo>
                  <a:lnTo>
                    <a:pt x="52352" y="119391"/>
                  </a:lnTo>
                  <a:cubicBezTo>
                    <a:pt x="23439" y="119391"/>
                    <a:pt x="0" y="95953"/>
                    <a:pt x="0" y="67040"/>
                  </a:cubicBezTo>
                  <a:lnTo>
                    <a:pt x="0" y="52352"/>
                  </a:lnTo>
                  <a:cubicBezTo>
                    <a:pt x="0" y="23439"/>
                    <a:pt x="23439" y="0"/>
                    <a:pt x="52352" y="0"/>
                  </a:cubicBezTo>
                  <a:close/>
                </a:path>
              </a:pathLst>
            </a:custGeom>
            <a:gradFill rotWithShape="true">
              <a:gsLst>
                <a:gs pos="0">
                  <a:srgbClr val="5DE0E6">
                    <a:alpha val="100000"/>
                  </a:srgbClr>
                </a:gs>
                <a:gs pos="100000">
                  <a:srgbClr val="004AAD">
                    <a:alpha val="100000"/>
                  </a:srgbClr>
                </a:gs>
              </a:gsLst>
              <a:lin ang="0"/>
            </a:gradFill>
            <a:ln cap="sq">
              <a:noFill/>
              <a:prstDash val="solid"/>
              <a:miter/>
            </a:ln>
          </p:spPr>
        </p:sp>
        <p:sp>
          <p:nvSpPr>
            <p:cNvPr name="TextBox 5" id="5"/>
            <p:cNvSpPr txBox="true"/>
            <p:nvPr/>
          </p:nvSpPr>
          <p:spPr>
            <a:xfrm>
              <a:off x="0" y="28575"/>
              <a:ext cx="389487" cy="90816"/>
            </a:xfrm>
            <a:prstGeom prst="rect">
              <a:avLst/>
            </a:prstGeom>
          </p:spPr>
          <p:txBody>
            <a:bodyPr anchor="ctr" rtlCol="false" tIns="50800" lIns="50800" bIns="50800" rIns="50800"/>
            <a:lstStyle/>
            <a:p>
              <a:pPr algn="ctr">
                <a:lnSpc>
                  <a:spcPts val="1134"/>
                </a:lnSpc>
              </a:pPr>
            </a:p>
          </p:txBody>
        </p:sp>
      </p:grpSp>
      <p:grpSp>
        <p:nvGrpSpPr>
          <p:cNvPr name="Group 6" id="6"/>
          <p:cNvGrpSpPr/>
          <p:nvPr/>
        </p:nvGrpSpPr>
        <p:grpSpPr>
          <a:xfrm rot="0">
            <a:off x="10018175" y="2296182"/>
            <a:ext cx="6748096" cy="684161"/>
            <a:chOff x="0" y="0"/>
            <a:chExt cx="1777276" cy="180191"/>
          </a:xfrm>
        </p:grpSpPr>
        <p:sp>
          <p:nvSpPr>
            <p:cNvPr name="Freeform 7" id="7"/>
            <p:cNvSpPr/>
            <p:nvPr/>
          </p:nvSpPr>
          <p:spPr>
            <a:xfrm flipH="false" flipV="false" rot="0">
              <a:off x="0" y="0"/>
              <a:ext cx="1777276" cy="180191"/>
            </a:xfrm>
            <a:custGeom>
              <a:avLst/>
              <a:gdLst/>
              <a:ahLst/>
              <a:cxnLst/>
              <a:rect r="r" b="b" t="t" l="l"/>
              <a:pathLst>
                <a:path h="180191" w="1777276">
                  <a:moveTo>
                    <a:pt x="34418" y="0"/>
                  </a:moveTo>
                  <a:lnTo>
                    <a:pt x="1742858" y="0"/>
                  </a:lnTo>
                  <a:cubicBezTo>
                    <a:pt x="1761867" y="0"/>
                    <a:pt x="1777276" y="15410"/>
                    <a:pt x="1777276" y="34418"/>
                  </a:cubicBezTo>
                  <a:lnTo>
                    <a:pt x="1777276" y="145772"/>
                  </a:lnTo>
                  <a:cubicBezTo>
                    <a:pt x="1777276" y="154901"/>
                    <a:pt x="1773650" y="163655"/>
                    <a:pt x="1767195" y="170110"/>
                  </a:cubicBezTo>
                  <a:cubicBezTo>
                    <a:pt x="1760741" y="176564"/>
                    <a:pt x="1751986" y="180191"/>
                    <a:pt x="1742858" y="180191"/>
                  </a:cubicBezTo>
                  <a:lnTo>
                    <a:pt x="34418" y="180191"/>
                  </a:lnTo>
                  <a:cubicBezTo>
                    <a:pt x="15410" y="180191"/>
                    <a:pt x="0" y="164781"/>
                    <a:pt x="0" y="145772"/>
                  </a:cubicBezTo>
                  <a:lnTo>
                    <a:pt x="0" y="34418"/>
                  </a:lnTo>
                  <a:cubicBezTo>
                    <a:pt x="0" y="25290"/>
                    <a:pt x="3626" y="16536"/>
                    <a:pt x="10081" y="10081"/>
                  </a:cubicBezTo>
                  <a:cubicBezTo>
                    <a:pt x="16536" y="3626"/>
                    <a:pt x="25290" y="0"/>
                    <a:pt x="34418" y="0"/>
                  </a:cubicBezTo>
                  <a:close/>
                </a:path>
              </a:pathLst>
            </a:custGeom>
            <a:gradFill rotWithShape="true">
              <a:gsLst>
                <a:gs pos="0">
                  <a:srgbClr val="5DE0E6">
                    <a:alpha val="100000"/>
                  </a:srgbClr>
                </a:gs>
                <a:gs pos="100000">
                  <a:srgbClr val="004AAD">
                    <a:alpha val="100000"/>
                  </a:srgbClr>
                </a:gs>
              </a:gsLst>
              <a:lin ang="0"/>
            </a:gradFill>
            <a:ln cap="rnd">
              <a:noFill/>
              <a:prstDash val="solid"/>
              <a:round/>
            </a:ln>
          </p:spPr>
        </p:sp>
        <p:sp>
          <p:nvSpPr>
            <p:cNvPr name="TextBox 8" id="8"/>
            <p:cNvSpPr txBox="true"/>
            <p:nvPr/>
          </p:nvSpPr>
          <p:spPr>
            <a:xfrm>
              <a:off x="0" y="28575"/>
              <a:ext cx="1777276" cy="151616"/>
            </a:xfrm>
            <a:prstGeom prst="rect">
              <a:avLst/>
            </a:prstGeom>
          </p:spPr>
          <p:txBody>
            <a:bodyPr anchor="ctr" rtlCol="false" tIns="50800" lIns="50800" bIns="50800" rIns="50800"/>
            <a:lstStyle/>
            <a:p>
              <a:pPr algn="ctr">
                <a:lnSpc>
                  <a:spcPts val="1134"/>
                </a:lnSpc>
              </a:pPr>
            </a:p>
          </p:txBody>
        </p:sp>
      </p:grpSp>
      <p:sp>
        <p:nvSpPr>
          <p:cNvPr name="TextBox 9" id="9"/>
          <p:cNvSpPr txBox="true"/>
          <p:nvPr/>
        </p:nvSpPr>
        <p:spPr>
          <a:xfrm rot="0">
            <a:off x="9549476" y="3440982"/>
            <a:ext cx="8544252" cy="6566828"/>
          </a:xfrm>
          <a:prstGeom prst="rect">
            <a:avLst/>
          </a:prstGeom>
        </p:spPr>
        <p:txBody>
          <a:bodyPr anchor="t" rtlCol="false" tIns="0" lIns="0" bIns="0" rIns="0">
            <a:spAutoFit/>
          </a:bodyPr>
          <a:lstStyle/>
          <a:p>
            <a:pPr algn="l">
              <a:lnSpc>
                <a:spcPts val="3503"/>
              </a:lnSpc>
            </a:pPr>
            <a:r>
              <a:rPr lang="en-US" sz="2502" i="true" spc="-50">
                <a:solidFill>
                  <a:srgbClr val="F7F7F7"/>
                </a:solidFill>
                <a:latin typeface="Glacial Indifference Italics"/>
                <a:ea typeface="Glacial Indifference Italics"/>
                <a:cs typeface="Glacial Indifference Italics"/>
                <a:sym typeface="Glacial Indifference Italics"/>
              </a:rPr>
              <a:t>Application architecture explains how different components of a web application are organized and connected.</a:t>
            </a:r>
          </a:p>
          <a:p>
            <a:pPr algn="l">
              <a:lnSpc>
                <a:spcPts val="3503"/>
              </a:lnSpc>
            </a:pPr>
            <a:r>
              <a:rPr lang="en-US" b="true" sz="2502" i="true" spc="-50" u="sng">
                <a:solidFill>
                  <a:srgbClr val="F7F7F7"/>
                </a:solidFill>
                <a:latin typeface="Glacial Indifference Bold Italics"/>
                <a:ea typeface="Glacial Indifference Bold Italics"/>
                <a:cs typeface="Glacial Indifference Bold Italics"/>
                <a:sym typeface="Glacial Indifference Bold Italics"/>
              </a:rPr>
              <a:t>MVT Architecture</a:t>
            </a:r>
          </a:p>
          <a:p>
            <a:pPr algn="l">
              <a:lnSpc>
                <a:spcPts val="3503"/>
              </a:lnSpc>
            </a:pPr>
            <a:r>
              <a:rPr lang="en-US" sz="2502" i="true" spc="-50">
                <a:solidFill>
                  <a:srgbClr val="F7F7F7"/>
                </a:solidFill>
                <a:latin typeface="Glacial Indifference Italics"/>
                <a:ea typeface="Glacial Indifference Italics"/>
                <a:cs typeface="Glacial Indifference Italics"/>
                <a:sym typeface="Glacial Indifference Italics"/>
              </a:rPr>
              <a:t>Django uses the Model-View-Template pattern to organize application logic, data handling, and presentation.</a:t>
            </a:r>
          </a:p>
          <a:p>
            <a:pPr algn="l">
              <a:lnSpc>
                <a:spcPts val="3503"/>
              </a:lnSpc>
            </a:pPr>
            <a:r>
              <a:rPr lang="en-US" b="true" sz="2502" i="true" spc="-50" u="sng">
                <a:solidFill>
                  <a:srgbClr val="F7F7F7"/>
                </a:solidFill>
                <a:latin typeface="Glacial Indifference Bold Italics"/>
                <a:ea typeface="Glacial Indifference Bold Italics"/>
                <a:cs typeface="Glacial Indifference Bold Italics"/>
                <a:sym typeface="Glacial Indifference Bold Italics"/>
              </a:rPr>
              <a:t>MVC Architecture</a:t>
            </a:r>
          </a:p>
          <a:p>
            <a:pPr algn="l">
              <a:lnSpc>
                <a:spcPts val="3503"/>
              </a:lnSpc>
            </a:pPr>
            <a:r>
              <a:rPr lang="en-US" sz="2502" i="true" spc="-50">
                <a:solidFill>
                  <a:srgbClr val="F7F7F7"/>
                </a:solidFill>
                <a:latin typeface="Glacial Indifference Italics"/>
                <a:ea typeface="Glacial Indifference Italics"/>
                <a:cs typeface="Glacial Indifference Italics"/>
                <a:sym typeface="Glacial Indifference Italics"/>
              </a:rPr>
              <a:t>The Model-View-Controller pattern separates data, user interface, and application control logic.</a:t>
            </a:r>
          </a:p>
          <a:p>
            <a:pPr algn="l">
              <a:lnSpc>
                <a:spcPts val="3503"/>
              </a:lnSpc>
            </a:pPr>
            <a:r>
              <a:rPr lang="en-US" b="true" sz="2502" i="true" spc="-50" u="sng">
                <a:solidFill>
                  <a:srgbClr val="F7F7F7"/>
                </a:solidFill>
                <a:latin typeface="Glacial Indifference Bold Italics"/>
                <a:ea typeface="Glacial Indifference Bold Italics"/>
                <a:cs typeface="Glacial Indifference Bold Italics"/>
                <a:sym typeface="Glacial Indifference Bold Italics"/>
              </a:rPr>
              <a:t>ORM (Object-Relational Mapping)</a:t>
            </a:r>
          </a:p>
          <a:p>
            <a:pPr algn="l">
              <a:lnSpc>
                <a:spcPts val="3503"/>
              </a:lnSpc>
            </a:pPr>
            <a:r>
              <a:rPr lang="en-US" sz="2502" i="true" spc="-50">
                <a:solidFill>
                  <a:srgbClr val="F7F7F7"/>
                </a:solidFill>
                <a:latin typeface="Glacial Indifference Italics"/>
                <a:ea typeface="Glacial Indifference Italics"/>
                <a:cs typeface="Glacial Indifference Italics"/>
                <a:sym typeface="Glacial Indifference Italics"/>
              </a:rPr>
              <a:t>ORM allows developers to interact with databases using Python objects instead of writing every SQL query manually.</a:t>
            </a:r>
          </a:p>
          <a:p>
            <a:pPr algn="l">
              <a:lnSpc>
                <a:spcPts val="3503"/>
              </a:lnSpc>
            </a:pPr>
            <a:r>
              <a:rPr lang="en-US" b="true" sz="2502" i="true" spc="-50" u="sng">
                <a:solidFill>
                  <a:srgbClr val="F7F7F7"/>
                </a:solidFill>
                <a:latin typeface="Glacial Indifference Bold Italics"/>
                <a:ea typeface="Glacial Indifference Bold Italics"/>
                <a:cs typeface="Glacial Indifference Bold Italics"/>
                <a:sym typeface="Glacial Indifference Bold Italics"/>
              </a:rPr>
              <a:t>Database Migrations</a:t>
            </a:r>
          </a:p>
          <a:p>
            <a:pPr algn="l">
              <a:lnSpc>
                <a:spcPts val="3503"/>
              </a:lnSpc>
            </a:pPr>
            <a:r>
              <a:rPr lang="en-US" sz="2502" i="true" spc="-50">
                <a:solidFill>
                  <a:srgbClr val="F7F7F7"/>
                </a:solidFill>
                <a:latin typeface="Glacial Indifference Italics"/>
                <a:ea typeface="Glacial Indifference Italics"/>
                <a:cs typeface="Glacial Indifference Italics"/>
                <a:sym typeface="Glacial Indifference Italics"/>
              </a:rPr>
              <a:t>Migrations help manage changes to database structure as an application evolves.</a:t>
            </a:r>
          </a:p>
          <a:p>
            <a:pPr algn="l">
              <a:lnSpc>
                <a:spcPts val="3503"/>
              </a:lnSpc>
            </a:pPr>
          </a:p>
        </p:txBody>
      </p:sp>
      <p:grpSp>
        <p:nvGrpSpPr>
          <p:cNvPr name="Group 10" id="10"/>
          <p:cNvGrpSpPr/>
          <p:nvPr/>
        </p:nvGrpSpPr>
        <p:grpSpPr>
          <a:xfrm rot="0">
            <a:off x="16635046" y="8596795"/>
            <a:ext cx="624254" cy="62425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100000"/>
                  </a:srgbClr>
                </a:gs>
                <a:gs pos="100000">
                  <a:srgbClr val="004AAD">
                    <a:alpha val="100000"/>
                  </a:srgbClr>
                </a:gs>
              </a:gsLst>
              <a:lin ang="0"/>
            </a:gradFill>
          </p:spPr>
        </p:sp>
        <p:sp>
          <p:nvSpPr>
            <p:cNvPr name="TextBox 12" id="12"/>
            <p:cNvSpPr txBox="true"/>
            <p:nvPr/>
          </p:nvSpPr>
          <p:spPr>
            <a:xfrm>
              <a:off x="76200" y="123825"/>
              <a:ext cx="660400" cy="612775"/>
            </a:xfrm>
            <a:prstGeom prst="rect">
              <a:avLst/>
            </a:prstGeom>
          </p:spPr>
          <p:txBody>
            <a:bodyPr anchor="ctr" rtlCol="false" tIns="50800" lIns="50800" bIns="50800" rIns="50800"/>
            <a:lstStyle/>
            <a:p>
              <a:pPr algn="ctr">
                <a:lnSpc>
                  <a:spcPts val="1134"/>
                </a:lnSpc>
              </a:pPr>
            </a:p>
          </p:txBody>
        </p:sp>
      </p:grpSp>
      <p:sp>
        <p:nvSpPr>
          <p:cNvPr name="Freeform 13" id="13"/>
          <p:cNvSpPr/>
          <p:nvPr/>
        </p:nvSpPr>
        <p:spPr>
          <a:xfrm flipH="true" flipV="false" rot="0">
            <a:off x="16865622" y="8739744"/>
            <a:ext cx="203860" cy="338357"/>
          </a:xfrm>
          <a:custGeom>
            <a:avLst/>
            <a:gdLst/>
            <a:ahLst/>
            <a:cxnLst/>
            <a:rect r="r" b="b" t="t" l="l"/>
            <a:pathLst>
              <a:path h="338357" w="203860">
                <a:moveTo>
                  <a:pt x="203860" y="0"/>
                </a:moveTo>
                <a:lnTo>
                  <a:pt x="0" y="0"/>
                </a:lnTo>
                <a:lnTo>
                  <a:pt x="0" y="338356"/>
                </a:lnTo>
                <a:lnTo>
                  <a:pt x="203860" y="338356"/>
                </a:lnTo>
                <a:lnTo>
                  <a:pt x="20386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4" id="14"/>
          <p:cNvGrpSpPr/>
          <p:nvPr/>
        </p:nvGrpSpPr>
        <p:grpSpPr>
          <a:xfrm rot="0">
            <a:off x="1028700" y="2980343"/>
            <a:ext cx="8348235" cy="6465814"/>
            <a:chOff x="0" y="0"/>
            <a:chExt cx="2198712" cy="1702930"/>
          </a:xfrm>
        </p:grpSpPr>
        <p:sp>
          <p:nvSpPr>
            <p:cNvPr name="Freeform 15" id="15"/>
            <p:cNvSpPr/>
            <p:nvPr/>
          </p:nvSpPr>
          <p:spPr>
            <a:xfrm flipH="false" flipV="false" rot="0">
              <a:off x="0" y="0"/>
              <a:ext cx="2198712" cy="1702930"/>
            </a:xfrm>
            <a:custGeom>
              <a:avLst/>
              <a:gdLst/>
              <a:ahLst/>
              <a:cxnLst/>
              <a:rect r="r" b="b" t="t" l="l"/>
              <a:pathLst>
                <a:path h="1702930" w="2198712">
                  <a:moveTo>
                    <a:pt x="46369" y="0"/>
                  </a:moveTo>
                  <a:lnTo>
                    <a:pt x="2152343" y="0"/>
                  </a:lnTo>
                  <a:cubicBezTo>
                    <a:pt x="2164641" y="0"/>
                    <a:pt x="2176435" y="4885"/>
                    <a:pt x="2185131" y="13581"/>
                  </a:cubicBezTo>
                  <a:cubicBezTo>
                    <a:pt x="2193827" y="22277"/>
                    <a:pt x="2198712" y="34071"/>
                    <a:pt x="2198712" y="46369"/>
                  </a:cubicBezTo>
                  <a:lnTo>
                    <a:pt x="2198712" y="1656562"/>
                  </a:lnTo>
                  <a:cubicBezTo>
                    <a:pt x="2198712" y="1668860"/>
                    <a:pt x="2193827" y="1680653"/>
                    <a:pt x="2185131" y="1689349"/>
                  </a:cubicBezTo>
                  <a:cubicBezTo>
                    <a:pt x="2176435" y="1698045"/>
                    <a:pt x="2164641" y="1702930"/>
                    <a:pt x="2152343" y="1702930"/>
                  </a:cubicBezTo>
                  <a:lnTo>
                    <a:pt x="46369" y="1702930"/>
                  </a:lnTo>
                  <a:cubicBezTo>
                    <a:pt x="20760" y="1702930"/>
                    <a:pt x="0" y="1682170"/>
                    <a:pt x="0" y="1656562"/>
                  </a:cubicBezTo>
                  <a:lnTo>
                    <a:pt x="0" y="46369"/>
                  </a:lnTo>
                  <a:cubicBezTo>
                    <a:pt x="0" y="34071"/>
                    <a:pt x="4885" y="22277"/>
                    <a:pt x="13581" y="13581"/>
                  </a:cubicBezTo>
                  <a:cubicBezTo>
                    <a:pt x="22277" y="4885"/>
                    <a:pt x="34071" y="0"/>
                    <a:pt x="46369" y="0"/>
                  </a:cubicBezTo>
                  <a:close/>
                </a:path>
              </a:pathLst>
            </a:custGeom>
            <a:solidFill>
              <a:srgbClr val="000000">
                <a:alpha val="49804"/>
              </a:srgbClr>
            </a:solidFill>
          </p:spPr>
        </p:sp>
        <p:sp>
          <p:nvSpPr>
            <p:cNvPr name="TextBox 16" id="16"/>
            <p:cNvSpPr txBox="true"/>
            <p:nvPr/>
          </p:nvSpPr>
          <p:spPr>
            <a:xfrm>
              <a:off x="0" y="47625"/>
              <a:ext cx="2198712" cy="1655305"/>
            </a:xfrm>
            <a:prstGeom prst="rect">
              <a:avLst/>
            </a:prstGeom>
          </p:spPr>
          <p:txBody>
            <a:bodyPr anchor="ctr" rtlCol="false" tIns="50800" lIns="50800" bIns="50800" rIns="50800"/>
            <a:lstStyle/>
            <a:p>
              <a:pPr algn="ctr">
                <a:lnSpc>
                  <a:spcPts val="1134"/>
                </a:lnSpc>
              </a:pPr>
            </a:p>
          </p:txBody>
        </p:sp>
      </p:grpSp>
      <p:grpSp>
        <p:nvGrpSpPr>
          <p:cNvPr name="Group 17" id="17"/>
          <p:cNvGrpSpPr/>
          <p:nvPr/>
        </p:nvGrpSpPr>
        <p:grpSpPr>
          <a:xfrm rot="0">
            <a:off x="1028700" y="3259460"/>
            <a:ext cx="8348235" cy="6465814"/>
            <a:chOff x="0" y="0"/>
            <a:chExt cx="2198712" cy="1702930"/>
          </a:xfrm>
        </p:grpSpPr>
        <p:sp>
          <p:nvSpPr>
            <p:cNvPr name="Freeform 18" id="18"/>
            <p:cNvSpPr/>
            <p:nvPr/>
          </p:nvSpPr>
          <p:spPr>
            <a:xfrm flipH="false" flipV="false" rot="0">
              <a:off x="0" y="0"/>
              <a:ext cx="2198712" cy="1702930"/>
            </a:xfrm>
            <a:custGeom>
              <a:avLst/>
              <a:gdLst/>
              <a:ahLst/>
              <a:cxnLst/>
              <a:rect r="r" b="b" t="t" l="l"/>
              <a:pathLst>
                <a:path h="1702930" w="2198712">
                  <a:moveTo>
                    <a:pt x="46369" y="0"/>
                  </a:moveTo>
                  <a:lnTo>
                    <a:pt x="2152343" y="0"/>
                  </a:lnTo>
                  <a:cubicBezTo>
                    <a:pt x="2164641" y="0"/>
                    <a:pt x="2176435" y="4885"/>
                    <a:pt x="2185131" y="13581"/>
                  </a:cubicBezTo>
                  <a:cubicBezTo>
                    <a:pt x="2193827" y="22277"/>
                    <a:pt x="2198712" y="34071"/>
                    <a:pt x="2198712" y="46369"/>
                  </a:cubicBezTo>
                  <a:lnTo>
                    <a:pt x="2198712" y="1656562"/>
                  </a:lnTo>
                  <a:cubicBezTo>
                    <a:pt x="2198712" y="1668860"/>
                    <a:pt x="2193827" y="1680653"/>
                    <a:pt x="2185131" y="1689349"/>
                  </a:cubicBezTo>
                  <a:cubicBezTo>
                    <a:pt x="2176435" y="1698045"/>
                    <a:pt x="2164641" y="1702930"/>
                    <a:pt x="2152343" y="1702930"/>
                  </a:cubicBezTo>
                  <a:lnTo>
                    <a:pt x="46369" y="1702930"/>
                  </a:lnTo>
                  <a:cubicBezTo>
                    <a:pt x="20760" y="1702930"/>
                    <a:pt x="0" y="1682170"/>
                    <a:pt x="0" y="1656562"/>
                  </a:cubicBezTo>
                  <a:lnTo>
                    <a:pt x="0" y="46369"/>
                  </a:lnTo>
                  <a:cubicBezTo>
                    <a:pt x="0" y="34071"/>
                    <a:pt x="4885" y="22277"/>
                    <a:pt x="13581" y="13581"/>
                  </a:cubicBezTo>
                  <a:cubicBezTo>
                    <a:pt x="22277" y="4885"/>
                    <a:pt x="34071" y="0"/>
                    <a:pt x="46369" y="0"/>
                  </a:cubicBezTo>
                  <a:close/>
                </a:path>
              </a:pathLst>
            </a:custGeom>
            <a:ln w="19050" cap="rnd">
              <a:gradFill>
                <a:gsLst>
                  <a:gs pos="0">
                    <a:srgbClr val="5DE0E6">
                      <a:alpha val="100000"/>
                    </a:srgbClr>
                  </a:gs>
                  <a:gs pos="100000">
                    <a:srgbClr val="004AAD">
                      <a:alpha val="100000"/>
                    </a:srgbClr>
                  </a:gs>
                </a:gsLst>
                <a:lin ang="0"/>
              </a:gradFill>
              <a:prstDash val="solid"/>
              <a:round/>
            </a:ln>
          </p:spPr>
        </p:sp>
        <p:sp>
          <p:nvSpPr>
            <p:cNvPr name="TextBox 19" id="19"/>
            <p:cNvSpPr txBox="true"/>
            <p:nvPr/>
          </p:nvSpPr>
          <p:spPr>
            <a:xfrm>
              <a:off x="0" y="47625"/>
              <a:ext cx="2198712" cy="1655305"/>
            </a:xfrm>
            <a:prstGeom prst="rect">
              <a:avLst/>
            </a:prstGeom>
          </p:spPr>
          <p:txBody>
            <a:bodyPr anchor="ctr" rtlCol="false" tIns="50800" lIns="50800" bIns="50800" rIns="50800"/>
            <a:lstStyle/>
            <a:p>
              <a:pPr algn="ctr">
                <a:lnSpc>
                  <a:spcPts val="1134"/>
                </a:lnSpc>
              </a:pPr>
            </a:p>
          </p:txBody>
        </p:sp>
      </p:grpSp>
      <p:grpSp>
        <p:nvGrpSpPr>
          <p:cNvPr name="Group 20" id="20"/>
          <p:cNvGrpSpPr/>
          <p:nvPr/>
        </p:nvGrpSpPr>
        <p:grpSpPr>
          <a:xfrm rot="0">
            <a:off x="1355254" y="3623923"/>
            <a:ext cx="7724946" cy="5822235"/>
            <a:chOff x="0" y="0"/>
            <a:chExt cx="1313684" cy="990114"/>
          </a:xfrm>
        </p:grpSpPr>
        <p:sp>
          <p:nvSpPr>
            <p:cNvPr name="Freeform 21" id="21"/>
            <p:cNvSpPr/>
            <p:nvPr/>
          </p:nvSpPr>
          <p:spPr>
            <a:xfrm flipH="false" flipV="false" rot="0">
              <a:off x="0" y="0"/>
              <a:ext cx="1313684" cy="990114"/>
            </a:xfrm>
            <a:custGeom>
              <a:avLst/>
              <a:gdLst/>
              <a:ahLst/>
              <a:cxnLst/>
              <a:rect r="r" b="b" t="t" l="l"/>
              <a:pathLst>
                <a:path h="990114" w="1313684">
                  <a:moveTo>
                    <a:pt x="50110" y="0"/>
                  </a:moveTo>
                  <a:lnTo>
                    <a:pt x="1263575" y="0"/>
                  </a:lnTo>
                  <a:cubicBezTo>
                    <a:pt x="1276865" y="0"/>
                    <a:pt x="1289610" y="5279"/>
                    <a:pt x="1299008" y="14677"/>
                  </a:cubicBezTo>
                  <a:cubicBezTo>
                    <a:pt x="1308405" y="24074"/>
                    <a:pt x="1313684" y="36820"/>
                    <a:pt x="1313684" y="50110"/>
                  </a:cubicBezTo>
                  <a:lnTo>
                    <a:pt x="1313684" y="940004"/>
                  </a:lnTo>
                  <a:cubicBezTo>
                    <a:pt x="1313684" y="953294"/>
                    <a:pt x="1308405" y="966040"/>
                    <a:pt x="1299008" y="975437"/>
                  </a:cubicBezTo>
                  <a:cubicBezTo>
                    <a:pt x="1289610" y="984835"/>
                    <a:pt x="1276865" y="990114"/>
                    <a:pt x="1263575" y="990114"/>
                  </a:cubicBezTo>
                  <a:lnTo>
                    <a:pt x="50110" y="990114"/>
                  </a:lnTo>
                  <a:cubicBezTo>
                    <a:pt x="36820" y="990114"/>
                    <a:pt x="24074" y="984835"/>
                    <a:pt x="14677" y="975437"/>
                  </a:cubicBezTo>
                  <a:cubicBezTo>
                    <a:pt x="5279" y="966040"/>
                    <a:pt x="0" y="953294"/>
                    <a:pt x="0" y="940004"/>
                  </a:cubicBezTo>
                  <a:lnTo>
                    <a:pt x="0" y="50110"/>
                  </a:lnTo>
                  <a:cubicBezTo>
                    <a:pt x="0" y="36820"/>
                    <a:pt x="5279" y="24074"/>
                    <a:pt x="14677" y="14677"/>
                  </a:cubicBezTo>
                  <a:cubicBezTo>
                    <a:pt x="24074" y="5279"/>
                    <a:pt x="36820" y="0"/>
                    <a:pt x="50110" y="0"/>
                  </a:cubicBezTo>
                  <a:close/>
                </a:path>
              </a:pathLst>
            </a:custGeom>
            <a:blipFill>
              <a:blip r:embed="rId5"/>
              <a:stretch>
                <a:fillRect l="-6245" t="0" r="-6245" b="0"/>
              </a:stretch>
            </a:blipFill>
          </p:spPr>
        </p:sp>
      </p:grpSp>
      <p:sp>
        <p:nvSpPr>
          <p:cNvPr name="TextBox 22" id="22"/>
          <p:cNvSpPr txBox="true"/>
          <p:nvPr/>
        </p:nvSpPr>
        <p:spPr>
          <a:xfrm rot="0">
            <a:off x="574569" y="1797117"/>
            <a:ext cx="9443606" cy="1169580"/>
          </a:xfrm>
          <a:prstGeom prst="rect">
            <a:avLst/>
          </a:prstGeom>
        </p:spPr>
        <p:txBody>
          <a:bodyPr anchor="t" rtlCol="false" tIns="0" lIns="0" bIns="0" rIns="0">
            <a:spAutoFit/>
          </a:bodyPr>
          <a:lstStyle/>
          <a:p>
            <a:pPr algn="ctr">
              <a:lnSpc>
                <a:spcPts val="3947"/>
              </a:lnSpc>
            </a:pPr>
            <a:r>
              <a:rPr lang="en-US" b="true" sz="4756" spc="-309">
                <a:solidFill>
                  <a:srgbClr val="52CFE0"/>
                </a:solidFill>
                <a:latin typeface="Helvetica World Bold"/>
                <a:ea typeface="Helvetica World Bold"/>
                <a:cs typeface="Helvetica World Bold"/>
                <a:sym typeface="Helvetica World Bold"/>
              </a:rPr>
              <a:t>PYTHON WEB APPLICATION        ARCHITECTURE</a:t>
            </a:r>
          </a:p>
        </p:txBody>
      </p:sp>
      <p:sp>
        <p:nvSpPr>
          <p:cNvPr name="TextBox 23" id="23"/>
          <p:cNvSpPr txBox="true"/>
          <p:nvPr/>
        </p:nvSpPr>
        <p:spPr>
          <a:xfrm rot="0">
            <a:off x="7054987" y="807453"/>
            <a:ext cx="810952"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Home</a:t>
            </a:r>
          </a:p>
        </p:txBody>
      </p:sp>
      <p:sp>
        <p:nvSpPr>
          <p:cNvPr name="TextBox 24" id="24"/>
          <p:cNvSpPr txBox="true"/>
          <p:nvPr/>
        </p:nvSpPr>
        <p:spPr>
          <a:xfrm rot="0">
            <a:off x="8498359" y="807453"/>
            <a:ext cx="1051116"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About Us</a:t>
            </a:r>
          </a:p>
        </p:txBody>
      </p:sp>
      <p:sp>
        <p:nvSpPr>
          <p:cNvPr name="TextBox 25" id="25"/>
          <p:cNvSpPr txBox="true"/>
          <p:nvPr/>
        </p:nvSpPr>
        <p:spPr>
          <a:xfrm rot="0">
            <a:off x="10181897" y="807453"/>
            <a:ext cx="1051116"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Services</a:t>
            </a:r>
          </a:p>
        </p:txBody>
      </p:sp>
      <p:sp>
        <p:nvSpPr>
          <p:cNvPr name="TextBox 26" id="26"/>
          <p:cNvSpPr txBox="true"/>
          <p:nvPr/>
        </p:nvSpPr>
        <p:spPr>
          <a:xfrm rot="0">
            <a:off x="16034591" y="807453"/>
            <a:ext cx="970584" cy="177293"/>
          </a:xfrm>
          <a:prstGeom prst="rect">
            <a:avLst/>
          </a:prstGeom>
        </p:spPr>
        <p:txBody>
          <a:bodyPr anchor="t" rtlCol="false" tIns="0" lIns="0" bIns="0" rIns="0">
            <a:spAutoFit/>
          </a:bodyPr>
          <a:lstStyle/>
          <a:p>
            <a:pPr algn="ctr">
              <a:lnSpc>
                <a:spcPts val="1134"/>
              </a:lnSpc>
            </a:pPr>
            <a:r>
              <a:rPr lang="en-US" b="true" sz="1400" spc="-28">
                <a:solidFill>
                  <a:srgbClr val="000000"/>
                </a:solidFill>
                <a:latin typeface="Helvetica World Bold"/>
                <a:ea typeface="Helvetica World Bold"/>
                <a:cs typeface="Helvetica World Bold"/>
                <a:sym typeface="Helvetica World Bold"/>
              </a:rPr>
              <a:t>Contact</a:t>
            </a:r>
          </a:p>
        </p:txBody>
      </p:sp>
      <p:sp>
        <p:nvSpPr>
          <p:cNvPr name="TextBox 27" id="27"/>
          <p:cNvSpPr txBox="true"/>
          <p:nvPr/>
        </p:nvSpPr>
        <p:spPr>
          <a:xfrm rot="0">
            <a:off x="10181897" y="2451048"/>
            <a:ext cx="6748096" cy="412529"/>
          </a:xfrm>
          <a:prstGeom prst="rect">
            <a:avLst/>
          </a:prstGeom>
        </p:spPr>
        <p:txBody>
          <a:bodyPr anchor="t" rtlCol="false" tIns="0" lIns="0" bIns="0" rIns="0">
            <a:spAutoFit/>
          </a:bodyPr>
          <a:lstStyle/>
          <a:p>
            <a:pPr algn="ctr">
              <a:lnSpc>
                <a:spcPts val="2911"/>
              </a:lnSpc>
            </a:pPr>
            <a:r>
              <a:rPr lang="en-US" b="true" sz="2799" spc="-55">
                <a:solidFill>
                  <a:srgbClr val="000000"/>
                </a:solidFill>
                <a:latin typeface="Helvetica World Bold"/>
                <a:ea typeface="Helvetica World Bold"/>
                <a:cs typeface="Helvetica World Bold"/>
                <a:sym typeface="Helvetica World Bold"/>
              </a:rPr>
              <a:t>KEY ARCHITECTURE CONCEPTS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15780466" y="639280"/>
            <a:ext cx="1478834" cy="453314"/>
            <a:chOff x="0" y="0"/>
            <a:chExt cx="389487" cy="119391"/>
          </a:xfrm>
        </p:grpSpPr>
        <p:sp>
          <p:nvSpPr>
            <p:cNvPr name="Freeform 4" id="4"/>
            <p:cNvSpPr/>
            <p:nvPr/>
          </p:nvSpPr>
          <p:spPr>
            <a:xfrm flipH="false" flipV="false" rot="0">
              <a:off x="0" y="0"/>
              <a:ext cx="389487" cy="119391"/>
            </a:xfrm>
            <a:custGeom>
              <a:avLst/>
              <a:gdLst/>
              <a:ahLst/>
              <a:cxnLst/>
              <a:rect r="r" b="b" t="t" l="l"/>
              <a:pathLst>
                <a:path h="119391" w="389487">
                  <a:moveTo>
                    <a:pt x="52352" y="0"/>
                  </a:moveTo>
                  <a:lnTo>
                    <a:pt x="337136" y="0"/>
                  </a:lnTo>
                  <a:cubicBezTo>
                    <a:pt x="366049" y="0"/>
                    <a:pt x="389487" y="23439"/>
                    <a:pt x="389487" y="52352"/>
                  </a:cubicBezTo>
                  <a:lnTo>
                    <a:pt x="389487" y="67040"/>
                  </a:lnTo>
                  <a:cubicBezTo>
                    <a:pt x="389487" y="80924"/>
                    <a:pt x="383972" y="94240"/>
                    <a:pt x="374154" y="104058"/>
                  </a:cubicBezTo>
                  <a:cubicBezTo>
                    <a:pt x="364336" y="113876"/>
                    <a:pt x="351020" y="119391"/>
                    <a:pt x="337136" y="119391"/>
                  </a:cubicBezTo>
                  <a:lnTo>
                    <a:pt x="52352" y="119391"/>
                  </a:lnTo>
                  <a:cubicBezTo>
                    <a:pt x="23439" y="119391"/>
                    <a:pt x="0" y="95953"/>
                    <a:pt x="0" y="67040"/>
                  </a:cubicBezTo>
                  <a:lnTo>
                    <a:pt x="0" y="52352"/>
                  </a:lnTo>
                  <a:cubicBezTo>
                    <a:pt x="0" y="23439"/>
                    <a:pt x="23439" y="0"/>
                    <a:pt x="52352" y="0"/>
                  </a:cubicBezTo>
                  <a:close/>
                </a:path>
              </a:pathLst>
            </a:custGeom>
            <a:gradFill rotWithShape="true">
              <a:gsLst>
                <a:gs pos="0">
                  <a:srgbClr val="5DE0E6">
                    <a:alpha val="100000"/>
                  </a:srgbClr>
                </a:gs>
                <a:gs pos="100000">
                  <a:srgbClr val="004AAD">
                    <a:alpha val="100000"/>
                  </a:srgbClr>
                </a:gs>
              </a:gsLst>
              <a:lin ang="0"/>
            </a:gradFill>
            <a:ln cap="sq">
              <a:noFill/>
              <a:prstDash val="solid"/>
              <a:miter/>
            </a:ln>
          </p:spPr>
        </p:sp>
        <p:sp>
          <p:nvSpPr>
            <p:cNvPr name="TextBox 5" id="5"/>
            <p:cNvSpPr txBox="true"/>
            <p:nvPr/>
          </p:nvSpPr>
          <p:spPr>
            <a:xfrm>
              <a:off x="0" y="28575"/>
              <a:ext cx="389487" cy="90816"/>
            </a:xfrm>
            <a:prstGeom prst="rect">
              <a:avLst/>
            </a:prstGeom>
          </p:spPr>
          <p:txBody>
            <a:bodyPr anchor="ctr" rtlCol="false" tIns="50800" lIns="50800" bIns="50800" rIns="50800"/>
            <a:lstStyle/>
            <a:p>
              <a:pPr algn="ctr">
                <a:lnSpc>
                  <a:spcPts val="1134"/>
                </a:lnSpc>
              </a:pPr>
            </a:p>
          </p:txBody>
        </p:sp>
      </p:grpSp>
      <p:grpSp>
        <p:nvGrpSpPr>
          <p:cNvPr name="Group 6" id="6"/>
          <p:cNvGrpSpPr/>
          <p:nvPr/>
        </p:nvGrpSpPr>
        <p:grpSpPr>
          <a:xfrm rot="0">
            <a:off x="1028700" y="6332430"/>
            <a:ext cx="7469659" cy="684161"/>
            <a:chOff x="0" y="0"/>
            <a:chExt cx="1967318" cy="180191"/>
          </a:xfrm>
        </p:grpSpPr>
        <p:sp>
          <p:nvSpPr>
            <p:cNvPr name="Freeform 7" id="7"/>
            <p:cNvSpPr/>
            <p:nvPr/>
          </p:nvSpPr>
          <p:spPr>
            <a:xfrm flipH="false" flipV="false" rot="0">
              <a:off x="0" y="0"/>
              <a:ext cx="1967318" cy="180191"/>
            </a:xfrm>
            <a:custGeom>
              <a:avLst/>
              <a:gdLst/>
              <a:ahLst/>
              <a:cxnLst/>
              <a:rect r="r" b="b" t="t" l="l"/>
              <a:pathLst>
                <a:path h="180191" w="1967318">
                  <a:moveTo>
                    <a:pt x="31093" y="0"/>
                  </a:moveTo>
                  <a:lnTo>
                    <a:pt x="1936224" y="0"/>
                  </a:lnTo>
                  <a:cubicBezTo>
                    <a:pt x="1944471" y="0"/>
                    <a:pt x="1952379" y="3276"/>
                    <a:pt x="1958211" y="9107"/>
                  </a:cubicBezTo>
                  <a:cubicBezTo>
                    <a:pt x="1964042" y="14938"/>
                    <a:pt x="1967318" y="22847"/>
                    <a:pt x="1967318" y="31093"/>
                  </a:cubicBezTo>
                  <a:lnTo>
                    <a:pt x="1967318" y="149097"/>
                  </a:lnTo>
                  <a:cubicBezTo>
                    <a:pt x="1967318" y="157344"/>
                    <a:pt x="1964042" y="165252"/>
                    <a:pt x="1958211" y="171083"/>
                  </a:cubicBezTo>
                  <a:cubicBezTo>
                    <a:pt x="1952379" y="176915"/>
                    <a:pt x="1944471" y="180191"/>
                    <a:pt x="1936224" y="180191"/>
                  </a:cubicBezTo>
                  <a:lnTo>
                    <a:pt x="31093" y="180191"/>
                  </a:lnTo>
                  <a:cubicBezTo>
                    <a:pt x="22847" y="180191"/>
                    <a:pt x="14938" y="176915"/>
                    <a:pt x="9107" y="171083"/>
                  </a:cubicBezTo>
                  <a:cubicBezTo>
                    <a:pt x="3276" y="165252"/>
                    <a:pt x="0" y="157344"/>
                    <a:pt x="0" y="149097"/>
                  </a:cubicBezTo>
                  <a:lnTo>
                    <a:pt x="0" y="31093"/>
                  </a:lnTo>
                  <a:cubicBezTo>
                    <a:pt x="0" y="22847"/>
                    <a:pt x="3276" y="14938"/>
                    <a:pt x="9107" y="9107"/>
                  </a:cubicBezTo>
                  <a:cubicBezTo>
                    <a:pt x="14938" y="3276"/>
                    <a:pt x="22847" y="0"/>
                    <a:pt x="31093" y="0"/>
                  </a:cubicBezTo>
                  <a:close/>
                </a:path>
              </a:pathLst>
            </a:custGeom>
            <a:gradFill rotWithShape="true">
              <a:gsLst>
                <a:gs pos="0">
                  <a:srgbClr val="5DE0E6">
                    <a:alpha val="100000"/>
                  </a:srgbClr>
                </a:gs>
                <a:gs pos="100000">
                  <a:srgbClr val="004AAD">
                    <a:alpha val="100000"/>
                  </a:srgbClr>
                </a:gs>
              </a:gsLst>
              <a:lin ang="0"/>
            </a:gradFill>
            <a:ln cap="rnd">
              <a:noFill/>
              <a:prstDash val="solid"/>
              <a:round/>
            </a:ln>
          </p:spPr>
        </p:sp>
        <p:sp>
          <p:nvSpPr>
            <p:cNvPr name="TextBox 8" id="8"/>
            <p:cNvSpPr txBox="true"/>
            <p:nvPr/>
          </p:nvSpPr>
          <p:spPr>
            <a:xfrm>
              <a:off x="0" y="28575"/>
              <a:ext cx="1967318" cy="151616"/>
            </a:xfrm>
            <a:prstGeom prst="rect">
              <a:avLst/>
            </a:prstGeom>
          </p:spPr>
          <p:txBody>
            <a:bodyPr anchor="ctr" rtlCol="false" tIns="50800" lIns="50800" bIns="50800" rIns="50800"/>
            <a:lstStyle/>
            <a:p>
              <a:pPr algn="ctr">
                <a:lnSpc>
                  <a:spcPts val="1134"/>
                </a:lnSpc>
              </a:pPr>
            </a:p>
          </p:txBody>
        </p:sp>
      </p:grpSp>
      <p:sp>
        <p:nvSpPr>
          <p:cNvPr name="TextBox 9" id="9"/>
          <p:cNvSpPr txBox="true"/>
          <p:nvPr/>
        </p:nvSpPr>
        <p:spPr>
          <a:xfrm rot="0">
            <a:off x="1028700" y="2699667"/>
            <a:ext cx="7479869" cy="2986772"/>
          </a:xfrm>
          <a:prstGeom prst="rect">
            <a:avLst/>
          </a:prstGeom>
        </p:spPr>
        <p:txBody>
          <a:bodyPr anchor="t" rtlCol="false" tIns="0" lIns="0" bIns="0" rIns="0">
            <a:spAutoFit/>
          </a:bodyPr>
          <a:lstStyle/>
          <a:p>
            <a:pPr algn="l">
              <a:lnSpc>
                <a:spcPts val="6758"/>
              </a:lnSpc>
            </a:pPr>
            <a:r>
              <a:rPr lang="en-US" b="true" sz="8142" spc="-529">
                <a:solidFill>
                  <a:srgbClr val="52CFE0"/>
                </a:solidFill>
                <a:latin typeface="Helvetica World Bold"/>
                <a:ea typeface="Helvetica World Bold"/>
                <a:cs typeface="Helvetica World Bold"/>
                <a:sym typeface="Helvetica World Bold"/>
              </a:rPr>
              <a:t>POPULAR PROGRAMMING LANGUAGES</a:t>
            </a:r>
          </a:p>
        </p:txBody>
      </p:sp>
      <p:sp>
        <p:nvSpPr>
          <p:cNvPr name="TextBox 10" id="10"/>
          <p:cNvSpPr txBox="true"/>
          <p:nvPr/>
        </p:nvSpPr>
        <p:spPr>
          <a:xfrm rot="0">
            <a:off x="7054987" y="807453"/>
            <a:ext cx="810952"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Home</a:t>
            </a:r>
          </a:p>
        </p:txBody>
      </p:sp>
      <p:sp>
        <p:nvSpPr>
          <p:cNvPr name="TextBox 11" id="11"/>
          <p:cNvSpPr txBox="true"/>
          <p:nvPr/>
        </p:nvSpPr>
        <p:spPr>
          <a:xfrm rot="0">
            <a:off x="8498359" y="807453"/>
            <a:ext cx="1051116"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About Us</a:t>
            </a:r>
          </a:p>
        </p:txBody>
      </p:sp>
      <p:sp>
        <p:nvSpPr>
          <p:cNvPr name="TextBox 12" id="12"/>
          <p:cNvSpPr txBox="true"/>
          <p:nvPr/>
        </p:nvSpPr>
        <p:spPr>
          <a:xfrm rot="0">
            <a:off x="10181897" y="807453"/>
            <a:ext cx="1051116"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Services</a:t>
            </a:r>
          </a:p>
        </p:txBody>
      </p:sp>
      <p:sp>
        <p:nvSpPr>
          <p:cNvPr name="TextBox 13" id="13"/>
          <p:cNvSpPr txBox="true"/>
          <p:nvPr/>
        </p:nvSpPr>
        <p:spPr>
          <a:xfrm rot="0">
            <a:off x="16034591" y="807453"/>
            <a:ext cx="970584" cy="177293"/>
          </a:xfrm>
          <a:prstGeom prst="rect">
            <a:avLst/>
          </a:prstGeom>
        </p:spPr>
        <p:txBody>
          <a:bodyPr anchor="t" rtlCol="false" tIns="0" lIns="0" bIns="0" rIns="0">
            <a:spAutoFit/>
          </a:bodyPr>
          <a:lstStyle/>
          <a:p>
            <a:pPr algn="ctr">
              <a:lnSpc>
                <a:spcPts val="1134"/>
              </a:lnSpc>
            </a:pPr>
            <a:r>
              <a:rPr lang="en-US" b="true" sz="1400" spc="-28">
                <a:solidFill>
                  <a:srgbClr val="000000"/>
                </a:solidFill>
                <a:latin typeface="Helvetica World Bold"/>
                <a:ea typeface="Helvetica World Bold"/>
                <a:cs typeface="Helvetica World Bold"/>
                <a:sym typeface="Helvetica World Bold"/>
              </a:rPr>
              <a:t>Contact</a:t>
            </a:r>
          </a:p>
        </p:txBody>
      </p:sp>
      <p:sp>
        <p:nvSpPr>
          <p:cNvPr name="TextBox 14" id="14"/>
          <p:cNvSpPr txBox="true"/>
          <p:nvPr/>
        </p:nvSpPr>
        <p:spPr>
          <a:xfrm rot="0">
            <a:off x="1028700" y="6477787"/>
            <a:ext cx="7469659" cy="431546"/>
          </a:xfrm>
          <a:prstGeom prst="rect">
            <a:avLst/>
          </a:prstGeom>
        </p:spPr>
        <p:txBody>
          <a:bodyPr anchor="t" rtlCol="false" tIns="0" lIns="0" bIns="0" rIns="0">
            <a:spAutoFit/>
          </a:bodyPr>
          <a:lstStyle/>
          <a:p>
            <a:pPr algn="ctr">
              <a:lnSpc>
                <a:spcPts val="2911"/>
              </a:lnSpc>
            </a:pPr>
            <a:r>
              <a:rPr lang="en-US" b="true" sz="2799" spc="-55">
                <a:solidFill>
                  <a:srgbClr val="000000"/>
                </a:solidFill>
                <a:latin typeface="Helvetica World Bold"/>
                <a:ea typeface="Helvetica World Bold"/>
                <a:cs typeface="Helvetica World Bold"/>
                <a:sym typeface="Helvetica World Bold"/>
              </a:rPr>
              <a:t>The Building Blocks of Software</a:t>
            </a:r>
          </a:p>
        </p:txBody>
      </p:sp>
      <p:sp>
        <p:nvSpPr>
          <p:cNvPr name="TextBox 15" id="15"/>
          <p:cNvSpPr txBox="true"/>
          <p:nvPr/>
        </p:nvSpPr>
        <p:spPr>
          <a:xfrm rot="0">
            <a:off x="8672399" y="1232570"/>
            <a:ext cx="9465323" cy="6970062"/>
          </a:xfrm>
          <a:prstGeom prst="rect">
            <a:avLst/>
          </a:prstGeom>
        </p:spPr>
        <p:txBody>
          <a:bodyPr anchor="t" rtlCol="false" tIns="0" lIns="0" bIns="0" rIns="0">
            <a:spAutoFit/>
          </a:bodyPr>
          <a:lstStyle/>
          <a:p>
            <a:pPr algn="l">
              <a:lnSpc>
                <a:spcPts val="3082"/>
              </a:lnSpc>
            </a:pPr>
          </a:p>
          <a:p>
            <a:pPr algn="l">
              <a:lnSpc>
                <a:spcPts val="3082"/>
              </a:lnSpc>
            </a:pPr>
            <a:r>
              <a:rPr lang="en-US" sz="2201" i="true" spc="-44">
                <a:solidFill>
                  <a:srgbClr val="F7F7F7"/>
                </a:solidFill>
                <a:latin typeface="Glacial Indifference Italics"/>
                <a:ea typeface="Glacial Indifference Italics"/>
                <a:cs typeface="Glacial Indifference Italics"/>
                <a:sym typeface="Glacial Indifference Italics"/>
              </a:rPr>
              <a:t>Programming languages are used to develop websites, software applications, mobile apps, and computer systems. Each language has its own features and uses, depending on the type of project.</a:t>
            </a:r>
          </a:p>
          <a:p>
            <a:pPr algn="l">
              <a:lnSpc>
                <a:spcPts val="3082"/>
              </a:lnSpc>
            </a:pPr>
            <a:r>
              <a:rPr lang="en-US" b="true" sz="2201" i="true" spc="-44" u="sng">
                <a:solidFill>
                  <a:srgbClr val="F7F7F7"/>
                </a:solidFill>
                <a:latin typeface="Glacial Indifference Bold Italics"/>
                <a:ea typeface="Glacial Indifference Bold Italics"/>
                <a:cs typeface="Glacial Indifference Bold Italics"/>
                <a:sym typeface="Glacial Indifference Bold Italics"/>
              </a:rPr>
              <a:t>Python</a:t>
            </a:r>
            <a:r>
              <a:rPr lang="en-US" sz="2201" i="true" spc="-44">
                <a:solidFill>
                  <a:srgbClr val="F7F7F7"/>
                </a:solidFill>
                <a:latin typeface="Glacial Indifference Italics"/>
                <a:ea typeface="Glacial Indifference Italics"/>
                <a:cs typeface="Glacial Indifference Italics"/>
                <a:sym typeface="Glacial Indifference Italics"/>
              </a:rPr>
              <a:t> is known for its simple syntax and readability. It is used in web development, automation, data analysis, and artificial intelligence.</a:t>
            </a:r>
          </a:p>
          <a:p>
            <a:pPr algn="l">
              <a:lnSpc>
                <a:spcPts val="3082"/>
              </a:lnSpc>
            </a:pPr>
            <a:r>
              <a:rPr lang="en-US" b="true" sz="2201" i="true" spc="-44" u="sng">
                <a:solidFill>
                  <a:srgbClr val="F7F7F7"/>
                </a:solidFill>
                <a:latin typeface="Glacial Indifference Bold Italics"/>
                <a:ea typeface="Glacial Indifference Bold Italics"/>
                <a:cs typeface="Glacial Indifference Bold Italics"/>
                <a:sym typeface="Glacial Indifference Bold Italics"/>
              </a:rPr>
              <a:t>JavaScript </a:t>
            </a:r>
            <a:r>
              <a:rPr lang="en-US" sz="2201" i="true" spc="-44">
                <a:solidFill>
                  <a:srgbClr val="F7F7F7"/>
                </a:solidFill>
                <a:latin typeface="Glacial Indifference Italics"/>
                <a:ea typeface="Glacial Indifference Italics"/>
                <a:cs typeface="Glacial Indifference Italics"/>
                <a:sym typeface="Glacial Indifference Italics"/>
              </a:rPr>
              <a:t>is used to create interactive websites and dynamic user interfaces. It can also be used for backend development with Node.js.</a:t>
            </a:r>
          </a:p>
          <a:p>
            <a:pPr algn="l">
              <a:lnSpc>
                <a:spcPts val="3082"/>
              </a:lnSpc>
            </a:pPr>
            <a:r>
              <a:rPr lang="en-US" b="true" sz="2201" i="true" spc="-44" u="sng">
                <a:solidFill>
                  <a:srgbClr val="F7F7F7"/>
                </a:solidFill>
                <a:latin typeface="Glacial Indifference Bold Italics"/>
                <a:ea typeface="Glacial Indifference Bold Italics"/>
                <a:cs typeface="Glacial Indifference Bold Italics"/>
                <a:sym typeface="Glacial Indifference Bold Italics"/>
              </a:rPr>
              <a:t>Java </a:t>
            </a:r>
            <a:r>
              <a:rPr lang="en-US" sz="2201" i="true" spc="-44">
                <a:solidFill>
                  <a:srgbClr val="F7F7F7"/>
                </a:solidFill>
                <a:latin typeface="Glacial Indifference Italics"/>
                <a:ea typeface="Glacial Indifference Italics"/>
                <a:cs typeface="Glacial Indifference Italics"/>
                <a:sym typeface="Glacial Indifference Italics"/>
              </a:rPr>
              <a:t>is widely used for enterprise software, backend systems, and Android applications.</a:t>
            </a:r>
          </a:p>
          <a:p>
            <a:pPr algn="l">
              <a:lnSpc>
                <a:spcPts val="3082"/>
              </a:lnSpc>
            </a:pPr>
            <a:r>
              <a:rPr lang="en-US" b="true" sz="2201" i="true" spc="-44" u="sng">
                <a:solidFill>
                  <a:srgbClr val="F7F7F7"/>
                </a:solidFill>
                <a:latin typeface="Glacial Indifference Bold Italics"/>
                <a:ea typeface="Glacial Indifference Bold Italics"/>
                <a:cs typeface="Glacial Indifference Bold Italics"/>
                <a:sym typeface="Glacial Indifference Bold Italics"/>
              </a:rPr>
              <a:t>C++ </a:t>
            </a:r>
            <a:r>
              <a:rPr lang="en-US" sz="2201" i="true" spc="-44">
                <a:solidFill>
                  <a:srgbClr val="F7F7F7"/>
                </a:solidFill>
                <a:latin typeface="Glacial Indifference Italics"/>
                <a:ea typeface="Glacial Indifference Italics"/>
                <a:cs typeface="Glacial Indifference Italics"/>
                <a:sym typeface="Glacial Indifference Italics"/>
              </a:rPr>
              <a:t>is used in game development, system programming, and applications that require high performance.</a:t>
            </a:r>
          </a:p>
          <a:p>
            <a:pPr algn="l">
              <a:lnSpc>
                <a:spcPts val="3082"/>
              </a:lnSpc>
            </a:pPr>
            <a:r>
              <a:rPr lang="en-US" b="true" sz="2201" i="true" spc="-44" u="sng">
                <a:solidFill>
                  <a:srgbClr val="F7F7F7"/>
                </a:solidFill>
                <a:latin typeface="Glacial Indifference Bold Italics"/>
                <a:ea typeface="Glacial Indifference Bold Italics"/>
                <a:cs typeface="Glacial Indifference Bold Italics"/>
                <a:sym typeface="Glacial Indifference Bold Italics"/>
              </a:rPr>
              <a:t>C#</a:t>
            </a:r>
            <a:r>
              <a:rPr lang="en-US" sz="2201" i="true" spc="-44">
                <a:solidFill>
                  <a:srgbClr val="F7F7F7"/>
                </a:solidFill>
                <a:latin typeface="Glacial Indifference Italics"/>
                <a:ea typeface="Glacial Indifference Italics"/>
                <a:cs typeface="Glacial Indifference Italics"/>
                <a:sym typeface="Glacial Indifference Italics"/>
              </a:rPr>
              <a:t> is used to develop web applications, desktop software, and enterprise solutions with the .NET platform.</a:t>
            </a:r>
          </a:p>
          <a:p>
            <a:pPr algn="l">
              <a:lnSpc>
                <a:spcPts val="3345"/>
              </a:lnSpc>
            </a:pPr>
            <a:r>
              <a:rPr lang="en-US" b="true" sz="2389" i="true" spc="-47" u="sng">
                <a:solidFill>
                  <a:srgbClr val="F7F7F7"/>
                </a:solidFill>
                <a:latin typeface="Glacial Indifference Bold Italics"/>
                <a:ea typeface="Glacial Indifference Bold Italics"/>
                <a:cs typeface="Glacial Indifference Bold Italics"/>
                <a:sym typeface="Glacial Indifference Bold Italics"/>
              </a:rPr>
              <a:t>PHP </a:t>
            </a:r>
            <a:r>
              <a:rPr lang="en-US" sz="2389" i="true" spc="-47">
                <a:solidFill>
                  <a:srgbClr val="F7F7F7"/>
                </a:solidFill>
                <a:latin typeface="Glacial Indifference Italics"/>
                <a:ea typeface="Glacial Indifference Italics"/>
                <a:cs typeface="Glacial Indifference Italics"/>
                <a:sym typeface="Glacial Indifference Italics"/>
              </a:rPr>
              <a:t>is a server-side programming language used to build dynamic websites and web applications.</a:t>
            </a:r>
          </a:p>
          <a:p>
            <a:pPr algn="l">
              <a:lnSpc>
                <a:spcPts val="3082"/>
              </a:lnSpc>
            </a:pPr>
          </a:p>
          <a:p>
            <a:pPr algn="l">
              <a:lnSpc>
                <a:spcPts val="3082"/>
              </a:lnSpc>
            </a:pPr>
          </a:p>
        </p:txBody>
      </p:sp>
      <p:grpSp>
        <p:nvGrpSpPr>
          <p:cNvPr name="Group 16" id="16"/>
          <p:cNvGrpSpPr/>
          <p:nvPr/>
        </p:nvGrpSpPr>
        <p:grpSpPr>
          <a:xfrm rot="0">
            <a:off x="16635046" y="6392336"/>
            <a:ext cx="624254" cy="62425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100000"/>
                  </a:srgbClr>
                </a:gs>
                <a:gs pos="100000">
                  <a:srgbClr val="004AAD">
                    <a:alpha val="100000"/>
                  </a:srgbClr>
                </a:gs>
              </a:gsLst>
              <a:lin ang="0"/>
            </a:gradFill>
          </p:spPr>
        </p:sp>
        <p:sp>
          <p:nvSpPr>
            <p:cNvPr name="TextBox 18" id="18"/>
            <p:cNvSpPr txBox="true"/>
            <p:nvPr/>
          </p:nvSpPr>
          <p:spPr>
            <a:xfrm>
              <a:off x="76200" y="123825"/>
              <a:ext cx="660400" cy="612775"/>
            </a:xfrm>
            <a:prstGeom prst="rect">
              <a:avLst/>
            </a:prstGeom>
          </p:spPr>
          <p:txBody>
            <a:bodyPr anchor="ctr" rtlCol="false" tIns="50800" lIns="50800" bIns="50800" rIns="50800"/>
            <a:lstStyle/>
            <a:p>
              <a:pPr algn="ctr">
                <a:lnSpc>
                  <a:spcPts val="1134"/>
                </a:lnSpc>
              </a:pPr>
            </a:p>
          </p:txBody>
        </p:sp>
      </p:grpSp>
      <p:sp>
        <p:nvSpPr>
          <p:cNvPr name="Freeform 19" id="19"/>
          <p:cNvSpPr/>
          <p:nvPr/>
        </p:nvSpPr>
        <p:spPr>
          <a:xfrm flipH="true" flipV="false" rot="0">
            <a:off x="16865622" y="6535285"/>
            <a:ext cx="203860" cy="338357"/>
          </a:xfrm>
          <a:custGeom>
            <a:avLst/>
            <a:gdLst/>
            <a:ahLst/>
            <a:cxnLst/>
            <a:rect r="r" b="b" t="t" l="l"/>
            <a:pathLst>
              <a:path h="338357" w="203860">
                <a:moveTo>
                  <a:pt x="203860" y="0"/>
                </a:moveTo>
                <a:lnTo>
                  <a:pt x="0" y="0"/>
                </a:lnTo>
                <a:lnTo>
                  <a:pt x="0" y="338357"/>
                </a:lnTo>
                <a:lnTo>
                  <a:pt x="203860" y="338357"/>
                </a:lnTo>
                <a:lnTo>
                  <a:pt x="20386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0" id="20"/>
          <p:cNvGrpSpPr/>
          <p:nvPr/>
        </p:nvGrpSpPr>
        <p:grpSpPr>
          <a:xfrm rot="0">
            <a:off x="1028700" y="7644540"/>
            <a:ext cx="4752943" cy="3013697"/>
            <a:chOff x="0" y="0"/>
            <a:chExt cx="1251804" cy="793731"/>
          </a:xfrm>
        </p:grpSpPr>
        <p:sp>
          <p:nvSpPr>
            <p:cNvPr name="Freeform 21" id="21"/>
            <p:cNvSpPr/>
            <p:nvPr/>
          </p:nvSpPr>
          <p:spPr>
            <a:xfrm flipH="false" flipV="false" rot="0">
              <a:off x="0" y="0"/>
              <a:ext cx="1251804" cy="793731"/>
            </a:xfrm>
            <a:custGeom>
              <a:avLst/>
              <a:gdLst/>
              <a:ahLst/>
              <a:cxnLst/>
              <a:rect r="r" b="b" t="t" l="l"/>
              <a:pathLst>
                <a:path h="793731" w="1251804">
                  <a:moveTo>
                    <a:pt x="81443" y="0"/>
                  </a:moveTo>
                  <a:lnTo>
                    <a:pt x="1170360" y="0"/>
                  </a:lnTo>
                  <a:cubicBezTo>
                    <a:pt x="1215340" y="0"/>
                    <a:pt x="1251804" y="36463"/>
                    <a:pt x="1251804" y="81443"/>
                  </a:cubicBezTo>
                  <a:lnTo>
                    <a:pt x="1251804" y="712288"/>
                  </a:lnTo>
                  <a:cubicBezTo>
                    <a:pt x="1251804" y="733888"/>
                    <a:pt x="1243223" y="754603"/>
                    <a:pt x="1227950" y="769877"/>
                  </a:cubicBezTo>
                  <a:cubicBezTo>
                    <a:pt x="1212676" y="785150"/>
                    <a:pt x="1191961" y="793731"/>
                    <a:pt x="1170360" y="793731"/>
                  </a:cubicBezTo>
                  <a:lnTo>
                    <a:pt x="81443" y="793731"/>
                  </a:lnTo>
                  <a:cubicBezTo>
                    <a:pt x="59843" y="793731"/>
                    <a:pt x="39128" y="785150"/>
                    <a:pt x="23854" y="769877"/>
                  </a:cubicBezTo>
                  <a:cubicBezTo>
                    <a:pt x="8581" y="754603"/>
                    <a:pt x="0" y="733888"/>
                    <a:pt x="0" y="712288"/>
                  </a:cubicBezTo>
                  <a:lnTo>
                    <a:pt x="0" y="81443"/>
                  </a:lnTo>
                  <a:cubicBezTo>
                    <a:pt x="0" y="59843"/>
                    <a:pt x="8581" y="39128"/>
                    <a:pt x="23854" y="23854"/>
                  </a:cubicBezTo>
                  <a:cubicBezTo>
                    <a:pt x="39128" y="8581"/>
                    <a:pt x="59843" y="0"/>
                    <a:pt x="81443" y="0"/>
                  </a:cubicBezTo>
                  <a:close/>
                </a:path>
              </a:pathLst>
            </a:custGeom>
            <a:solidFill>
              <a:srgbClr val="000000">
                <a:alpha val="49804"/>
              </a:srgbClr>
            </a:solidFill>
          </p:spPr>
        </p:sp>
        <p:sp>
          <p:nvSpPr>
            <p:cNvPr name="TextBox 22" id="22"/>
            <p:cNvSpPr txBox="true"/>
            <p:nvPr/>
          </p:nvSpPr>
          <p:spPr>
            <a:xfrm>
              <a:off x="0" y="47625"/>
              <a:ext cx="1251804" cy="746106"/>
            </a:xfrm>
            <a:prstGeom prst="rect">
              <a:avLst/>
            </a:prstGeom>
          </p:spPr>
          <p:txBody>
            <a:bodyPr anchor="ctr" rtlCol="false" tIns="50800" lIns="50800" bIns="50800" rIns="50800"/>
            <a:lstStyle/>
            <a:p>
              <a:pPr algn="ctr">
                <a:lnSpc>
                  <a:spcPts val="1134"/>
                </a:lnSpc>
              </a:pPr>
            </a:p>
          </p:txBody>
        </p:sp>
      </p:grpSp>
      <p:grpSp>
        <p:nvGrpSpPr>
          <p:cNvPr name="Group 23" id="23"/>
          <p:cNvGrpSpPr/>
          <p:nvPr/>
        </p:nvGrpSpPr>
        <p:grpSpPr>
          <a:xfrm rot="0">
            <a:off x="1028700" y="7644540"/>
            <a:ext cx="4752943" cy="3013697"/>
            <a:chOff x="0" y="0"/>
            <a:chExt cx="1251804" cy="793731"/>
          </a:xfrm>
        </p:grpSpPr>
        <p:sp>
          <p:nvSpPr>
            <p:cNvPr name="Freeform 24" id="24"/>
            <p:cNvSpPr/>
            <p:nvPr/>
          </p:nvSpPr>
          <p:spPr>
            <a:xfrm flipH="false" flipV="false" rot="0">
              <a:off x="0" y="0"/>
              <a:ext cx="1251804" cy="793731"/>
            </a:xfrm>
            <a:custGeom>
              <a:avLst/>
              <a:gdLst/>
              <a:ahLst/>
              <a:cxnLst/>
              <a:rect r="r" b="b" t="t" l="l"/>
              <a:pathLst>
                <a:path h="793731" w="1251804">
                  <a:moveTo>
                    <a:pt x="81443" y="0"/>
                  </a:moveTo>
                  <a:lnTo>
                    <a:pt x="1170360" y="0"/>
                  </a:lnTo>
                  <a:cubicBezTo>
                    <a:pt x="1215340" y="0"/>
                    <a:pt x="1251804" y="36463"/>
                    <a:pt x="1251804" y="81443"/>
                  </a:cubicBezTo>
                  <a:lnTo>
                    <a:pt x="1251804" y="712288"/>
                  </a:lnTo>
                  <a:cubicBezTo>
                    <a:pt x="1251804" y="733888"/>
                    <a:pt x="1243223" y="754603"/>
                    <a:pt x="1227950" y="769877"/>
                  </a:cubicBezTo>
                  <a:cubicBezTo>
                    <a:pt x="1212676" y="785150"/>
                    <a:pt x="1191961" y="793731"/>
                    <a:pt x="1170360" y="793731"/>
                  </a:cubicBezTo>
                  <a:lnTo>
                    <a:pt x="81443" y="793731"/>
                  </a:lnTo>
                  <a:cubicBezTo>
                    <a:pt x="59843" y="793731"/>
                    <a:pt x="39128" y="785150"/>
                    <a:pt x="23854" y="769877"/>
                  </a:cubicBezTo>
                  <a:cubicBezTo>
                    <a:pt x="8581" y="754603"/>
                    <a:pt x="0" y="733888"/>
                    <a:pt x="0" y="712288"/>
                  </a:cubicBezTo>
                  <a:lnTo>
                    <a:pt x="0" y="81443"/>
                  </a:lnTo>
                  <a:cubicBezTo>
                    <a:pt x="0" y="59843"/>
                    <a:pt x="8581" y="39128"/>
                    <a:pt x="23854" y="23854"/>
                  </a:cubicBezTo>
                  <a:cubicBezTo>
                    <a:pt x="39128" y="8581"/>
                    <a:pt x="59843" y="0"/>
                    <a:pt x="81443" y="0"/>
                  </a:cubicBezTo>
                  <a:close/>
                </a:path>
              </a:pathLst>
            </a:custGeom>
            <a:ln w="19050" cap="rnd">
              <a:gradFill>
                <a:gsLst>
                  <a:gs pos="0">
                    <a:srgbClr val="5DE0E6">
                      <a:alpha val="100000"/>
                    </a:srgbClr>
                  </a:gs>
                  <a:gs pos="100000">
                    <a:srgbClr val="004AAD">
                      <a:alpha val="100000"/>
                    </a:srgbClr>
                  </a:gs>
                </a:gsLst>
                <a:lin ang="0"/>
              </a:gradFill>
              <a:prstDash val="solid"/>
              <a:round/>
            </a:ln>
          </p:spPr>
        </p:sp>
        <p:sp>
          <p:nvSpPr>
            <p:cNvPr name="TextBox 25" id="25"/>
            <p:cNvSpPr txBox="true"/>
            <p:nvPr/>
          </p:nvSpPr>
          <p:spPr>
            <a:xfrm>
              <a:off x="0" y="47625"/>
              <a:ext cx="1251804" cy="746106"/>
            </a:xfrm>
            <a:prstGeom prst="rect">
              <a:avLst/>
            </a:prstGeom>
          </p:spPr>
          <p:txBody>
            <a:bodyPr anchor="ctr" rtlCol="false" tIns="50800" lIns="50800" bIns="50800" rIns="50800"/>
            <a:lstStyle/>
            <a:p>
              <a:pPr algn="ctr">
                <a:lnSpc>
                  <a:spcPts val="1134"/>
                </a:lnSpc>
              </a:pPr>
            </a:p>
          </p:txBody>
        </p:sp>
      </p:grpSp>
      <p:grpSp>
        <p:nvGrpSpPr>
          <p:cNvPr name="Group 26" id="26"/>
          <p:cNvGrpSpPr/>
          <p:nvPr/>
        </p:nvGrpSpPr>
        <p:grpSpPr>
          <a:xfrm rot="0">
            <a:off x="6767528" y="7644540"/>
            <a:ext cx="4752943" cy="3013697"/>
            <a:chOff x="0" y="0"/>
            <a:chExt cx="1251804" cy="793731"/>
          </a:xfrm>
        </p:grpSpPr>
        <p:sp>
          <p:nvSpPr>
            <p:cNvPr name="Freeform 27" id="27"/>
            <p:cNvSpPr/>
            <p:nvPr/>
          </p:nvSpPr>
          <p:spPr>
            <a:xfrm flipH="false" flipV="false" rot="0">
              <a:off x="0" y="0"/>
              <a:ext cx="1251804" cy="793731"/>
            </a:xfrm>
            <a:custGeom>
              <a:avLst/>
              <a:gdLst/>
              <a:ahLst/>
              <a:cxnLst/>
              <a:rect r="r" b="b" t="t" l="l"/>
              <a:pathLst>
                <a:path h="793731" w="1251804">
                  <a:moveTo>
                    <a:pt x="81443" y="0"/>
                  </a:moveTo>
                  <a:lnTo>
                    <a:pt x="1170360" y="0"/>
                  </a:lnTo>
                  <a:cubicBezTo>
                    <a:pt x="1215340" y="0"/>
                    <a:pt x="1251804" y="36463"/>
                    <a:pt x="1251804" y="81443"/>
                  </a:cubicBezTo>
                  <a:lnTo>
                    <a:pt x="1251804" y="712288"/>
                  </a:lnTo>
                  <a:cubicBezTo>
                    <a:pt x="1251804" y="733888"/>
                    <a:pt x="1243223" y="754603"/>
                    <a:pt x="1227950" y="769877"/>
                  </a:cubicBezTo>
                  <a:cubicBezTo>
                    <a:pt x="1212676" y="785150"/>
                    <a:pt x="1191961" y="793731"/>
                    <a:pt x="1170360" y="793731"/>
                  </a:cubicBezTo>
                  <a:lnTo>
                    <a:pt x="81443" y="793731"/>
                  </a:lnTo>
                  <a:cubicBezTo>
                    <a:pt x="59843" y="793731"/>
                    <a:pt x="39128" y="785150"/>
                    <a:pt x="23854" y="769877"/>
                  </a:cubicBezTo>
                  <a:cubicBezTo>
                    <a:pt x="8581" y="754603"/>
                    <a:pt x="0" y="733888"/>
                    <a:pt x="0" y="712288"/>
                  </a:cubicBezTo>
                  <a:lnTo>
                    <a:pt x="0" y="81443"/>
                  </a:lnTo>
                  <a:cubicBezTo>
                    <a:pt x="0" y="59843"/>
                    <a:pt x="8581" y="39128"/>
                    <a:pt x="23854" y="23854"/>
                  </a:cubicBezTo>
                  <a:cubicBezTo>
                    <a:pt x="39128" y="8581"/>
                    <a:pt x="59843" y="0"/>
                    <a:pt x="81443" y="0"/>
                  </a:cubicBezTo>
                  <a:close/>
                </a:path>
              </a:pathLst>
            </a:custGeom>
            <a:solidFill>
              <a:srgbClr val="000000">
                <a:alpha val="49804"/>
              </a:srgbClr>
            </a:solidFill>
          </p:spPr>
        </p:sp>
        <p:sp>
          <p:nvSpPr>
            <p:cNvPr name="TextBox 28" id="28"/>
            <p:cNvSpPr txBox="true"/>
            <p:nvPr/>
          </p:nvSpPr>
          <p:spPr>
            <a:xfrm>
              <a:off x="0" y="47625"/>
              <a:ext cx="1251804" cy="746106"/>
            </a:xfrm>
            <a:prstGeom prst="rect">
              <a:avLst/>
            </a:prstGeom>
          </p:spPr>
          <p:txBody>
            <a:bodyPr anchor="ctr" rtlCol="false" tIns="50800" lIns="50800" bIns="50800" rIns="50800"/>
            <a:lstStyle/>
            <a:p>
              <a:pPr algn="ctr">
                <a:lnSpc>
                  <a:spcPts val="1134"/>
                </a:lnSpc>
              </a:pPr>
            </a:p>
          </p:txBody>
        </p:sp>
      </p:grpSp>
      <p:grpSp>
        <p:nvGrpSpPr>
          <p:cNvPr name="Group 29" id="29"/>
          <p:cNvGrpSpPr/>
          <p:nvPr/>
        </p:nvGrpSpPr>
        <p:grpSpPr>
          <a:xfrm rot="0">
            <a:off x="6767528" y="7644540"/>
            <a:ext cx="4752943" cy="3013697"/>
            <a:chOff x="0" y="0"/>
            <a:chExt cx="1251804" cy="793731"/>
          </a:xfrm>
        </p:grpSpPr>
        <p:sp>
          <p:nvSpPr>
            <p:cNvPr name="Freeform 30" id="30"/>
            <p:cNvSpPr/>
            <p:nvPr/>
          </p:nvSpPr>
          <p:spPr>
            <a:xfrm flipH="false" flipV="false" rot="0">
              <a:off x="0" y="0"/>
              <a:ext cx="1251804" cy="793731"/>
            </a:xfrm>
            <a:custGeom>
              <a:avLst/>
              <a:gdLst/>
              <a:ahLst/>
              <a:cxnLst/>
              <a:rect r="r" b="b" t="t" l="l"/>
              <a:pathLst>
                <a:path h="793731" w="1251804">
                  <a:moveTo>
                    <a:pt x="81443" y="0"/>
                  </a:moveTo>
                  <a:lnTo>
                    <a:pt x="1170360" y="0"/>
                  </a:lnTo>
                  <a:cubicBezTo>
                    <a:pt x="1215340" y="0"/>
                    <a:pt x="1251804" y="36463"/>
                    <a:pt x="1251804" y="81443"/>
                  </a:cubicBezTo>
                  <a:lnTo>
                    <a:pt x="1251804" y="712288"/>
                  </a:lnTo>
                  <a:cubicBezTo>
                    <a:pt x="1251804" y="733888"/>
                    <a:pt x="1243223" y="754603"/>
                    <a:pt x="1227950" y="769877"/>
                  </a:cubicBezTo>
                  <a:cubicBezTo>
                    <a:pt x="1212676" y="785150"/>
                    <a:pt x="1191961" y="793731"/>
                    <a:pt x="1170360" y="793731"/>
                  </a:cubicBezTo>
                  <a:lnTo>
                    <a:pt x="81443" y="793731"/>
                  </a:lnTo>
                  <a:cubicBezTo>
                    <a:pt x="59843" y="793731"/>
                    <a:pt x="39128" y="785150"/>
                    <a:pt x="23854" y="769877"/>
                  </a:cubicBezTo>
                  <a:cubicBezTo>
                    <a:pt x="8581" y="754603"/>
                    <a:pt x="0" y="733888"/>
                    <a:pt x="0" y="712288"/>
                  </a:cubicBezTo>
                  <a:lnTo>
                    <a:pt x="0" y="81443"/>
                  </a:lnTo>
                  <a:cubicBezTo>
                    <a:pt x="0" y="59843"/>
                    <a:pt x="8581" y="39128"/>
                    <a:pt x="23854" y="23854"/>
                  </a:cubicBezTo>
                  <a:cubicBezTo>
                    <a:pt x="39128" y="8581"/>
                    <a:pt x="59843" y="0"/>
                    <a:pt x="81443" y="0"/>
                  </a:cubicBezTo>
                  <a:close/>
                </a:path>
              </a:pathLst>
            </a:custGeom>
            <a:ln w="19050" cap="rnd">
              <a:gradFill>
                <a:gsLst>
                  <a:gs pos="0">
                    <a:srgbClr val="5DE0E6">
                      <a:alpha val="100000"/>
                    </a:srgbClr>
                  </a:gs>
                  <a:gs pos="100000">
                    <a:srgbClr val="004AAD">
                      <a:alpha val="100000"/>
                    </a:srgbClr>
                  </a:gs>
                </a:gsLst>
                <a:lin ang="0"/>
              </a:gradFill>
              <a:prstDash val="solid"/>
              <a:round/>
            </a:ln>
          </p:spPr>
        </p:sp>
        <p:sp>
          <p:nvSpPr>
            <p:cNvPr name="TextBox 31" id="31"/>
            <p:cNvSpPr txBox="true"/>
            <p:nvPr/>
          </p:nvSpPr>
          <p:spPr>
            <a:xfrm>
              <a:off x="0" y="47625"/>
              <a:ext cx="1251804" cy="746106"/>
            </a:xfrm>
            <a:prstGeom prst="rect">
              <a:avLst/>
            </a:prstGeom>
          </p:spPr>
          <p:txBody>
            <a:bodyPr anchor="ctr" rtlCol="false" tIns="50800" lIns="50800" bIns="50800" rIns="50800"/>
            <a:lstStyle/>
            <a:p>
              <a:pPr algn="ctr">
                <a:lnSpc>
                  <a:spcPts val="1134"/>
                </a:lnSpc>
              </a:pPr>
            </a:p>
          </p:txBody>
        </p:sp>
      </p:grpSp>
      <p:grpSp>
        <p:nvGrpSpPr>
          <p:cNvPr name="Group 32" id="32"/>
          <p:cNvGrpSpPr/>
          <p:nvPr/>
        </p:nvGrpSpPr>
        <p:grpSpPr>
          <a:xfrm rot="0">
            <a:off x="12506357" y="7644540"/>
            <a:ext cx="4752943" cy="3013697"/>
            <a:chOff x="0" y="0"/>
            <a:chExt cx="1251804" cy="793731"/>
          </a:xfrm>
        </p:grpSpPr>
        <p:sp>
          <p:nvSpPr>
            <p:cNvPr name="Freeform 33" id="33"/>
            <p:cNvSpPr/>
            <p:nvPr/>
          </p:nvSpPr>
          <p:spPr>
            <a:xfrm flipH="false" flipV="false" rot="0">
              <a:off x="0" y="0"/>
              <a:ext cx="1251804" cy="793731"/>
            </a:xfrm>
            <a:custGeom>
              <a:avLst/>
              <a:gdLst/>
              <a:ahLst/>
              <a:cxnLst/>
              <a:rect r="r" b="b" t="t" l="l"/>
              <a:pathLst>
                <a:path h="793731" w="1251804">
                  <a:moveTo>
                    <a:pt x="81443" y="0"/>
                  </a:moveTo>
                  <a:lnTo>
                    <a:pt x="1170360" y="0"/>
                  </a:lnTo>
                  <a:cubicBezTo>
                    <a:pt x="1215340" y="0"/>
                    <a:pt x="1251804" y="36463"/>
                    <a:pt x="1251804" y="81443"/>
                  </a:cubicBezTo>
                  <a:lnTo>
                    <a:pt x="1251804" y="712288"/>
                  </a:lnTo>
                  <a:cubicBezTo>
                    <a:pt x="1251804" y="733888"/>
                    <a:pt x="1243223" y="754603"/>
                    <a:pt x="1227950" y="769877"/>
                  </a:cubicBezTo>
                  <a:cubicBezTo>
                    <a:pt x="1212676" y="785150"/>
                    <a:pt x="1191961" y="793731"/>
                    <a:pt x="1170360" y="793731"/>
                  </a:cubicBezTo>
                  <a:lnTo>
                    <a:pt x="81443" y="793731"/>
                  </a:lnTo>
                  <a:cubicBezTo>
                    <a:pt x="59843" y="793731"/>
                    <a:pt x="39128" y="785150"/>
                    <a:pt x="23854" y="769877"/>
                  </a:cubicBezTo>
                  <a:cubicBezTo>
                    <a:pt x="8581" y="754603"/>
                    <a:pt x="0" y="733888"/>
                    <a:pt x="0" y="712288"/>
                  </a:cubicBezTo>
                  <a:lnTo>
                    <a:pt x="0" y="81443"/>
                  </a:lnTo>
                  <a:cubicBezTo>
                    <a:pt x="0" y="59843"/>
                    <a:pt x="8581" y="39128"/>
                    <a:pt x="23854" y="23854"/>
                  </a:cubicBezTo>
                  <a:cubicBezTo>
                    <a:pt x="39128" y="8581"/>
                    <a:pt x="59843" y="0"/>
                    <a:pt x="81443" y="0"/>
                  </a:cubicBezTo>
                  <a:close/>
                </a:path>
              </a:pathLst>
            </a:custGeom>
            <a:solidFill>
              <a:srgbClr val="000000">
                <a:alpha val="49804"/>
              </a:srgbClr>
            </a:solidFill>
          </p:spPr>
        </p:sp>
        <p:sp>
          <p:nvSpPr>
            <p:cNvPr name="TextBox 34" id="34"/>
            <p:cNvSpPr txBox="true"/>
            <p:nvPr/>
          </p:nvSpPr>
          <p:spPr>
            <a:xfrm>
              <a:off x="0" y="47625"/>
              <a:ext cx="1251804" cy="746106"/>
            </a:xfrm>
            <a:prstGeom prst="rect">
              <a:avLst/>
            </a:prstGeom>
          </p:spPr>
          <p:txBody>
            <a:bodyPr anchor="ctr" rtlCol="false" tIns="50800" lIns="50800" bIns="50800" rIns="50800"/>
            <a:lstStyle/>
            <a:p>
              <a:pPr algn="ctr">
                <a:lnSpc>
                  <a:spcPts val="1134"/>
                </a:lnSpc>
              </a:pPr>
            </a:p>
          </p:txBody>
        </p:sp>
      </p:grpSp>
      <p:grpSp>
        <p:nvGrpSpPr>
          <p:cNvPr name="Group 35" id="35"/>
          <p:cNvGrpSpPr/>
          <p:nvPr/>
        </p:nvGrpSpPr>
        <p:grpSpPr>
          <a:xfrm rot="0">
            <a:off x="12506357" y="7644540"/>
            <a:ext cx="4752943" cy="3013697"/>
            <a:chOff x="0" y="0"/>
            <a:chExt cx="1251804" cy="793731"/>
          </a:xfrm>
        </p:grpSpPr>
        <p:sp>
          <p:nvSpPr>
            <p:cNvPr name="Freeform 36" id="36"/>
            <p:cNvSpPr/>
            <p:nvPr/>
          </p:nvSpPr>
          <p:spPr>
            <a:xfrm flipH="false" flipV="false" rot="0">
              <a:off x="0" y="0"/>
              <a:ext cx="1251804" cy="793731"/>
            </a:xfrm>
            <a:custGeom>
              <a:avLst/>
              <a:gdLst/>
              <a:ahLst/>
              <a:cxnLst/>
              <a:rect r="r" b="b" t="t" l="l"/>
              <a:pathLst>
                <a:path h="793731" w="1251804">
                  <a:moveTo>
                    <a:pt x="81443" y="0"/>
                  </a:moveTo>
                  <a:lnTo>
                    <a:pt x="1170360" y="0"/>
                  </a:lnTo>
                  <a:cubicBezTo>
                    <a:pt x="1215340" y="0"/>
                    <a:pt x="1251804" y="36463"/>
                    <a:pt x="1251804" y="81443"/>
                  </a:cubicBezTo>
                  <a:lnTo>
                    <a:pt x="1251804" y="712288"/>
                  </a:lnTo>
                  <a:cubicBezTo>
                    <a:pt x="1251804" y="733888"/>
                    <a:pt x="1243223" y="754603"/>
                    <a:pt x="1227950" y="769877"/>
                  </a:cubicBezTo>
                  <a:cubicBezTo>
                    <a:pt x="1212676" y="785150"/>
                    <a:pt x="1191961" y="793731"/>
                    <a:pt x="1170360" y="793731"/>
                  </a:cubicBezTo>
                  <a:lnTo>
                    <a:pt x="81443" y="793731"/>
                  </a:lnTo>
                  <a:cubicBezTo>
                    <a:pt x="59843" y="793731"/>
                    <a:pt x="39128" y="785150"/>
                    <a:pt x="23854" y="769877"/>
                  </a:cubicBezTo>
                  <a:cubicBezTo>
                    <a:pt x="8581" y="754603"/>
                    <a:pt x="0" y="733888"/>
                    <a:pt x="0" y="712288"/>
                  </a:cubicBezTo>
                  <a:lnTo>
                    <a:pt x="0" y="81443"/>
                  </a:lnTo>
                  <a:cubicBezTo>
                    <a:pt x="0" y="59843"/>
                    <a:pt x="8581" y="39128"/>
                    <a:pt x="23854" y="23854"/>
                  </a:cubicBezTo>
                  <a:cubicBezTo>
                    <a:pt x="39128" y="8581"/>
                    <a:pt x="59843" y="0"/>
                    <a:pt x="81443" y="0"/>
                  </a:cubicBezTo>
                  <a:close/>
                </a:path>
              </a:pathLst>
            </a:custGeom>
            <a:ln w="19050" cap="rnd">
              <a:gradFill>
                <a:gsLst>
                  <a:gs pos="0">
                    <a:srgbClr val="5DE0E6">
                      <a:alpha val="100000"/>
                    </a:srgbClr>
                  </a:gs>
                  <a:gs pos="100000">
                    <a:srgbClr val="004AAD">
                      <a:alpha val="100000"/>
                    </a:srgbClr>
                  </a:gs>
                </a:gsLst>
                <a:lin ang="0"/>
              </a:gradFill>
              <a:prstDash val="solid"/>
              <a:round/>
            </a:ln>
          </p:spPr>
        </p:sp>
        <p:sp>
          <p:nvSpPr>
            <p:cNvPr name="TextBox 37" id="37"/>
            <p:cNvSpPr txBox="true"/>
            <p:nvPr/>
          </p:nvSpPr>
          <p:spPr>
            <a:xfrm>
              <a:off x="0" y="47625"/>
              <a:ext cx="1251804" cy="746106"/>
            </a:xfrm>
            <a:prstGeom prst="rect">
              <a:avLst/>
            </a:prstGeom>
          </p:spPr>
          <p:txBody>
            <a:bodyPr anchor="ctr" rtlCol="false" tIns="50800" lIns="50800" bIns="50800" rIns="50800"/>
            <a:lstStyle/>
            <a:p>
              <a:pPr algn="ctr">
                <a:lnSpc>
                  <a:spcPts val="1134"/>
                </a:lnSpc>
              </a:pPr>
            </a:p>
          </p:txBody>
        </p:sp>
      </p:grpSp>
      <p:sp>
        <p:nvSpPr>
          <p:cNvPr name="TextBox 38" id="38"/>
          <p:cNvSpPr txBox="true"/>
          <p:nvPr/>
        </p:nvSpPr>
        <p:spPr>
          <a:xfrm rot="0">
            <a:off x="1635575" y="8366489"/>
            <a:ext cx="3539192" cy="844296"/>
          </a:xfrm>
          <a:prstGeom prst="rect">
            <a:avLst/>
          </a:prstGeom>
        </p:spPr>
        <p:txBody>
          <a:bodyPr anchor="t" rtlCol="false" tIns="0" lIns="0" bIns="0" rIns="0">
            <a:spAutoFit/>
          </a:bodyPr>
          <a:lstStyle/>
          <a:p>
            <a:pPr algn="ctr">
              <a:lnSpc>
                <a:spcPts val="2911"/>
              </a:lnSpc>
            </a:pPr>
            <a:r>
              <a:rPr lang="en-US" b="true" sz="2799" spc="-55">
                <a:solidFill>
                  <a:srgbClr val="F7F7F7"/>
                </a:solidFill>
                <a:latin typeface="Helvetica World Bold"/>
                <a:ea typeface="Helvetica World Bold"/>
                <a:cs typeface="Helvetica World Bold"/>
                <a:sym typeface="Helvetica World Bold"/>
              </a:rPr>
              <a:t>Python: Versatile and beginner-friendly</a:t>
            </a:r>
          </a:p>
        </p:txBody>
      </p:sp>
      <p:sp>
        <p:nvSpPr>
          <p:cNvPr name="TextBox 39" id="39"/>
          <p:cNvSpPr txBox="true"/>
          <p:nvPr/>
        </p:nvSpPr>
        <p:spPr>
          <a:xfrm rot="0">
            <a:off x="7374404" y="8366489"/>
            <a:ext cx="3539192" cy="844296"/>
          </a:xfrm>
          <a:prstGeom prst="rect">
            <a:avLst/>
          </a:prstGeom>
        </p:spPr>
        <p:txBody>
          <a:bodyPr anchor="t" rtlCol="false" tIns="0" lIns="0" bIns="0" rIns="0">
            <a:spAutoFit/>
          </a:bodyPr>
          <a:lstStyle/>
          <a:p>
            <a:pPr algn="ctr">
              <a:lnSpc>
                <a:spcPts val="2911"/>
              </a:lnSpc>
            </a:pPr>
            <a:r>
              <a:rPr lang="en-US" b="true" sz="2799" spc="-55">
                <a:solidFill>
                  <a:srgbClr val="F7F7F7"/>
                </a:solidFill>
                <a:latin typeface="Helvetica World Bold"/>
                <a:ea typeface="Helvetica World Bold"/>
                <a:cs typeface="Helvetica World Bold"/>
                <a:sym typeface="Helvetica World Bold"/>
              </a:rPr>
              <a:t>JavaScript: Vital for web development</a:t>
            </a:r>
          </a:p>
        </p:txBody>
      </p:sp>
      <p:sp>
        <p:nvSpPr>
          <p:cNvPr name="TextBox 40" id="40"/>
          <p:cNvSpPr txBox="true"/>
          <p:nvPr/>
        </p:nvSpPr>
        <p:spPr>
          <a:xfrm rot="0">
            <a:off x="13113232" y="8366489"/>
            <a:ext cx="3539192" cy="844296"/>
          </a:xfrm>
          <a:prstGeom prst="rect">
            <a:avLst/>
          </a:prstGeom>
        </p:spPr>
        <p:txBody>
          <a:bodyPr anchor="t" rtlCol="false" tIns="0" lIns="0" bIns="0" rIns="0">
            <a:spAutoFit/>
          </a:bodyPr>
          <a:lstStyle/>
          <a:p>
            <a:pPr algn="ctr">
              <a:lnSpc>
                <a:spcPts val="2911"/>
              </a:lnSpc>
            </a:pPr>
            <a:r>
              <a:rPr lang="en-US" b="true" sz="2799" spc="-55">
                <a:solidFill>
                  <a:srgbClr val="F7F7F7"/>
                </a:solidFill>
                <a:latin typeface="Helvetica World Bold"/>
                <a:ea typeface="Helvetica World Bold"/>
                <a:cs typeface="Helvetica World Bold"/>
                <a:sym typeface="Helvetica World Bold"/>
              </a:rPr>
              <a:t>Java: Ideal for enterprise solutions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15780466" y="639280"/>
            <a:ext cx="1478834" cy="453314"/>
            <a:chOff x="0" y="0"/>
            <a:chExt cx="389487" cy="119391"/>
          </a:xfrm>
        </p:grpSpPr>
        <p:sp>
          <p:nvSpPr>
            <p:cNvPr name="Freeform 4" id="4"/>
            <p:cNvSpPr/>
            <p:nvPr/>
          </p:nvSpPr>
          <p:spPr>
            <a:xfrm flipH="false" flipV="false" rot="0">
              <a:off x="0" y="0"/>
              <a:ext cx="389487" cy="119391"/>
            </a:xfrm>
            <a:custGeom>
              <a:avLst/>
              <a:gdLst/>
              <a:ahLst/>
              <a:cxnLst/>
              <a:rect r="r" b="b" t="t" l="l"/>
              <a:pathLst>
                <a:path h="119391" w="389487">
                  <a:moveTo>
                    <a:pt x="52352" y="0"/>
                  </a:moveTo>
                  <a:lnTo>
                    <a:pt x="337136" y="0"/>
                  </a:lnTo>
                  <a:cubicBezTo>
                    <a:pt x="366049" y="0"/>
                    <a:pt x="389487" y="23439"/>
                    <a:pt x="389487" y="52352"/>
                  </a:cubicBezTo>
                  <a:lnTo>
                    <a:pt x="389487" y="67040"/>
                  </a:lnTo>
                  <a:cubicBezTo>
                    <a:pt x="389487" y="80924"/>
                    <a:pt x="383972" y="94240"/>
                    <a:pt x="374154" y="104058"/>
                  </a:cubicBezTo>
                  <a:cubicBezTo>
                    <a:pt x="364336" y="113876"/>
                    <a:pt x="351020" y="119391"/>
                    <a:pt x="337136" y="119391"/>
                  </a:cubicBezTo>
                  <a:lnTo>
                    <a:pt x="52352" y="119391"/>
                  </a:lnTo>
                  <a:cubicBezTo>
                    <a:pt x="23439" y="119391"/>
                    <a:pt x="0" y="95953"/>
                    <a:pt x="0" y="67040"/>
                  </a:cubicBezTo>
                  <a:lnTo>
                    <a:pt x="0" y="52352"/>
                  </a:lnTo>
                  <a:cubicBezTo>
                    <a:pt x="0" y="23439"/>
                    <a:pt x="23439" y="0"/>
                    <a:pt x="52352" y="0"/>
                  </a:cubicBezTo>
                  <a:close/>
                </a:path>
              </a:pathLst>
            </a:custGeom>
            <a:gradFill rotWithShape="true">
              <a:gsLst>
                <a:gs pos="0">
                  <a:srgbClr val="5DE0E6">
                    <a:alpha val="100000"/>
                  </a:srgbClr>
                </a:gs>
                <a:gs pos="100000">
                  <a:srgbClr val="004AAD">
                    <a:alpha val="100000"/>
                  </a:srgbClr>
                </a:gs>
              </a:gsLst>
              <a:lin ang="0"/>
            </a:gradFill>
            <a:ln cap="sq">
              <a:noFill/>
              <a:prstDash val="solid"/>
              <a:miter/>
            </a:ln>
          </p:spPr>
        </p:sp>
        <p:sp>
          <p:nvSpPr>
            <p:cNvPr name="TextBox 5" id="5"/>
            <p:cNvSpPr txBox="true"/>
            <p:nvPr/>
          </p:nvSpPr>
          <p:spPr>
            <a:xfrm>
              <a:off x="0" y="28575"/>
              <a:ext cx="389487" cy="90816"/>
            </a:xfrm>
            <a:prstGeom prst="rect">
              <a:avLst/>
            </a:prstGeom>
          </p:spPr>
          <p:txBody>
            <a:bodyPr anchor="ctr" rtlCol="false" tIns="50800" lIns="50800" bIns="50800" rIns="50800"/>
            <a:lstStyle/>
            <a:p>
              <a:pPr algn="ctr">
                <a:lnSpc>
                  <a:spcPts val="1134"/>
                </a:lnSpc>
              </a:pPr>
            </a:p>
          </p:txBody>
        </p:sp>
      </p:grpSp>
      <p:grpSp>
        <p:nvGrpSpPr>
          <p:cNvPr name="Group 6" id="6"/>
          <p:cNvGrpSpPr/>
          <p:nvPr/>
        </p:nvGrpSpPr>
        <p:grpSpPr>
          <a:xfrm rot="0">
            <a:off x="1028700" y="8551484"/>
            <a:ext cx="7469659" cy="684161"/>
            <a:chOff x="0" y="0"/>
            <a:chExt cx="1967318" cy="180191"/>
          </a:xfrm>
        </p:grpSpPr>
        <p:sp>
          <p:nvSpPr>
            <p:cNvPr name="Freeform 7" id="7"/>
            <p:cNvSpPr/>
            <p:nvPr/>
          </p:nvSpPr>
          <p:spPr>
            <a:xfrm flipH="false" flipV="false" rot="0">
              <a:off x="0" y="0"/>
              <a:ext cx="1967318" cy="180191"/>
            </a:xfrm>
            <a:custGeom>
              <a:avLst/>
              <a:gdLst/>
              <a:ahLst/>
              <a:cxnLst/>
              <a:rect r="r" b="b" t="t" l="l"/>
              <a:pathLst>
                <a:path h="180191" w="1967318">
                  <a:moveTo>
                    <a:pt x="31093" y="0"/>
                  </a:moveTo>
                  <a:lnTo>
                    <a:pt x="1936224" y="0"/>
                  </a:lnTo>
                  <a:cubicBezTo>
                    <a:pt x="1944471" y="0"/>
                    <a:pt x="1952379" y="3276"/>
                    <a:pt x="1958211" y="9107"/>
                  </a:cubicBezTo>
                  <a:cubicBezTo>
                    <a:pt x="1964042" y="14938"/>
                    <a:pt x="1967318" y="22847"/>
                    <a:pt x="1967318" y="31093"/>
                  </a:cubicBezTo>
                  <a:lnTo>
                    <a:pt x="1967318" y="149097"/>
                  </a:lnTo>
                  <a:cubicBezTo>
                    <a:pt x="1967318" y="157344"/>
                    <a:pt x="1964042" y="165252"/>
                    <a:pt x="1958211" y="171083"/>
                  </a:cubicBezTo>
                  <a:cubicBezTo>
                    <a:pt x="1952379" y="176915"/>
                    <a:pt x="1944471" y="180191"/>
                    <a:pt x="1936224" y="180191"/>
                  </a:cubicBezTo>
                  <a:lnTo>
                    <a:pt x="31093" y="180191"/>
                  </a:lnTo>
                  <a:cubicBezTo>
                    <a:pt x="22847" y="180191"/>
                    <a:pt x="14938" y="176915"/>
                    <a:pt x="9107" y="171083"/>
                  </a:cubicBezTo>
                  <a:cubicBezTo>
                    <a:pt x="3276" y="165252"/>
                    <a:pt x="0" y="157344"/>
                    <a:pt x="0" y="149097"/>
                  </a:cubicBezTo>
                  <a:lnTo>
                    <a:pt x="0" y="31093"/>
                  </a:lnTo>
                  <a:cubicBezTo>
                    <a:pt x="0" y="22847"/>
                    <a:pt x="3276" y="14938"/>
                    <a:pt x="9107" y="9107"/>
                  </a:cubicBezTo>
                  <a:cubicBezTo>
                    <a:pt x="14938" y="3276"/>
                    <a:pt x="22847" y="0"/>
                    <a:pt x="31093" y="0"/>
                  </a:cubicBezTo>
                  <a:close/>
                </a:path>
              </a:pathLst>
            </a:custGeom>
            <a:gradFill rotWithShape="true">
              <a:gsLst>
                <a:gs pos="0">
                  <a:srgbClr val="5DE0E6">
                    <a:alpha val="100000"/>
                  </a:srgbClr>
                </a:gs>
                <a:gs pos="100000">
                  <a:srgbClr val="004AAD">
                    <a:alpha val="100000"/>
                  </a:srgbClr>
                </a:gs>
              </a:gsLst>
              <a:lin ang="0"/>
            </a:gradFill>
            <a:ln cap="rnd">
              <a:noFill/>
              <a:prstDash val="solid"/>
              <a:round/>
            </a:ln>
          </p:spPr>
        </p:sp>
        <p:sp>
          <p:nvSpPr>
            <p:cNvPr name="TextBox 8" id="8"/>
            <p:cNvSpPr txBox="true"/>
            <p:nvPr/>
          </p:nvSpPr>
          <p:spPr>
            <a:xfrm>
              <a:off x="0" y="28575"/>
              <a:ext cx="1967318" cy="151616"/>
            </a:xfrm>
            <a:prstGeom prst="rect">
              <a:avLst/>
            </a:prstGeom>
          </p:spPr>
          <p:txBody>
            <a:bodyPr anchor="ctr" rtlCol="false" tIns="50800" lIns="50800" bIns="50800" rIns="50800"/>
            <a:lstStyle/>
            <a:p>
              <a:pPr algn="ctr">
                <a:lnSpc>
                  <a:spcPts val="1134"/>
                </a:lnSpc>
              </a:pPr>
            </a:p>
          </p:txBody>
        </p:sp>
      </p:grpSp>
      <p:sp>
        <p:nvSpPr>
          <p:cNvPr name="TextBox 9" id="9"/>
          <p:cNvSpPr txBox="true"/>
          <p:nvPr/>
        </p:nvSpPr>
        <p:spPr>
          <a:xfrm rot="0">
            <a:off x="1028700" y="6246942"/>
            <a:ext cx="7469659" cy="2169423"/>
          </a:xfrm>
          <a:prstGeom prst="rect">
            <a:avLst/>
          </a:prstGeom>
        </p:spPr>
        <p:txBody>
          <a:bodyPr anchor="t" rtlCol="false" tIns="0" lIns="0" bIns="0" rIns="0">
            <a:spAutoFit/>
          </a:bodyPr>
          <a:lstStyle/>
          <a:p>
            <a:pPr algn="l">
              <a:lnSpc>
                <a:spcPts val="7222"/>
              </a:lnSpc>
            </a:pPr>
            <a:r>
              <a:rPr lang="en-US" b="true" sz="8702" spc="-565">
                <a:solidFill>
                  <a:srgbClr val="52CFE0"/>
                </a:solidFill>
                <a:latin typeface="Helvetica World Bold"/>
                <a:ea typeface="Helvetica World Bold"/>
                <a:cs typeface="Helvetica World Bold"/>
                <a:sym typeface="Helvetica World Bold"/>
              </a:rPr>
              <a:t>THE WORK ENVIRONMENT</a:t>
            </a:r>
          </a:p>
        </p:txBody>
      </p:sp>
      <p:sp>
        <p:nvSpPr>
          <p:cNvPr name="TextBox 10" id="10"/>
          <p:cNvSpPr txBox="true"/>
          <p:nvPr/>
        </p:nvSpPr>
        <p:spPr>
          <a:xfrm rot="0">
            <a:off x="7054987" y="807453"/>
            <a:ext cx="810952"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Home</a:t>
            </a:r>
          </a:p>
        </p:txBody>
      </p:sp>
      <p:sp>
        <p:nvSpPr>
          <p:cNvPr name="TextBox 11" id="11"/>
          <p:cNvSpPr txBox="true"/>
          <p:nvPr/>
        </p:nvSpPr>
        <p:spPr>
          <a:xfrm rot="0">
            <a:off x="8498359" y="807453"/>
            <a:ext cx="1051116"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About Us</a:t>
            </a:r>
          </a:p>
        </p:txBody>
      </p:sp>
      <p:sp>
        <p:nvSpPr>
          <p:cNvPr name="TextBox 12" id="12"/>
          <p:cNvSpPr txBox="true"/>
          <p:nvPr/>
        </p:nvSpPr>
        <p:spPr>
          <a:xfrm rot="0">
            <a:off x="10181897" y="807453"/>
            <a:ext cx="1051116"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Services</a:t>
            </a:r>
          </a:p>
        </p:txBody>
      </p:sp>
      <p:sp>
        <p:nvSpPr>
          <p:cNvPr name="TextBox 13" id="13"/>
          <p:cNvSpPr txBox="true"/>
          <p:nvPr/>
        </p:nvSpPr>
        <p:spPr>
          <a:xfrm rot="0">
            <a:off x="16034591" y="807453"/>
            <a:ext cx="970584" cy="177293"/>
          </a:xfrm>
          <a:prstGeom prst="rect">
            <a:avLst/>
          </a:prstGeom>
        </p:spPr>
        <p:txBody>
          <a:bodyPr anchor="t" rtlCol="false" tIns="0" lIns="0" bIns="0" rIns="0">
            <a:spAutoFit/>
          </a:bodyPr>
          <a:lstStyle/>
          <a:p>
            <a:pPr algn="ctr">
              <a:lnSpc>
                <a:spcPts val="1134"/>
              </a:lnSpc>
            </a:pPr>
            <a:r>
              <a:rPr lang="en-US" b="true" sz="1400" spc="-28">
                <a:solidFill>
                  <a:srgbClr val="000000"/>
                </a:solidFill>
                <a:latin typeface="Helvetica World Bold"/>
                <a:ea typeface="Helvetica World Bold"/>
                <a:cs typeface="Helvetica World Bold"/>
                <a:sym typeface="Helvetica World Bold"/>
              </a:rPr>
              <a:t>Contact</a:t>
            </a:r>
          </a:p>
        </p:txBody>
      </p:sp>
      <p:sp>
        <p:nvSpPr>
          <p:cNvPr name="TextBox 14" id="14"/>
          <p:cNvSpPr txBox="true"/>
          <p:nvPr/>
        </p:nvSpPr>
        <p:spPr>
          <a:xfrm rot="0">
            <a:off x="1028700" y="8696842"/>
            <a:ext cx="7469659" cy="431546"/>
          </a:xfrm>
          <a:prstGeom prst="rect">
            <a:avLst/>
          </a:prstGeom>
        </p:spPr>
        <p:txBody>
          <a:bodyPr anchor="t" rtlCol="false" tIns="0" lIns="0" bIns="0" rIns="0">
            <a:spAutoFit/>
          </a:bodyPr>
          <a:lstStyle/>
          <a:p>
            <a:pPr algn="ctr">
              <a:lnSpc>
                <a:spcPts val="2911"/>
              </a:lnSpc>
            </a:pPr>
            <a:r>
              <a:rPr lang="en-US" b="true" sz="2799" spc="-55">
                <a:solidFill>
                  <a:srgbClr val="000000"/>
                </a:solidFill>
                <a:latin typeface="Helvetica World Bold"/>
                <a:ea typeface="Helvetica World Bold"/>
                <a:cs typeface="Helvetica World Bold"/>
                <a:sym typeface="Helvetica World Bold"/>
              </a:rPr>
              <a:t>Where and How Programmers Work</a:t>
            </a:r>
          </a:p>
        </p:txBody>
      </p:sp>
      <p:grpSp>
        <p:nvGrpSpPr>
          <p:cNvPr name="Group 15" id="15"/>
          <p:cNvGrpSpPr/>
          <p:nvPr/>
        </p:nvGrpSpPr>
        <p:grpSpPr>
          <a:xfrm rot="0">
            <a:off x="7874105" y="6319717"/>
            <a:ext cx="624254" cy="624254"/>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100000"/>
                  </a:srgbClr>
                </a:gs>
                <a:gs pos="100000">
                  <a:srgbClr val="004AAD">
                    <a:alpha val="100000"/>
                  </a:srgbClr>
                </a:gs>
              </a:gsLst>
              <a:lin ang="0"/>
            </a:gradFill>
          </p:spPr>
        </p:sp>
        <p:sp>
          <p:nvSpPr>
            <p:cNvPr name="TextBox 17" id="17"/>
            <p:cNvSpPr txBox="true"/>
            <p:nvPr/>
          </p:nvSpPr>
          <p:spPr>
            <a:xfrm>
              <a:off x="76200" y="123825"/>
              <a:ext cx="660400" cy="612775"/>
            </a:xfrm>
            <a:prstGeom prst="rect">
              <a:avLst/>
            </a:prstGeom>
          </p:spPr>
          <p:txBody>
            <a:bodyPr anchor="ctr" rtlCol="false" tIns="50800" lIns="50800" bIns="50800" rIns="50800"/>
            <a:lstStyle/>
            <a:p>
              <a:pPr algn="ctr">
                <a:lnSpc>
                  <a:spcPts val="1134"/>
                </a:lnSpc>
              </a:pPr>
            </a:p>
          </p:txBody>
        </p:sp>
      </p:grpSp>
      <p:sp>
        <p:nvSpPr>
          <p:cNvPr name="Freeform 18" id="18"/>
          <p:cNvSpPr/>
          <p:nvPr/>
        </p:nvSpPr>
        <p:spPr>
          <a:xfrm flipH="true" flipV="false" rot="0">
            <a:off x="8104682" y="6462665"/>
            <a:ext cx="203860" cy="338357"/>
          </a:xfrm>
          <a:custGeom>
            <a:avLst/>
            <a:gdLst/>
            <a:ahLst/>
            <a:cxnLst/>
            <a:rect r="r" b="b" t="t" l="l"/>
            <a:pathLst>
              <a:path h="338357" w="203860">
                <a:moveTo>
                  <a:pt x="203860" y="0"/>
                </a:moveTo>
                <a:lnTo>
                  <a:pt x="0" y="0"/>
                </a:lnTo>
                <a:lnTo>
                  <a:pt x="0" y="338357"/>
                </a:lnTo>
                <a:lnTo>
                  <a:pt x="203860" y="338357"/>
                </a:lnTo>
                <a:lnTo>
                  <a:pt x="20386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0">
            <a:off x="1028700" y="2211838"/>
            <a:ext cx="7728107" cy="3137468"/>
            <a:chOff x="0" y="0"/>
            <a:chExt cx="3072522" cy="1247387"/>
          </a:xfrm>
        </p:grpSpPr>
        <p:sp>
          <p:nvSpPr>
            <p:cNvPr name="Freeform 20" id="20"/>
            <p:cNvSpPr/>
            <p:nvPr/>
          </p:nvSpPr>
          <p:spPr>
            <a:xfrm flipH="false" flipV="false" rot="0">
              <a:off x="0" y="0"/>
              <a:ext cx="3072522" cy="1247387"/>
            </a:xfrm>
            <a:custGeom>
              <a:avLst/>
              <a:gdLst/>
              <a:ahLst/>
              <a:cxnLst/>
              <a:rect r="r" b="b" t="t" l="l"/>
              <a:pathLst>
                <a:path h="1247387" w="3072522">
                  <a:moveTo>
                    <a:pt x="50089" y="0"/>
                  </a:moveTo>
                  <a:lnTo>
                    <a:pt x="3022433" y="0"/>
                  </a:lnTo>
                  <a:cubicBezTo>
                    <a:pt x="3035717" y="0"/>
                    <a:pt x="3048458" y="5277"/>
                    <a:pt x="3057851" y="14671"/>
                  </a:cubicBezTo>
                  <a:cubicBezTo>
                    <a:pt x="3067245" y="24064"/>
                    <a:pt x="3072522" y="36805"/>
                    <a:pt x="3072522" y="50089"/>
                  </a:cubicBezTo>
                  <a:lnTo>
                    <a:pt x="3072522" y="1197298"/>
                  </a:lnTo>
                  <a:cubicBezTo>
                    <a:pt x="3072522" y="1210582"/>
                    <a:pt x="3067245" y="1223323"/>
                    <a:pt x="3057851" y="1232716"/>
                  </a:cubicBezTo>
                  <a:cubicBezTo>
                    <a:pt x="3048458" y="1242110"/>
                    <a:pt x="3035717" y="1247387"/>
                    <a:pt x="3022433" y="1247387"/>
                  </a:cubicBezTo>
                  <a:lnTo>
                    <a:pt x="50089" y="1247387"/>
                  </a:lnTo>
                  <a:cubicBezTo>
                    <a:pt x="36805" y="1247387"/>
                    <a:pt x="24064" y="1242110"/>
                    <a:pt x="14671" y="1232716"/>
                  </a:cubicBezTo>
                  <a:cubicBezTo>
                    <a:pt x="5277" y="1223323"/>
                    <a:pt x="0" y="1210582"/>
                    <a:pt x="0" y="1197298"/>
                  </a:cubicBezTo>
                  <a:lnTo>
                    <a:pt x="0" y="50089"/>
                  </a:lnTo>
                  <a:cubicBezTo>
                    <a:pt x="0" y="36805"/>
                    <a:pt x="5277" y="24064"/>
                    <a:pt x="14671" y="14671"/>
                  </a:cubicBezTo>
                  <a:cubicBezTo>
                    <a:pt x="24064" y="5277"/>
                    <a:pt x="36805" y="0"/>
                    <a:pt x="50089" y="0"/>
                  </a:cubicBezTo>
                  <a:close/>
                </a:path>
              </a:pathLst>
            </a:custGeom>
            <a:solidFill>
              <a:srgbClr val="000000">
                <a:alpha val="49804"/>
              </a:srgbClr>
            </a:solidFill>
          </p:spPr>
        </p:sp>
        <p:sp>
          <p:nvSpPr>
            <p:cNvPr name="TextBox 21" id="21"/>
            <p:cNvSpPr txBox="true"/>
            <p:nvPr/>
          </p:nvSpPr>
          <p:spPr>
            <a:xfrm>
              <a:off x="0" y="47625"/>
              <a:ext cx="3072522" cy="1199762"/>
            </a:xfrm>
            <a:prstGeom prst="rect">
              <a:avLst/>
            </a:prstGeom>
          </p:spPr>
          <p:txBody>
            <a:bodyPr anchor="ctr" rtlCol="false" tIns="50800" lIns="50800" bIns="50800" rIns="50800"/>
            <a:lstStyle/>
            <a:p>
              <a:pPr algn="ctr">
                <a:lnSpc>
                  <a:spcPts val="1134"/>
                </a:lnSpc>
              </a:pPr>
            </a:p>
          </p:txBody>
        </p:sp>
      </p:grpSp>
      <p:grpSp>
        <p:nvGrpSpPr>
          <p:cNvPr name="Group 22" id="22"/>
          <p:cNvGrpSpPr/>
          <p:nvPr/>
        </p:nvGrpSpPr>
        <p:grpSpPr>
          <a:xfrm rot="0">
            <a:off x="1028700" y="2211838"/>
            <a:ext cx="7728107" cy="3137468"/>
            <a:chOff x="0" y="0"/>
            <a:chExt cx="3072522" cy="1247387"/>
          </a:xfrm>
        </p:grpSpPr>
        <p:sp>
          <p:nvSpPr>
            <p:cNvPr name="Freeform 23" id="23"/>
            <p:cNvSpPr/>
            <p:nvPr/>
          </p:nvSpPr>
          <p:spPr>
            <a:xfrm flipH="false" flipV="false" rot="0">
              <a:off x="0" y="0"/>
              <a:ext cx="3072522" cy="1247387"/>
            </a:xfrm>
            <a:custGeom>
              <a:avLst/>
              <a:gdLst/>
              <a:ahLst/>
              <a:cxnLst/>
              <a:rect r="r" b="b" t="t" l="l"/>
              <a:pathLst>
                <a:path h="1247387" w="3072522">
                  <a:moveTo>
                    <a:pt x="50089" y="0"/>
                  </a:moveTo>
                  <a:lnTo>
                    <a:pt x="3022433" y="0"/>
                  </a:lnTo>
                  <a:cubicBezTo>
                    <a:pt x="3035717" y="0"/>
                    <a:pt x="3048458" y="5277"/>
                    <a:pt x="3057851" y="14671"/>
                  </a:cubicBezTo>
                  <a:cubicBezTo>
                    <a:pt x="3067245" y="24064"/>
                    <a:pt x="3072522" y="36805"/>
                    <a:pt x="3072522" y="50089"/>
                  </a:cubicBezTo>
                  <a:lnTo>
                    <a:pt x="3072522" y="1197298"/>
                  </a:lnTo>
                  <a:cubicBezTo>
                    <a:pt x="3072522" y="1210582"/>
                    <a:pt x="3067245" y="1223323"/>
                    <a:pt x="3057851" y="1232716"/>
                  </a:cubicBezTo>
                  <a:cubicBezTo>
                    <a:pt x="3048458" y="1242110"/>
                    <a:pt x="3035717" y="1247387"/>
                    <a:pt x="3022433" y="1247387"/>
                  </a:cubicBezTo>
                  <a:lnTo>
                    <a:pt x="50089" y="1247387"/>
                  </a:lnTo>
                  <a:cubicBezTo>
                    <a:pt x="36805" y="1247387"/>
                    <a:pt x="24064" y="1242110"/>
                    <a:pt x="14671" y="1232716"/>
                  </a:cubicBezTo>
                  <a:cubicBezTo>
                    <a:pt x="5277" y="1223323"/>
                    <a:pt x="0" y="1210582"/>
                    <a:pt x="0" y="1197298"/>
                  </a:cubicBezTo>
                  <a:lnTo>
                    <a:pt x="0" y="50089"/>
                  </a:lnTo>
                  <a:cubicBezTo>
                    <a:pt x="0" y="36805"/>
                    <a:pt x="5277" y="24064"/>
                    <a:pt x="14671" y="14671"/>
                  </a:cubicBezTo>
                  <a:cubicBezTo>
                    <a:pt x="24064" y="5277"/>
                    <a:pt x="36805" y="0"/>
                    <a:pt x="50089" y="0"/>
                  </a:cubicBezTo>
                  <a:close/>
                </a:path>
              </a:pathLst>
            </a:custGeom>
            <a:ln w="19050" cap="rnd">
              <a:gradFill>
                <a:gsLst>
                  <a:gs pos="0">
                    <a:srgbClr val="5DE0E6">
                      <a:alpha val="100000"/>
                    </a:srgbClr>
                  </a:gs>
                  <a:gs pos="100000">
                    <a:srgbClr val="004AAD">
                      <a:alpha val="100000"/>
                    </a:srgbClr>
                  </a:gs>
                </a:gsLst>
                <a:lin ang="0"/>
              </a:gradFill>
              <a:prstDash val="solid"/>
              <a:round/>
            </a:ln>
          </p:spPr>
        </p:sp>
        <p:sp>
          <p:nvSpPr>
            <p:cNvPr name="TextBox 24" id="24"/>
            <p:cNvSpPr txBox="true"/>
            <p:nvPr/>
          </p:nvSpPr>
          <p:spPr>
            <a:xfrm>
              <a:off x="0" y="47625"/>
              <a:ext cx="3072522" cy="1199762"/>
            </a:xfrm>
            <a:prstGeom prst="rect">
              <a:avLst/>
            </a:prstGeom>
          </p:spPr>
          <p:txBody>
            <a:bodyPr anchor="ctr" rtlCol="false" tIns="50800" lIns="50800" bIns="50800" rIns="50800"/>
            <a:lstStyle/>
            <a:p>
              <a:pPr algn="ctr">
                <a:lnSpc>
                  <a:spcPts val="1134"/>
                </a:lnSpc>
              </a:pPr>
            </a:p>
          </p:txBody>
        </p:sp>
      </p:grpSp>
      <p:grpSp>
        <p:nvGrpSpPr>
          <p:cNvPr name="Group 25" id="25"/>
          <p:cNvGrpSpPr/>
          <p:nvPr/>
        </p:nvGrpSpPr>
        <p:grpSpPr>
          <a:xfrm rot="0">
            <a:off x="1650092" y="2816539"/>
            <a:ext cx="2652710" cy="1975793"/>
            <a:chOff x="0" y="0"/>
            <a:chExt cx="881155" cy="656302"/>
          </a:xfrm>
        </p:grpSpPr>
        <p:sp>
          <p:nvSpPr>
            <p:cNvPr name="Freeform 26" id="26"/>
            <p:cNvSpPr/>
            <p:nvPr/>
          </p:nvSpPr>
          <p:spPr>
            <a:xfrm flipH="false" flipV="false" rot="0">
              <a:off x="0" y="0"/>
              <a:ext cx="881155" cy="656302"/>
            </a:xfrm>
            <a:custGeom>
              <a:avLst/>
              <a:gdLst/>
              <a:ahLst/>
              <a:cxnLst/>
              <a:rect r="r" b="b" t="t" l="l"/>
              <a:pathLst>
                <a:path h="656302" w="881155">
                  <a:moveTo>
                    <a:pt x="145925" y="0"/>
                  </a:moveTo>
                  <a:lnTo>
                    <a:pt x="735230" y="0"/>
                  </a:lnTo>
                  <a:cubicBezTo>
                    <a:pt x="815822" y="0"/>
                    <a:pt x="881155" y="65333"/>
                    <a:pt x="881155" y="145925"/>
                  </a:cubicBezTo>
                  <a:lnTo>
                    <a:pt x="881155" y="510377"/>
                  </a:lnTo>
                  <a:cubicBezTo>
                    <a:pt x="881155" y="549079"/>
                    <a:pt x="865781" y="586195"/>
                    <a:pt x="838414" y="613562"/>
                  </a:cubicBezTo>
                  <a:cubicBezTo>
                    <a:pt x="811048" y="640928"/>
                    <a:pt x="773932" y="656302"/>
                    <a:pt x="735230" y="656302"/>
                  </a:cubicBezTo>
                  <a:lnTo>
                    <a:pt x="145925" y="656302"/>
                  </a:lnTo>
                  <a:cubicBezTo>
                    <a:pt x="107223" y="656302"/>
                    <a:pt x="70107" y="640928"/>
                    <a:pt x="42740" y="613562"/>
                  </a:cubicBezTo>
                  <a:cubicBezTo>
                    <a:pt x="15374" y="586195"/>
                    <a:pt x="0" y="549079"/>
                    <a:pt x="0" y="510377"/>
                  </a:cubicBezTo>
                  <a:lnTo>
                    <a:pt x="0" y="145925"/>
                  </a:lnTo>
                  <a:cubicBezTo>
                    <a:pt x="0" y="65333"/>
                    <a:pt x="65333" y="0"/>
                    <a:pt x="145925" y="0"/>
                  </a:cubicBezTo>
                  <a:close/>
                </a:path>
              </a:pathLst>
            </a:custGeom>
            <a:blipFill>
              <a:blip r:embed="rId5"/>
              <a:stretch>
                <a:fillRect l="-5896" t="0" r="-5896" b="0"/>
              </a:stretch>
            </a:blipFill>
          </p:spPr>
        </p:sp>
      </p:grpSp>
      <p:sp>
        <p:nvSpPr>
          <p:cNvPr name="TextBox 27" id="27"/>
          <p:cNvSpPr txBox="true"/>
          <p:nvPr/>
        </p:nvSpPr>
        <p:spPr>
          <a:xfrm rot="0">
            <a:off x="4892754" y="3194962"/>
            <a:ext cx="3205801" cy="1257046"/>
          </a:xfrm>
          <a:prstGeom prst="rect">
            <a:avLst/>
          </a:prstGeom>
        </p:spPr>
        <p:txBody>
          <a:bodyPr anchor="t" rtlCol="false" tIns="0" lIns="0" bIns="0" rIns="0">
            <a:spAutoFit/>
          </a:bodyPr>
          <a:lstStyle/>
          <a:p>
            <a:pPr algn="l">
              <a:lnSpc>
                <a:spcPts val="2911"/>
              </a:lnSpc>
            </a:pPr>
            <a:r>
              <a:rPr lang="en-US" sz="2799" spc="-55" b="true">
                <a:solidFill>
                  <a:srgbClr val="52CFE0"/>
                </a:solidFill>
                <a:latin typeface="Helvetica World Bold"/>
                <a:ea typeface="Helvetica World Bold"/>
                <a:cs typeface="Helvetica World Bold"/>
                <a:sym typeface="Helvetica World Bold"/>
              </a:rPr>
              <a:t>Remote and hybrid options are common</a:t>
            </a:r>
          </a:p>
        </p:txBody>
      </p:sp>
      <p:grpSp>
        <p:nvGrpSpPr>
          <p:cNvPr name="Group 28" id="28"/>
          <p:cNvGrpSpPr/>
          <p:nvPr/>
        </p:nvGrpSpPr>
        <p:grpSpPr>
          <a:xfrm rot="0">
            <a:off x="9531193" y="2211838"/>
            <a:ext cx="7728107" cy="3137468"/>
            <a:chOff x="0" y="0"/>
            <a:chExt cx="3072522" cy="1247387"/>
          </a:xfrm>
        </p:grpSpPr>
        <p:sp>
          <p:nvSpPr>
            <p:cNvPr name="Freeform 29" id="29"/>
            <p:cNvSpPr/>
            <p:nvPr/>
          </p:nvSpPr>
          <p:spPr>
            <a:xfrm flipH="false" flipV="false" rot="0">
              <a:off x="0" y="0"/>
              <a:ext cx="3072522" cy="1247387"/>
            </a:xfrm>
            <a:custGeom>
              <a:avLst/>
              <a:gdLst/>
              <a:ahLst/>
              <a:cxnLst/>
              <a:rect r="r" b="b" t="t" l="l"/>
              <a:pathLst>
                <a:path h="1247387" w="3072522">
                  <a:moveTo>
                    <a:pt x="50089" y="0"/>
                  </a:moveTo>
                  <a:lnTo>
                    <a:pt x="3022433" y="0"/>
                  </a:lnTo>
                  <a:cubicBezTo>
                    <a:pt x="3035717" y="0"/>
                    <a:pt x="3048458" y="5277"/>
                    <a:pt x="3057851" y="14671"/>
                  </a:cubicBezTo>
                  <a:cubicBezTo>
                    <a:pt x="3067245" y="24064"/>
                    <a:pt x="3072522" y="36805"/>
                    <a:pt x="3072522" y="50089"/>
                  </a:cubicBezTo>
                  <a:lnTo>
                    <a:pt x="3072522" y="1197298"/>
                  </a:lnTo>
                  <a:cubicBezTo>
                    <a:pt x="3072522" y="1210582"/>
                    <a:pt x="3067245" y="1223323"/>
                    <a:pt x="3057851" y="1232716"/>
                  </a:cubicBezTo>
                  <a:cubicBezTo>
                    <a:pt x="3048458" y="1242110"/>
                    <a:pt x="3035717" y="1247387"/>
                    <a:pt x="3022433" y="1247387"/>
                  </a:cubicBezTo>
                  <a:lnTo>
                    <a:pt x="50089" y="1247387"/>
                  </a:lnTo>
                  <a:cubicBezTo>
                    <a:pt x="36805" y="1247387"/>
                    <a:pt x="24064" y="1242110"/>
                    <a:pt x="14671" y="1232716"/>
                  </a:cubicBezTo>
                  <a:cubicBezTo>
                    <a:pt x="5277" y="1223323"/>
                    <a:pt x="0" y="1210582"/>
                    <a:pt x="0" y="1197298"/>
                  </a:cubicBezTo>
                  <a:lnTo>
                    <a:pt x="0" y="50089"/>
                  </a:lnTo>
                  <a:cubicBezTo>
                    <a:pt x="0" y="36805"/>
                    <a:pt x="5277" y="24064"/>
                    <a:pt x="14671" y="14671"/>
                  </a:cubicBezTo>
                  <a:cubicBezTo>
                    <a:pt x="24064" y="5277"/>
                    <a:pt x="36805" y="0"/>
                    <a:pt x="50089" y="0"/>
                  </a:cubicBezTo>
                  <a:close/>
                </a:path>
              </a:pathLst>
            </a:custGeom>
            <a:solidFill>
              <a:srgbClr val="000000">
                <a:alpha val="49804"/>
              </a:srgbClr>
            </a:solidFill>
          </p:spPr>
        </p:sp>
        <p:sp>
          <p:nvSpPr>
            <p:cNvPr name="TextBox 30" id="30"/>
            <p:cNvSpPr txBox="true"/>
            <p:nvPr/>
          </p:nvSpPr>
          <p:spPr>
            <a:xfrm>
              <a:off x="0" y="47625"/>
              <a:ext cx="3072522" cy="1199762"/>
            </a:xfrm>
            <a:prstGeom prst="rect">
              <a:avLst/>
            </a:prstGeom>
          </p:spPr>
          <p:txBody>
            <a:bodyPr anchor="ctr" rtlCol="false" tIns="50800" lIns="50800" bIns="50800" rIns="50800"/>
            <a:lstStyle/>
            <a:p>
              <a:pPr algn="ctr">
                <a:lnSpc>
                  <a:spcPts val="1134"/>
                </a:lnSpc>
              </a:pPr>
            </a:p>
          </p:txBody>
        </p:sp>
      </p:grpSp>
      <p:grpSp>
        <p:nvGrpSpPr>
          <p:cNvPr name="Group 31" id="31"/>
          <p:cNvGrpSpPr/>
          <p:nvPr/>
        </p:nvGrpSpPr>
        <p:grpSpPr>
          <a:xfrm rot="0">
            <a:off x="9531193" y="2211838"/>
            <a:ext cx="7728107" cy="3137468"/>
            <a:chOff x="0" y="0"/>
            <a:chExt cx="3072522" cy="1247387"/>
          </a:xfrm>
        </p:grpSpPr>
        <p:sp>
          <p:nvSpPr>
            <p:cNvPr name="Freeform 32" id="32"/>
            <p:cNvSpPr/>
            <p:nvPr/>
          </p:nvSpPr>
          <p:spPr>
            <a:xfrm flipH="false" flipV="false" rot="0">
              <a:off x="0" y="0"/>
              <a:ext cx="3072522" cy="1247387"/>
            </a:xfrm>
            <a:custGeom>
              <a:avLst/>
              <a:gdLst/>
              <a:ahLst/>
              <a:cxnLst/>
              <a:rect r="r" b="b" t="t" l="l"/>
              <a:pathLst>
                <a:path h="1247387" w="3072522">
                  <a:moveTo>
                    <a:pt x="50089" y="0"/>
                  </a:moveTo>
                  <a:lnTo>
                    <a:pt x="3022433" y="0"/>
                  </a:lnTo>
                  <a:cubicBezTo>
                    <a:pt x="3035717" y="0"/>
                    <a:pt x="3048458" y="5277"/>
                    <a:pt x="3057851" y="14671"/>
                  </a:cubicBezTo>
                  <a:cubicBezTo>
                    <a:pt x="3067245" y="24064"/>
                    <a:pt x="3072522" y="36805"/>
                    <a:pt x="3072522" y="50089"/>
                  </a:cubicBezTo>
                  <a:lnTo>
                    <a:pt x="3072522" y="1197298"/>
                  </a:lnTo>
                  <a:cubicBezTo>
                    <a:pt x="3072522" y="1210582"/>
                    <a:pt x="3067245" y="1223323"/>
                    <a:pt x="3057851" y="1232716"/>
                  </a:cubicBezTo>
                  <a:cubicBezTo>
                    <a:pt x="3048458" y="1242110"/>
                    <a:pt x="3035717" y="1247387"/>
                    <a:pt x="3022433" y="1247387"/>
                  </a:cubicBezTo>
                  <a:lnTo>
                    <a:pt x="50089" y="1247387"/>
                  </a:lnTo>
                  <a:cubicBezTo>
                    <a:pt x="36805" y="1247387"/>
                    <a:pt x="24064" y="1242110"/>
                    <a:pt x="14671" y="1232716"/>
                  </a:cubicBezTo>
                  <a:cubicBezTo>
                    <a:pt x="5277" y="1223323"/>
                    <a:pt x="0" y="1210582"/>
                    <a:pt x="0" y="1197298"/>
                  </a:cubicBezTo>
                  <a:lnTo>
                    <a:pt x="0" y="50089"/>
                  </a:lnTo>
                  <a:cubicBezTo>
                    <a:pt x="0" y="36805"/>
                    <a:pt x="5277" y="24064"/>
                    <a:pt x="14671" y="14671"/>
                  </a:cubicBezTo>
                  <a:cubicBezTo>
                    <a:pt x="24064" y="5277"/>
                    <a:pt x="36805" y="0"/>
                    <a:pt x="50089" y="0"/>
                  </a:cubicBezTo>
                  <a:close/>
                </a:path>
              </a:pathLst>
            </a:custGeom>
            <a:ln w="19050" cap="rnd">
              <a:gradFill>
                <a:gsLst>
                  <a:gs pos="0">
                    <a:srgbClr val="5DE0E6">
                      <a:alpha val="100000"/>
                    </a:srgbClr>
                  </a:gs>
                  <a:gs pos="100000">
                    <a:srgbClr val="004AAD">
                      <a:alpha val="100000"/>
                    </a:srgbClr>
                  </a:gs>
                </a:gsLst>
                <a:lin ang="0"/>
              </a:gradFill>
              <a:prstDash val="solid"/>
              <a:round/>
            </a:ln>
          </p:spPr>
        </p:sp>
        <p:sp>
          <p:nvSpPr>
            <p:cNvPr name="TextBox 33" id="33"/>
            <p:cNvSpPr txBox="true"/>
            <p:nvPr/>
          </p:nvSpPr>
          <p:spPr>
            <a:xfrm>
              <a:off x="0" y="47625"/>
              <a:ext cx="3072522" cy="1199762"/>
            </a:xfrm>
            <a:prstGeom prst="rect">
              <a:avLst/>
            </a:prstGeom>
          </p:spPr>
          <p:txBody>
            <a:bodyPr anchor="ctr" rtlCol="false" tIns="50800" lIns="50800" bIns="50800" rIns="50800"/>
            <a:lstStyle/>
            <a:p>
              <a:pPr algn="ctr">
                <a:lnSpc>
                  <a:spcPts val="1134"/>
                </a:lnSpc>
              </a:pPr>
            </a:p>
          </p:txBody>
        </p:sp>
      </p:grpSp>
      <p:grpSp>
        <p:nvGrpSpPr>
          <p:cNvPr name="Group 34" id="34"/>
          <p:cNvGrpSpPr/>
          <p:nvPr/>
        </p:nvGrpSpPr>
        <p:grpSpPr>
          <a:xfrm rot="0">
            <a:off x="10152585" y="2816539"/>
            <a:ext cx="2652710" cy="1975793"/>
            <a:chOff x="0" y="0"/>
            <a:chExt cx="881155" cy="656302"/>
          </a:xfrm>
        </p:grpSpPr>
        <p:sp>
          <p:nvSpPr>
            <p:cNvPr name="Freeform 35" id="35"/>
            <p:cNvSpPr/>
            <p:nvPr/>
          </p:nvSpPr>
          <p:spPr>
            <a:xfrm flipH="false" flipV="false" rot="0">
              <a:off x="0" y="0"/>
              <a:ext cx="881155" cy="656302"/>
            </a:xfrm>
            <a:custGeom>
              <a:avLst/>
              <a:gdLst/>
              <a:ahLst/>
              <a:cxnLst/>
              <a:rect r="r" b="b" t="t" l="l"/>
              <a:pathLst>
                <a:path h="656302" w="881155">
                  <a:moveTo>
                    <a:pt x="145925" y="0"/>
                  </a:moveTo>
                  <a:lnTo>
                    <a:pt x="735230" y="0"/>
                  </a:lnTo>
                  <a:cubicBezTo>
                    <a:pt x="815822" y="0"/>
                    <a:pt x="881155" y="65333"/>
                    <a:pt x="881155" y="145925"/>
                  </a:cubicBezTo>
                  <a:lnTo>
                    <a:pt x="881155" y="510377"/>
                  </a:lnTo>
                  <a:cubicBezTo>
                    <a:pt x="881155" y="549079"/>
                    <a:pt x="865781" y="586195"/>
                    <a:pt x="838414" y="613562"/>
                  </a:cubicBezTo>
                  <a:cubicBezTo>
                    <a:pt x="811048" y="640928"/>
                    <a:pt x="773932" y="656302"/>
                    <a:pt x="735230" y="656302"/>
                  </a:cubicBezTo>
                  <a:lnTo>
                    <a:pt x="145925" y="656302"/>
                  </a:lnTo>
                  <a:cubicBezTo>
                    <a:pt x="107223" y="656302"/>
                    <a:pt x="70107" y="640928"/>
                    <a:pt x="42740" y="613562"/>
                  </a:cubicBezTo>
                  <a:cubicBezTo>
                    <a:pt x="15374" y="586195"/>
                    <a:pt x="0" y="549079"/>
                    <a:pt x="0" y="510377"/>
                  </a:cubicBezTo>
                  <a:lnTo>
                    <a:pt x="0" y="145925"/>
                  </a:lnTo>
                  <a:cubicBezTo>
                    <a:pt x="0" y="65333"/>
                    <a:pt x="65333" y="0"/>
                    <a:pt x="145925" y="0"/>
                  </a:cubicBezTo>
                  <a:close/>
                </a:path>
              </a:pathLst>
            </a:custGeom>
            <a:blipFill>
              <a:blip r:embed="rId6"/>
              <a:stretch>
                <a:fillRect l="-5791" t="0" r="-5791" b="0"/>
              </a:stretch>
            </a:blipFill>
          </p:spPr>
        </p:sp>
      </p:grpSp>
      <p:sp>
        <p:nvSpPr>
          <p:cNvPr name="TextBox 36" id="36"/>
          <p:cNvSpPr txBox="true"/>
          <p:nvPr/>
        </p:nvSpPr>
        <p:spPr>
          <a:xfrm rot="0">
            <a:off x="13395246" y="3194962"/>
            <a:ext cx="3205801" cy="1257046"/>
          </a:xfrm>
          <a:prstGeom prst="rect">
            <a:avLst/>
          </a:prstGeom>
        </p:spPr>
        <p:txBody>
          <a:bodyPr anchor="t" rtlCol="false" tIns="0" lIns="0" bIns="0" rIns="0">
            <a:spAutoFit/>
          </a:bodyPr>
          <a:lstStyle/>
          <a:p>
            <a:pPr algn="l">
              <a:lnSpc>
                <a:spcPts val="2911"/>
              </a:lnSpc>
            </a:pPr>
            <a:r>
              <a:rPr lang="en-US" sz="2799" spc="-55" b="true">
                <a:solidFill>
                  <a:srgbClr val="52CFE0"/>
                </a:solidFill>
                <a:latin typeface="Helvetica World Bold"/>
                <a:ea typeface="Helvetica World Bold"/>
                <a:cs typeface="Helvetica World Bold"/>
                <a:sym typeface="Helvetica World Bold"/>
              </a:rPr>
              <a:t>Collaborative work with designers and analysts</a:t>
            </a:r>
          </a:p>
        </p:txBody>
      </p:sp>
      <p:grpSp>
        <p:nvGrpSpPr>
          <p:cNvPr name="Group 37" id="37"/>
          <p:cNvGrpSpPr/>
          <p:nvPr/>
        </p:nvGrpSpPr>
        <p:grpSpPr>
          <a:xfrm rot="0">
            <a:off x="9531193" y="6120832"/>
            <a:ext cx="7728107" cy="3137468"/>
            <a:chOff x="0" y="0"/>
            <a:chExt cx="3072522" cy="1247387"/>
          </a:xfrm>
        </p:grpSpPr>
        <p:sp>
          <p:nvSpPr>
            <p:cNvPr name="Freeform 38" id="38"/>
            <p:cNvSpPr/>
            <p:nvPr/>
          </p:nvSpPr>
          <p:spPr>
            <a:xfrm flipH="false" flipV="false" rot="0">
              <a:off x="0" y="0"/>
              <a:ext cx="3072522" cy="1247387"/>
            </a:xfrm>
            <a:custGeom>
              <a:avLst/>
              <a:gdLst/>
              <a:ahLst/>
              <a:cxnLst/>
              <a:rect r="r" b="b" t="t" l="l"/>
              <a:pathLst>
                <a:path h="1247387" w="3072522">
                  <a:moveTo>
                    <a:pt x="50089" y="0"/>
                  </a:moveTo>
                  <a:lnTo>
                    <a:pt x="3022433" y="0"/>
                  </a:lnTo>
                  <a:cubicBezTo>
                    <a:pt x="3035717" y="0"/>
                    <a:pt x="3048458" y="5277"/>
                    <a:pt x="3057851" y="14671"/>
                  </a:cubicBezTo>
                  <a:cubicBezTo>
                    <a:pt x="3067245" y="24064"/>
                    <a:pt x="3072522" y="36805"/>
                    <a:pt x="3072522" y="50089"/>
                  </a:cubicBezTo>
                  <a:lnTo>
                    <a:pt x="3072522" y="1197298"/>
                  </a:lnTo>
                  <a:cubicBezTo>
                    <a:pt x="3072522" y="1210582"/>
                    <a:pt x="3067245" y="1223323"/>
                    <a:pt x="3057851" y="1232716"/>
                  </a:cubicBezTo>
                  <a:cubicBezTo>
                    <a:pt x="3048458" y="1242110"/>
                    <a:pt x="3035717" y="1247387"/>
                    <a:pt x="3022433" y="1247387"/>
                  </a:cubicBezTo>
                  <a:lnTo>
                    <a:pt x="50089" y="1247387"/>
                  </a:lnTo>
                  <a:cubicBezTo>
                    <a:pt x="36805" y="1247387"/>
                    <a:pt x="24064" y="1242110"/>
                    <a:pt x="14671" y="1232716"/>
                  </a:cubicBezTo>
                  <a:cubicBezTo>
                    <a:pt x="5277" y="1223323"/>
                    <a:pt x="0" y="1210582"/>
                    <a:pt x="0" y="1197298"/>
                  </a:cubicBezTo>
                  <a:lnTo>
                    <a:pt x="0" y="50089"/>
                  </a:lnTo>
                  <a:cubicBezTo>
                    <a:pt x="0" y="36805"/>
                    <a:pt x="5277" y="24064"/>
                    <a:pt x="14671" y="14671"/>
                  </a:cubicBezTo>
                  <a:cubicBezTo>
                    <a:pt x="24064" y="5277"/>
                    <a:pt x="36805" y="0"/>
                    <a:pt x="50089" y="0"/>
                  </a:cubicBezTo>
                  <a:close/>
                </a:path>
              </a:pathLst>
            </a:custGeom>
            <a:solidFill>
              <a:srgbClr val="000000">
                <a:alpha val="49804"/>
              </a:srgbClr>
            </a:solidFill>
          </p:spPr>
        </p:sp>
        <p:sp>
          <p:nvSpPr>
            <p:cNvPr name="TextBox 39" id="39"/>
            <p:cNvSpPr txBox="true"/>
            <p:nvPr/>
          </p:nvSpPr>
          <p:spPr>
            <a:xfrm>
              <a:off x="0" y="47625"/>
              <a:ext cx="3072522" cy="1199762"/>
            </a:xfrm>
            <a:prstGeom prst="rect">
              <a:avLst/>
            </a:prstGeom>
          </p:spPr>
          <p:txBody>
            <a:bodyPr anchor="ctr" rtlCol="false" tIns="50800" lIns="50800" bIns="50800" rIns="50800"/>
            <a:lstStyle/>
            <a:p>
              <a:pPr algn="ctr">
                <a:lnSpc>
                  <a:spcPts val="1134"/>
                </a:lnSpc>
              </a:pPr>
            </a:p>
          </p:txBody>
        </p:sp>
      </p:grpSp>
      <p:grpSp>
        <p:nvGrpSpPr>
          <p:cNvPr name="Group 40" id="40"/>
          <p:cNvGrpSpPr/>
          <p:nvPr/>
        </p:nvGrpSpPr>
        <p:grpSpPr>
          <a:xfrm rot="0">
            <a:off x="9531193" y="6120832"/>
            <a:ext cx="7728107" cy="3137468"/>
            <a:chOff x="0" y="0"/>
            <a:chExt cx="3072522" cy="1247387"/>
          </a:xfrm>
        </p:grpSpPr>
        <p:sp>
          <p:nvSpPr>
            <p:cNvPr name="Freeform 41" id="41"/>
            <p:cNvSpPr/>
            <p:nvPr/>
          </p:nvSpPr>
          <p:spPr>
            <a:xfrm flipH="false" flipV="false" rot="0">
              <a:off x="0" y="0"/>
              <a:ext cx="3072522" cy="1247387"/>
            </a:xfrm>
            <a:custGeom>
              <a:avLst/>
              <a:gdLst/>
              <a:ahLst/>
              <a:cxnLst/>
              <a:rect r="r" b="b" t="t" l="l"/>
              <a:pathLst>
                <a:path h="1247387" w="3072522">
                  <a:moveTo>
                    <a:pt x="50089" y="0"/>
                  </a:moveTo>
                  <a:lnTo>
                    <a:pt x="3022433" y="0"/>
                  </a:lnTo>
                  <a:cubicBezTo>
                    <a:pt x="3035717" y="0"/>
                    <a:pt x="3048458" y="5277"/>
                    <a:pt x="3057851" y="14671"/>
                  </a:cubicBezTo>
                  <a:cubicBezTo>
                    <a:pt x="3067245" y="24064"/>
                    <a:pt x="3072522" y="36805"/>
                    <a:pt x="3072522" y="50089"/>
                  </a:cubicBezTo>
                  <a:lnTo>
                    <a:pt x="3072522" y="1197298"/>
                  </a:lnTo>
                  <a:cubicBezTo>
                    <a:pt x="3072522" y="1210582"/>
                    <a:pt x="3067245" y="1223323"/>
                    <a:pt x="3057851" y="1232716"/>
                  </a:cubicBezTo>
                  <a:cubicBezTo>
                    <a:pt x="3048458" y="1242110"/>
                    <a:pt x="3035717" y="1247387"/>
                    <a:pt x="3022433" y="1247387"/>
                  </a:cubicBezTo>
                  <a:lnTo>
                    <a:pt x="50089" y="1247387"/>
                  </a:lnTo>
                  <a:cubicBezTo>
                    <a:pt x="36805" y="1247387"/>
                    <a:pt x="24064" y="1242110"/>
                    <a:pt x="14671" y="1232716"/>
                  </a:cubicBezTo>
                  <a:cubicBezTo>
                    <a:pt x="5277" y="1223323"/>
                    <a:pt x="0" y="1210582"/>
                    <a:pt x="0" y="1197298"/>
                  </a:cubicBezTo>
                  <a:lnTo>
                    <a:pt x="0" y="50089"/>
                  </a:lnTo>
                  <a:cubicBezTo>
                    <a:pt x="0" y="36805"/>
                    <a:pt x="5277" y="24064"/>
                    <a:pt x="14671" y="14671"/>
                  </a:cubicBezTo>
                  <a:cubicBezTo>
                    <a:pt x="24064" y="5277"/>
                    <a:pt x="36805" y="0"/>
                    <a:pt x="50089" y="0"/>
                  </a:cubicBezTo>
                  <a:close/>
                </a:path>
              </a:pathLst>
            </a:custGeom>
            <a:ln w="19050" cap="rnd">
              <a:gradFill>
                <a:gsLst>
                  <a:gs pos="0">
                    <a:srgbClr val="5DE0E6">
                      <a:alpha val="100000"/>
                    </a:srgbClr>
                  </a:gs>
                  <a:gs pos="100000">
                    <a:srgbClr val="004AAD">
                      <a:alpha val="100000"/>
                    </a:srgbClr>
                  </a:gs>
                </a:gsLst>
                <a:lin ang="0"/>
              </a:gradFill>
              <a:prstDash val="solid"/>
              <a:round/>
            </a:ln>
          </p:spPr>
        </p:sp>
        <p:sp>
          <p:nvSpPr>
            <p:cNvPr name="TextBox 42" id="42"/>
            <p:cNvSpPr txBox="true"/>
            <p:nvPr/>
          </p:nvSpPr>
          <p:spPr>
            <a:xfrm>
              <a:off x="0" y="47625"/>
              <a:ext cx="3072522" cy="1199762"/>
            </a:xfrm>
            <a:prstGeom prst="rect">
              <a:avLst/>
            </a:prstGeom>
          </p:spPr>
          <p:txBody>
            <a:bodyPr anchor="ctr" rtlCol="false" tIns="50800" lIns="50800" bIns="50800" rIns="50800"/>
            <a:lstStyle/>
            <a:p>
              <a:pPr algn="ctr">
                <a:lnSpc>
                  <a:spcPts val="1134"/>
                </a:lnSpc>
              </a:pPr>
            </a:p>
          </p:txBody>
        </p:sp>
      </p:grpSp>
      <p:grpSp>
        <p:nvGrpSpPr>
          <p:cNvPr name="Group 43" id="43"/>
          <p:cNvGrpSpPr/>
          <p:nvPr/>
        </p:nvGrpSpPr>
        <p:grpSpPr>
          <a:xfrm rot="0">
            <a:off x="10152585" y="6725532"/>
            <a:ext cx="2652710" cy="1975793"/>
            <a:chOff x="0" y="0"/>
            <a:chExt cx="881155" cy="656302"/>
          </a:xfrm>
        </p:grpSpPr>
        <p:sp>
          <p:nvSpPr>
            <p:cNvPr name="Freeform 44" id="44"/>
            <p:cNvSpPr/>
            <p:nvPr/>
          </p:nvSpPr>
          <p:spPr>
            <a:xfrm flipH="false" flipV="false" rot="0">
              <a:off x="0" y="0"/>
              <a:ext cx="881155" cy="656302"/>
            </a:xfrm>
            <a:custGeom>
              <a:avLst/>
              <a:gdLst/>
              <a:ahLst/>
              <a:cxnLst/>
              <a:rect r="r" b="b" t="t" l="l"/>
              <a:pathLst>
                <a:path h="656302" w="881155">
                  <a:moveTo>
                    <a:pt x="145925" y="0"/>
                  </a:moveTo>
                  <a:lnTo>
                    <a:pt x="735230" y="0"/>
                  </a:lnTo>
                  <a:cubicBezTo>
                    <a:pt x="815822" y="0"/>
                    <a:pt x="881155" y="65333"/>
                    <a:pt x="881155" y="145925"/>
                  </a:cubicBezTo>
                  <a:lnTo>
                    <a:pt x="881155" y="510377"/>
                  </a:lnTo>
                  <a:cubicBezTo>
                    <a:pt x="881155" y="549079"/>
                    <a:pt x="865781" y="586195"/>
                    <a:pt x="838414" y="613562"/>
                  </a:cubicBezTo>
                  <a:cubicBezTo>
                    <a:pt x="811048" y="640928"/>
                    <a:pt x="773932" y="656302"/>
                    <a:pt x="735230" y="656302"/>
                  </a:cubicBezTo>
                  <a:lnTo>
                    <a:pt x="145925" y="656302"/>
                  </a:lnTo>
                  <a:cubicBezTo>
                    <a:pt x="107223" y="656302"/>
                    <a:pt x="70107" y="640928"/>
                    <a:pt x="42740" y="613562"/>
                  </a:cubicBezTo>
                  <a:cubicBezTo>
                    <a:pt x="15374" y="586195"/>
                    <a:pt x="0" y="549079"/>
                    <a:pt x="0" y="510377"/>
                  </a:cubicBezTo>
                  <a:lnTo>
                    <a:pt x="0" y="145925"/>
                  </a:lnTo>
                  <a:cubicBezTo>
                    <a:pt x="0" y="65333"/>
                    <a:pt x="65333" y="0"/>
                    <a:pt x="145925" y="0"/>
                  </a:cubicBezTo>
                  <a:close/>
                </a:path>
              </a:pathLst>
            </a:custGeom>
            <a:blipFill>
              <a:blip r:embed="rId7"/>
              <a:stretch>
                <a:fillRect l="-5791" t="0" r="-5791" b="0"/>
              </a:stretch>
            </a:blipFill>
          </p:spPr>
        </p:sp>
      </p:grpSp>
      <p:sp>
        <p:nvSpPr>
          <p:cNvPr name="TextBox 45" id="45"/>
          <p:cNvSpPr txBox="true"/>
          <p:nvPr/>
        </p:nvSpPr>
        <p:spPr>
          <a:xfrm rot="0">
            <a:off x="13395246" y="7103955"/>
            <a:ext cx="3205801" cy="1257046"/>
          </a:xfrm>
          <a:prstGeom prst="rect">
            <a:avLst/>
          </a:prstGeom>
        </p:spPr>
        <p:txBody>
          <a:bodyPr anchor="t" rtlCol="false" tIns="0" lIns="0" bIns="0" rIns="0">
            <a:spAutoFit/>
          </a:bodyPr>
          <a:lstStyle/>
          <a:p>
            <a:pPr algn="l">
              <a:lnSpc>
                <a:spcPts val="2911"/>
              </a:lnSpc>
            </a:pPr>
            <a:r>
              <a:rPr lang="en-US" sz="2799" spc="-55" b="true">
                <a:solidFill>
                  <a:srgbClr val="52CFE0"/>
                </a:solidFill>
                <a:latin typeface="Helvetica World Bold"/>
                <a:ea typeface="Helvetica World Bold"/>
                <a:cs typeface="Helvetica World Bold"/>
                <a:sym typeface="Helvetica World Bold"/>
              </a:rPr>
              <a:t>Flexible schedules enable creative problem-solving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15780466" y="639280"/>
            <a:ext cx="1478834" cy="453314"/>
            <a:chOff x="0" y="0"/>
            <a:chExt cx="389487" cy="119391"/>
          </a:xfrm>
        </p:grpSpPr>
        <p:sp>
          <p:nvSpPr>
            <p:cNvPr name="Freeform 4" id="4"/>
            <p:cNvSpPr/>
            <p:nvPr/>
          </p:nvSpPr>
          <p:spPr>
            <a:xfrm flipH="false" flipV="false" rot="0">
              <a:off x="0" y="0"/>
              <a:ext cx="389487" cy="119391"/>
            </a:xfrm>
            <a:custGeom>
              <a:avLst/>
              <a:gdLst/>
              <a:ahLst/>
              <a:cxnLst/>
              <a:rect r="r" b="b" t="t" l="l"/>
              <a:pathLst>
                <a:path h="119391" w="389487">
                  <a:moveTo>
                    <a:pt x="52352" y="0"/>
                  </a:moveTo>
                  <a:lnTo>
                    <a:pt x="337136" y="0"/>
                  </a:lnTo>
                  <a:cubicBezTo>
                    <a:pt x="366049" y="0"/>
                    <a:pt x="389487" y="23439"/>
                    <a:pt x="389487" y="52352"/>
                  </a:cubicBezTo>
                  <a:lnTo>
                    <a:pt x="389487" y="67040"/>
                  </a:lnTo>
                  <a:cubicBezTo>
                    <a:pt x="389487" y="80924"/>
                    <a:pt x="383972" y="94240"/>
                    <a:pt x="374154" y="104058"/>
                  </a:cubicBezTo>
                  <a:cubicBezTo>
                    <a:pt x="364336" y="113876"/>
                    <a:pt x="351020" y="119391"/>
                    <a:pt x="337136" y="119391"/>
                  </a:cubicBezTo>
                  <a:lnTo>
                    <a:pt x="52352" y="119391"/>
                  </a:lnTo>
                  <a:cubicBezTo>
                    <a:pt x="23439" y="119391"/>
                    <a:pt x="0" y="95953"/>
                    <a:pt x="0" y="67040"/>
                  </a:cubicBezTo>
                  <a:lnTo>
                    <a:pt x="0" y="52352"/>
                  </a:lnTo>
                  <a:cubicBezTo>
                    <a:pt x="0" y="23439"/>
                    <a:pt x="23439" y="0"/>
                    <a:pt x="52352" y="0"/>
                  </a:cubicBezTo>
                  <a:close/>
                </a:path>
              </a:pathLst>
            </a:custGeom>
            <a:gradFill rotWithShape="true">
              <a:gsLst>
                <a:gs pos="0">
                  <a:srgbClr val="5DE0E6">
                    <a:alpha val="100000"/>
                  </a:srgbClr>
                </a:gs>
                <a:gs pos="100000">
                  <a:srgbClr val="004AAD">
                    <a:alpha val="100000"/>
                  </a:srgbClr>
                </a:gs>
              </a:gsLst>
              <a:lin ang="0"/>
            </a:gradFill>
            <a:ln cap="sq">
              <a:noFill/>
              <a:prstDash val="solid"/>
              <a:miter/>
            </a:ln>
          </p:spPr>
        </p:sp>
        <p:sp>
          <p:nvSpPr>
            <p:cNvPr name="TextBox 5" id="5"/>
            <p:cNvSpPr txBox="true"/>
            <p:nvPr/>
          </p:nvSpPr>
          <p:spPr>
            <a:xfrm>
              <a:off x="0" y="28575"/>
              <a:ext cx="389487" cy="90816"/>
            </a:xfrm>
            <a:prstGeom prst="rect">
              <a:avLst/>
            </a:prstGeom>
          </p:spPr>
          <p:txBody>
            <a:bodyPr anchor="ctr" rtlCol="false" tIns="50800" lIns="50800" bIns="50800" rIns="50800"/>
            <a:lstStyle/>
            <a:p>
              <a:pPr algn="ctr">
                <a:lnSpc>
                  <a:spcPts val="1134"/>
                </a:lnSpc>
              </a:pPr>
            </a:p>
          </p:txBody>
        </p:sp>
      </p:grpSp>
      <p:grpSp>
        <p:nvGrpSpPr>
          <p:cNvPr name="Group 6" id="6"/>
          <p:cNvGrpSpPr/>
          <p:nvPr/>
        </p:nvGrpSpPr>
        <p:grpSpPr>
          <a:xfrm rot="0">
            <a:off x="10181897" y="2070518"/>
            <a:ext cx="6923088" cy="684161"/>
            <a:chOff x="0" y="0"/>
            <a:chExt cx="1823365" cy="180191"/>
          </a:xfrm>
        </p:grpSpPr>
        <p:sp>
          <p:nvSpPr>
            <p:cNvPr name="Freeform 7" id="7"/>
            <p:cNvSpPr/>
            <p:nvPr/>
          </p:nvSpPr>
          <p:spPr>
            <a:xfrm flipH="false" flipV="false" rot="0">
              <a:off x="0" y="0"/>
              <a:ext cx="1823365" cy="180191"/>
            </a:xfrm>
            <a:custGeom>
              <a:avLst/>
              <a:gdLst/>
              <a:ahLst/>
              <a:cxnLst/>
              <a:rect r="r" b="b" t="t" l="l"/>
              <a:pathLst>
                <a:path h="180191" w="1823365">
                  <a:moveTo>
                    <a:pt x="33548" y="0"/>
                  </a:moveTo>
                  <a:lnTo>
                    <a:pt x="1789816" y="0"/>
                  </a:lnTo>
                  <a:cubicBezTo>
                    <a:pt x="1808345" y="0"/>
                    <a:pt x="1823365" y="15020"/>
                    <a:pt x="1823365" y="33548"/>
                  </a:cubicBezTo>
                  <a:lnTo>
                    <a:pt x="1823365" y="146642"/>
                  </a:lnTo>
                  <a:cubicBezTo>
                    <a:pt x="1823365" y="155540"/>
                    <a:pt x="1819830" y="164073"/>
                    <a:pt x="1813539" y="170364"/>
                  </a:cubicBezTo>
                  <a:cubicBezTo>
                    <a:pt x="1807247" y="176656"/>
                    <a:pt x="1798714" y="180191"/>
                    <a:pt x="1789816" y="180191"/>
                  </a:cubicBezTo>
                  <a:lnTo>
                    <a:pt x="33548" y="180191"/>
                  </a:lnTo>
                  <a:cubicBezTo>
                    <a:pt x="24651" y="180191"/>
                    <a:pt x="16118" y="176656"/>
                    <a:pt x="9826" y="170364"/>
                  </a:cubicBezTo>
                  <a:cubicBezTo>
                    <a:pt x="3535" y="164073"/>
                    <a:pt x="0" y="155540"/>
                    <a:pt x="0" y="146642"/>
                  </a:cubicBezTo>
                  <a:lnTo>
                    <a:pt x="0" y="33548"/>
                  </a:lnTo>
                  <a:cubicBezTo>
                    <a:pt x="0" y="24651"/>
                    <a:pt x="3535" y="16118"/>
                    <a:pt x="9826" y="9826"/>
                  </a:cubicBezTo>
                  <a:cubicBezTo>
                    <a:pt x="16118" y="3535"/>
                    <a:pt x="24651" y="0"/>
                    <a:pt x="33548" y="0"/>
                  </a:cubicBezTo>
                  <a:close/>
                </a:path>
              </a:pathLst>
            </a:custGeom>
            <a:gradFill rotWithShape="true">
              <a:gsLst>
                <a:gs pos="0">
                  <a:srgbClr val="5DE0E6">
                    <a:alpha val="100000"/>
                  </a:srgbClr>
                </a:gs>
                <a:gs pos="100000">
                  <a:srgbClr val="004AAD">
                    <a:alpha val="100000"/>
                  </a:srgbClr>
                </a:gs>
              </a:gsLst>
              <a:lin ang="0"/>
            </a:gradFill>
            <a:ln cap="rnd">
              <a:noFill/>
              <a:prstDash val="solid"/>
              <a:round/>
            </a:ln>
          </p:spPr>
        </p:sp>
        <p:sp>
          <p:nvSpPr>
            <p:cNvPr name="TextBox 8" id="8"/>
            <p:cNvSpPr txBox="true"/>
            <p:nvPr/>
          </p:nvSpPr>
          <p:spPr>
            <a:xfrm>
              <a:off x="0" y="28575"/>
              <a:ext cx="1823365" cy="151616"/>
            </a:xfrm>
            <a:prstGeom prst="rect">
              <a:avLst/>
            </a:prstGeom>
          </p:spPr>
          <p:txBody>
            <a:bodyPr anchor="ctr" rtlCol="false" tIns="50800" lIns="50800" bIns="50800" rIns="50800"/>
            <a:lstStyle/>
            <a:p>
              <a:pPr algn="ctr">
                <a:lnSpc>
                  <a:spcPts val="1134"/>
                </a:lnSpc>
              </a:pPr>
            </a:p>
          </p:txBody>
        </p:sp>
      </p:grpSp>
      <p:sp>
        <p:nvSpPr>
          <p:cNvPr name="TextBox 9" id="9"/>
          <p:cNvSpPr txBox="true"/>
          <p:nvPr/>
        </p:nvSpPr>
        <p:spPr>
          <a:xfrm rot="0">
            <a:off x="1028700" y="3104165"/>
            <a:ext cx="6837238" cy="2678220"/>
          </a:xfrm>
          <a:prstGeom prst="rect">
            <a:avLst/>
          </a:prstGeom>
        </p:spPr>
        <p:txBody>
          <a:bodyPr anchor="t" rtlCol="false" tIns="0" lIns="0" bIns="0" rIns="0">
            <a:spAutoFit/>
          </a:bodyPr>
          <a:lstStyle/>
          <a:p>
            <a:pPr algn="l">
              <a:lnSpc>
                <a:spcPts val="6044"/>
              </a:lnSpc>
            </a:pPr>
            <a:r>
              <a:rPr lang="en-US" b="true" sz="7282" spc="-473">
                <a:solidFill>
                  <a:srgbClr val="52CFE0"/>
                </a:solidFill>
                <a:latin typeface="Helvetica World Bold"/>
                <a:ea typeface="Helvetica World Bold"/>
                <a:cs typeface="Helvetica World Bold"/>
                <a:sym typeface="Helvetica World Bold"/>
              </a:rPr>
              <a:t>CHALLENGES PROGRAMMERS FACE</a:t>
            </a:r>
          </a:p>
        </p:txBody>
      </p:sp>
      <p:sp>
        <p:nvSpPr>
          <p:cNvPr name="TextBox 10" id="10"/>
          <p:cNvSpPr txBox="true"/>
          <p:nvPr/>
        </p:nvSpPr>
        <p:spPr>
          <a:xfrm rot="0">
            <a:off x="7054987" y="807453"/>
            <a:ext cx="810952"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Home</a:t>
            </a:r>
          </a:p>
        </p:txBody>
      </p:sp>
      <p:sp>
        <p:nvSpPr>
          <p:cNvPr name="TextBox 11" id="11"/>
          <p:cNvSpPr txBox="true"/>
          <p:nvPr/>
        </p:nvSpPr>
        <p:spPr>
          <a:xfrm rot="0">
            <a:off x="8498359" y="807453"/>
            <a:ext cx="1051116"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About Us</a:t>
            </a:r>
          </a:p>
        </p:txBody>
      </p:sp>
      <p:sp>
        <p:nvSpPr>
          <p:cNvPr name="TextBox 12" id="12"/>
          <p:cNvSpPr txBox="true"/>
          <p:nvPr/>
        </p:nvSpPr>
        <p:spPr>
          <a:xfrm rot="0">
            <a:off x="10181897" y="807453"/>
            <a:ext cx="1051116"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Services</a:t>
            </a:r>
          </a:p>
        </p:txBody>
      </p:sp>
      <p:sp>
        <p:nvSpPr>
          <p:cNvPr name="TextBox 13" id="13"/>
          <p:cNvSpPr txBox="true"/>
          <p:nvPr/>
        </p:nvSpPr>
        <p:spPr>
          <a:xfrm rot="0">
            <a:off x="16034591" y="807453"/>
            <a:ext cx="970584" cy="177293"/>
          </a:xfrm>
          <a:prstGeom prst="rect">
            <a:avLst/>
          </a:prstGeom>
        </p:spPr>
        <p:txBody>
          <a:bodyPr anchor="t" rtlCol="false" tIns="0" lIns="0" bIns="0" rIns="0">
            <a:spAutoFit/>
          </a:bodyPr>
          <a:lstStyle/>
          <a:p>
            <a:pPr algn="ctr">
              <a:lnSpc>
                <a:spcPts val="1134"/>
              </a:lnSpc>
            </a:pPr>
            <a:r>
              <a:rPr lang="en-US" b="true" sz="1400" spc="-28">
                <a:solidFill>
                  <a:srgbClr val="000000"/>
                </a:solidFill>
                <a:latin typeface="Helvetica World Bold"/>
                <a:ea typeface="Helvetica World Bold"/>
                <a:cs typeface="Helvetica World Bold"/>
                <a:sym typeface="Helvetica World Bold"/>
              </a:rPr>
              <a:t>Contact</a:t>
            </a:r>
          </a:p>
        </p:txBody>
      </p:sp>
      <p:sp>
        <p:nvSpPr>
          <p:cNvPr name="TextBox 14" id="14"/>
          <p:cNvSpPr txBox="true"/>
          <p:nvPr/>
        </p:nvSpPr>
        <p:spPr>
          <a:xfrm rot="0">
            <a:off x="10372397" y="2231633"/>
            <a:ext cx="6542088" cy="400032"/>
          </a:xfrm>
          <a:prstGeom prst="rect">
            <a:avLst/>
          </a:prstGeom>
        </p:spPr>
        <p:txBody>
          <a:bodyPr anchor="t" rtlCol="false" tIns="0" lIns="0" bIns="0" rIns="0">
            <a:spAutoFit/>
          </a:bodyPr>
          <a:lstStyle/>
          <a:p>
            <a:pPr algn="ctr">
              <a:lnSpc>
                <a:spcPts val="2704"/>
              </a:lnSpc>
            </a:pPr>
            <a:r>
              <a:rPr lang="en-US" b="true" sz="2600" spc="-52">
                <a:solidFill>
                  <a:srgbClr val="000000"/>
                </a:solidFill>
                <a:latin typeface="Helvetica World Bold"/>
                <a:ea typeface="Helvetica World Bold"/>
                <a:cs typeface="Helvetica World Bold"/>
                <a:sym typeface="Helvetica World Bold"/>
              </a:rPr>
              <a:t>Problems Faced by Python Developers</a:t>
            </a:r>
          </a:p>
        </p:txBody>
      </p:sp>
      <p:grpSp>
        <p:nvGrpSpPr>
          <p:cNvPr name="Group 15" id="15"/>
          <p:cNvGrpSpPr/>
          <p:nvPr/>
        </p:nvGrpSpPr>
        <p:grpSpPr>
          <a:xfrm rot="0">
            <a:off x="1028700" y="8634046"/>
            <a:ext cx="624254" cy="624254"/>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100000"/>
                  </a:srgbClr>
                </a:gs>
                <a:gs pos="100000">
                  <a:srgbClr val="004AAD">
                    <a:alpha val="100000"/>
                  </a:srgbClr>
                </a:gs>
              </a:gsLst>
              <a:lin ang="0"/>
            </a:gradFill>
          </p:spPr>
        </p:sp>
        <p:sp>
          <p:nvSpPr>
            <p:cNvPr name="TextBox 17" id="17"/>
            <p:cNvSpPr txBox="true"/>
            <p:nvPr/>
          </p:nvSpPr>
          <p:spPr>
            <a:xfrm>
              <a:off x="76200" y="123825"/>
              <a:ext cx="660400" cy="612775"/>
            </a:xfrm>
            <a:prstGeom prst="rect">
              <a:avLst/>
            </a:prstGeom>
          </p:spPr>
          <p:txBody>
            <a:bodyPr anchor="ctr" rtlCol="false" tIns="50800" lIns="50800" bIns="50800" rIns="50800"/>
            <a:lstStyle/>
            <a:p>
              <a:pPr algn="ctr">
                <a:lnSpc>
                  <a:spcPts val="1134"/>
                </a:lnSpc>
              </a:pPr>
            </a:p>
          </p:txBody>
        </p:sp>
      </p:grpSp>
      <p:sp>
        <p:nvSpPr>
          <p:cNvPr name="Freeform 18" id="18"/>
          <p:cNvSpPr/>
          <p:nvPr/>
        </p:nvSpPr>
        <p:spPr>
          <a:xfrm flipH="true" flipV="false" rot="0">
            <a:off x="1259277" y="8776995"/>
            <a:ext cx="203860" cy="338357"/>
          </a:xfrm>
          <a:custGeom>
            <a:avLst/>
            <a:gdLst/>
            <a:ahLst/>
            <a:cxnLst/>
            <a:rect r="r" b="b" t="t" l="l"/>
            <a:pathLst>
              <a:path h="338357" w="203860">
                <a:moveTo>
                  <a:pt x="203859" y="0"/>
                </a:moveTo>
                <a:lnTo>
                  <a:pt x="0" y="0"/>
                </a:lnTo>
                <a:lnTo>
                  <a:pt x="0" y="338356"/>
                </a:lnTo>
                <a:lnTo>
                  <a:pt x="203859" y="338356"/>
                </a:lnTo>
                <a:lnTo>
                  <a:pt x="203859"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9" id="19"/>
          <p:cNvSpPr txBox="true"/>
          <p:nvPr/>
        </p:nvSpPr>
        <p:spPr>
          <a:xfrm rot="0">
            <a:off x="10070647" y="2989218"/>
            <a:ext cx="7996339" cy="3667036"/>
          </a:xfrm>
          <a:prstGeom prst="rect">
            <a:avLst/>
          </a:prstGeom>
        </p:spPr>
        <p:txBody>
          <a:bodyPr anchor="t" rtlCol="false" tIns="0" lIns="0" bIns="0" rIns="0">
            <a:spAutoFit/>
          </a:bodyPr>
          <a:lstStyle/>
          <a:p>
            <a:pPr algn="l">
              <a:lnSpc>
                <a:spcPts val="2629"/>
              </a:lnSpc>
            </a:pPr>
            <a:r>
              <a:rPr lang="en-US" sz="1878" spc="-37">
                <a:solidFill>
                  <a:srgbClr val="F7F7F7"/>
                </a:solidFill>
                <a:latin typeface="Glacial Indifference"/>
                <a:ea typeface="Glacial Indifference"/>
                <a:cs typeface="Glacial Indifference"/>
                <a:sym typeface="Glacial Indifference"/>
              </a:rPr>
              <a:t>Programmers face several challenges while developing and maintaining software applications. Understanding these challenges helps developers find effective solutions and improve their coding skills.</a:t>
            </a:r>
          </a:p>
          <a:p>
            <a:pPr algn="l">
              <a:lnSpc>
                <a:spcPts val="2629"/>
              </a:lnSpc>
            </a:pPr>
            <a:r>
              <a:rPr lang="en-US" sz="1878" spc="-37">
                <a:solidFill>
                  <a:srgbClr val="F7F7F7"/>
                </a:solidFill>
                <a:latin typeface="Glacial Indifference"/>
                <a:ea typeface="Glacial Indifference"/>
                <a:cs typeface="Glacial Indifference"/>
                <a:sym typeface="Glacial Indifference"/>
              </a:rPr>
              <a:t>1. Debugging Errors</a:t>
            </a:r>
          </a:p>
          <a:p>
            <a:pPr algn="l">
              <a:lnSpc>
                <a:spcPts val="2629"/>
              </a:lnSpc>
            </a:pPr>
            <a:r>
              <a:rPr lang="en-US" sz="1878" spc="-37">
                <a:solidFill>
                  <a:srgbClr val="F7F7F7"/>
                </a:solidFill>
                <a:latin typeface="Glacial Indifference"/>
                <a:ea typeface="Glacial Indifference"/>
                <a:cs typeface="Glacial Indifference"/>
                <a:sym typeface="Glacial Indifference"/>
              </a:rPr>
              <a:t>Finding and fixing errors in code can take time. Programmers use debugging tools and testing techniques to identify problems and make applications work correctly.</a:t>
            </a:r>
          </a:p>
          <a:p>
            <a:pPr algn="l">
              <a:lnSpc>
                <a:spcPts val="2629"/>
              </a:lnSpc>
            </a:pPr>
            <a:r>
              <a:rPr lang="en-US" sz="1878" spc="-37">
                <a:solidFill>
                  <a:srgbClr val="F7F7F7"/>
                </a:solidFill>
                <a:latin typeface="Glacial Indifference"/>
                <a:ea typeface="Glacial Indifference"/>
                <a:cs typeface="Glacial Indifference"/>
                <a:sym typeface="Glacial Indifference"/>
              </a:rPr>
              <a:t>2. Managing Complex Code</a:t>
            </a:r>
          </a:p>
          <a:p>
            <a:pPr algn="l">
              <a:lnSpc>
                <a:spcPts val="2629"/>
              </a:lnSpc>
            </a:pPr>
            <a:r>
              <a:rPr lang="en-US" sz="1878" spc="-37">
                <a:solidFill>
                  <a:srgbClr val="F7F7F7"/>
                </a:solidFill>
                <a:latin typeface="Glacial Indifference"/>
                <a:ea typeface="Glacial Indifference"/>
                <a:cs typeface="Glacial Indifference"/>
                <a:sym typeface="Glacial Indifference"/>
              </a:rPr>
              <a:t>Large applications contain many files, functions, and components. Writing clean, reusable, and well-organized code makes projects easier to maintain.</a:t>
            </a:r>
          </a:p>
          <a:p>
            <a:pPr algn="l">
              <a:lnSpc>
                <a:spcPts val="2629"/>
              </a:lnSpc>
            </a:pPr>
          </a:p>
        </p:txBody>
      </p:sp>
      <p:grpSp>
        <p:nvGrpSpPr>
          <p:cNvPr name="Group 20" id="20"/>
          <p:cNvGrpSpPr/>
          <p:nvPr/>
        </p:nvGrpSpPr>
        <p:grpSpPr>
          <a:xfrm rot="0">
            <a:off x="2721983" y="6399867"/>
            <a:ext cx="8348235" cy="4827912"/>
            <a:chOff x="0" y="0"/>
            <a:chExt cx="2198712" cy="1271549"/>
          </a:xfrm>
        </p:grpSpPr>
        <p:sp>
          <p:nvSpPr>
            <p:cNvPr name="Freeform 21" id="21"/>
            <p:cNvSpPr/>
            <p:nvPr/>
          </p:nvSpPr>
          <p:spPr>
            <a:xfrm flipH="false" flipV="false" rot="0">
              <a:off x="0" y="0"/>
              <a:ext cx="2198712" cy="1271549"/>
            </a:xfrm>
            <a:custGeom>
              <a:avLst/>
              <a:gdLst/>
              <a:ahLst/>
              <a:cxnLst/>
              <a:rect r="r" b="b" t="t" l="l"/>
              <a:pathLst>
                <a:path h="1271549" w="2198712">
                  <a:moveTo>
                    <a:pt x="46369" y="0"/>
                  </a:moveTo>
                  <a:lnTo>
                    <a:pt x="2152343" y="0"/>
                  </a:lnTo>
                  <a:cubicBezTo>
                    <a:pt x="2164641" y="0"/>
                    <a:pt x="2176435" y="4885"/>
                    <a:pt x="2185131" y="13581"/>
                  </a:cubicBezTo>
                  <a:cubicBezTo>
                    <a:pt x="2193827" y="22277"/>
                    <a:pt x="2198712" y="34071"/>
                    <a:pt x="2198712" y="46369"/>
                  </a:cubicBezTo>
                  <a:lnTo>
                    <a:pt x="2198712" y="1225180"/>
                  </a:lnTo>
                  <a:cubicBezTo>
                    <a:pt x="2198712" y="1237478"/>
                    <a:pt x="2193827" y="1249272"/>
                    <a:pt x="2185131" y="1257968"/>
                  </a:cubicBezTo>
                  <a:cubicBezTo>
                    <a:pt x="2176435" y="1266664"/>
                    <a:pt x="2164641" y="1271549"/>
                    <a:pt x="2152343" y="1271549"/>
                  </a:cubicBezTo>
                  <a:lnTo>
                    <a:pt x="46369" y="1271549"/>
                  </a:lnTo>
                  <a:cubicBezTo>
                    <a:pt x="34071" y="1271549"/>
                    <a:pt x="22277" y="1266664"/>
                    <a:pt x="13581" y="1257968"/>
                  </a:cubicBezTo>
                  <a:cubicBezTo>
                    <a:pt x="4885" y="1249272"/>
                    <a:pt x="0" y="1237478"/>
                    <a:pt x="0" y="1225180"/>
                  </a:cubicBezTo>
                  <a:lnTo>
                    <a:pt x="0" y="46369"/>
                  </a:lnTo>
                  <a:cubicBezTo>
                    <a:pt x="0" y="34071"/>
                    <a:pt x="4885" y="22277"/>
                    <a:pt x="13581" y="13581"/>
                  </a:cubicBezTo>
                  <a:cubicBezTo>
                    <a:pt x="22277" y="4885"/>
                    <a:pt x="34071" y="0"/>
                    <a:pt x="46369" y="0"/>
                  </a:cubicBezTo>
                  <a:close/>
                </a:path>
              </a:pathLst>
            </a:custGeom>
            <a:solidFill>
              <a:srgbClr val="000000">
                <a:alpha val="49804"/>
              </a:srgbClr>
            </a:solidFill>
          </p:spPr>
        </p:sp>
        <p:sp>
          <p:nvSpPr>
            <p:cNvPr name="TextBox 22" id="22"/>
            <p:cNvSpPr txBox="true"/>
            <p:nvPr/>
          </p:nvSpPr>
          <p:spPr>
            <a:xfrm>
              <a:off x="0" y="47625"/>
              <a:ext cx="2198712" cy="1223924"/>
            </a:xfrm>
            <a:prstGeom prst="rect">
              <a:avLst/>
            </a:prstGeom>
          </p:spPr>
          <p:txBody>
            <a:bodyPr anchor="ctr" rtlCol="false" tIns="50800" lIns="50800" bIns="50800" rIns="50800"/>
            <a:lstStyle/>
            <a:p>
              <a:pPr algn="ctr">
                <a:lnSpc>
                  <a:spcPts val="1134"/>
                </a:lnSpc>
              </a:pPr>
            </a:p>
          </p:txBody>
        </p:sp>
      </p:grpSp>
      <p:grpSp>
        <p:nvGrpSpPr>
          <p:cNvPr name="Group 23" id="23"/>
          <p:cNvGrpSpPr/>
          <p:nvPr/>
        </p:nvGrpSpPr>
        <p:grpSpPr>
          <a:xfrm rot="0">
            <a:off x="2970511" y="6399867"/>
            <a:ext cx="8099707" cy="4627887"/>
            <a:chOff x="0" y="0"/>
            <a:chExt cx="2133256" cy="1218867"/>
          </a:xfrm>
        </p:grpSpPr>
        <p:sp>
          <p:nvSpPr>
            <p:cNvPr name="Freeform 24" id="24"/>
            <p:cNvSpPr/>
            <p:nvPr/>
          </p:nvSpPr>
          <p:spPr>
            <a:xfrm flipH="false" flipV="false" rot="0">
              <a:off x="0" y="0"/>
              <a:ext cx="2133256" cy="1218867"/>
            </a:xfrm>
            <a:custGeom>
              <a:avLst/>
              <a:gdLst/>
              <a:ahLst/>
              <a:cxnLst/>
              <a:rect r="r" b="b" t="t" l="l"/>
              <a:pathLst>
                <a:path h="1218867" w="2133256">
                  <a:moveTo>
                    <a:pt x="47791" y="0"/>
                  </a:moveTo>
                  <a:lnTo>
                    <a:pt x="2085465" y="0"/>
                  </a:lnTo>
                  <a:cubicBezTo>
                    <a:pt x="2098140" y="0"/>
                    <a:pt x="2110296" y="5035"/>
                    <a:pt x="2119258" y="13998"/>
                  </a:cubicBezTo>
                  <a:cubicBezTo>
                    <a:pt x="2128221" y="22960"/>
                    <a:pt x="2133256" y="35116"/>
                    <a:pt x="2133256" y="47791"/>
                  </a:cubicBezTo>
                  <a:lnTo>
                    <a:pt x="2133256" y="1171076"/>
                  </a:lnTo>
                  <a:cubicBezTo>
                    <a:pt x="2133256" y="1197470"/>
                    <a:pt x="2111859" y="1218867"/>
                    <a:pt x="2085465" y="1218867"/>
                  </a:cubicBezTo>
                  <a:lnTo>
                    <a:pt x="47791" y="1218867"/>
                  </a:lnTo>
                  <a:cubicBezTo>
                    <a:pt x="21397" y="1218867"/>
                    <a:pt x="0" y="1197470"/>
                    <a:pt x="0" y="1171076"/>
                  </a:cubicBezTo>
                  <a:lnTo>
                    <a:pt x="0" y="47791"/>
                  </a:lnTo>
                  <a:cubicBezTo>
                    <a:pt x="0" y="21397"/>
                    <a:pt x="21397" y="0"/>
                    <a:pt x="47791" y="0"/>
                  </a:cubicBezTo>
                  <a:close/>
                </a:path>
              </a:pathLst>
            </a:custGeom>
            <a:ln w="19050" cap="rnd">
              <a:gradFill>
                <a:gsLst>
                  <a:gs pos="0">
                    <a:srgbClr val="5DE0E6">
                      <a:alpha val="100000"/>
                    </a:srgbClr>
                  </a:gs>
                  <a:gs pos="100000">
                    <a:srgbClr val="004AAD">
                      <a:alpha val="100000"/>
                    </a:srgbClr>
                  </a:gs>
                </a:gsLst>
                <a:lin ang="0"/>
              </a:gradFill>
              <a:prstDash val="solid"/>
              <a:round/>
            </a:ln>
          </p:spPr>
        </p:sp>
        <p:sp>
          <p:nvSpPr>
            <p:cNvPr name="TextBox 25" id="25"/>
            <p:cNvSpPr txBox="true"/>
            <p:nvPr/>
          </p:nvSpPr>
          <p:spPr>
            <a:xfrm>
              <a:off x="0" y="47625"/>
              <a:ext cx="2133256" cy="1171242"/>
            </a:xfrm>
            <a:prstGeom prst="rect">
              <a:avLst/>
            </a:prstGeom>
          </p:spPr>
          <p:txBody>
            <a:bodyPr anchor="ctr" rtlCol="false" tIns="50800" lIns="50800" bIns="50800" rIns="50800"/>
            <a:lstStyle/>
            <a:p>
              <a:pPr algn="ctr">
                <a:lnSpc>
                  <a:spcPts val="1134"/>
                </a:lnSpc>
              </a:pPr>
            </a:p>
          </p:txBody>
        </p:sp>
      </p:grpSp>
      <p:grpSp>
        <p:nvGrpSpPr>
          <p:cNvPr name="Group 26" id="26"/>
          <p:cNvGrpSpPr/>
          <p:nvPr/>
        </p:nvGrpSpPr>
        <p:grpSpPr>
          <a:xfrm rot="0">
            <a:off x="3393329" y="6712209"/>
            <a:ext cx="7314126" cy="3843674"/>
            <a:chOff x="0" y="0"/>
            <a:chExt cx="1313684" cy="690359"/>
          </a:xfrm>
        </p:grpSpPr>
        <p:sp>
          <p:nvSpPr>
            <p:cNvPr name="Freeform 27" id="27"/>
            <p:cNvSpPr/>
            <p:nvPr/>
          </p:nvSpPr>
          <p:spPr>
            <a:xfrm flipH="false" flipV="false" rot="0">
              <a:off x="0" y="0"/>
              <a:ext cx="1313684" cy="690359"/>
            </a:xfrm>
            <a:custGeom>
              <a:avLst/>
              <a:gdLst/>
              <a:ahLst/>
              <a:cxnLst/>
              <a:rect r="r" b="b" t="t" l="l"/>
              <a:pathLst>
                <a:path h="690359" w="1313684">
                  <a:moveTo>
                    <a:pt x="52924" y="0"/>
                  </a:moveTo>
                  <a:lnTo>
                    <a:pt x="1260760" y="0"/>
                  </a:lnTo>
                  <a:cubicBezTo>
                    <a:pt x="1289989" y="0"/>
                    <a:pt x="1313684" y="23695"/>
                    <a:pt x="1313684" y="52924"/>
                  </a:cubicBezTo>
                  <a:lnTo>
                    <a:pt x="1313684" y="637435"/>
                  </a:lnTo>
                  <a:cubicBezTo>
                    <a:pt x="1313684" y="651471"/>
                    <a:pt x="1308109" y="664933"/>
                    <a:pt x="1298183" y="674858"/>
                  </a:cubicBezTo>
                  <a:cubicBezTo>
                    <a:pt x="1288258" y="684783"/>
                    <a:pt x="1274796" y="690359"/>
                    <a:pt x="1260760" y="690359"/>
                  </a:cubicBezTo>
                  <a:lnTo>
                    <a:pt x="52924" y="690359"/>
                  </a:lnTo>
                  <a:cubicBezTo>
                    <a:pt x="38888" y="690359"/>
                    <a:pt x="25426" y="684783"/>
                    <a:pt x="15501" y="674858"/>
                  </a:cubicBezTo>
                  <a:cubicBezTo>
                    <a:pt x="5576" y="664933"/>
                    <a:pt x="0" y="651471"/>
                    <a:pt x="0" y="637435"/>
                  </a:cubicBezTo>
                  <a:lnTo>
                    <a:pt x="0" y="52924"/>
                  </a:lnTo>
                  <a:cubicBezTo>
                    <a:pt x="0" y="38888"/>
                    <a:pt x="5576" y="25426"/>
                    <a:pt x="15501" y="15501"/>
                  </a:cubicBezTo>
                  <a:cubicBezTo>
                    <a:pt x="25426" y="5576"/>
                    <a:pt x="38888" y="0"/>
                    <a:pt x="52924" y="0"/>
                  </a:cubicBezTo>
                  <a:close/>
                </a:path>
              </a:pathLst>
            </a:custGeom>
            <a:blipFill>
              <a:blip r:embed="rId5"/>
              <a:stretch>
                <a:fillRect l="0" t="-13390" r="0" b="-13390"/>
              </a:stretch>
            </a:blipFill>
          </p:spPr>
        </p:sp>
      </p:grpSp>
      <p:sp>
        <p:nvSpPr>
          <p:cNvPr name="TextBox 28" id="28"/>
          <p:cNvSpPr txBox="true"/>
          <p:nvPr/>
        </p:nvSpPr>
        <p:spPr>
          <a:xfrm rot="0">
            <a:off x="11070218" y="6512074"/>
            <a:ext cx="7217782" cy="3450385"/>
          </a:xfrm>
          <a:prstGeom prst="rect">
            <a:avLst/>
          </a:prstGeom>
        </p:spPr>
        <p:txBody>
          <a:bodyPr anchor="t" rtlCol="false" tIns="0" lIns="0" bIns="0" rIns="0">
            <a:spAutoFit/>
          </a:bodyPr>
          <a:lstStyle/>
          <a:p>
            <a:pPr algn="l">
              <a:lnSpc>
                <a:spcPts val="2516"/>
              </a:lnSpc>
            </a:pPr>
            <a:r>
              <a:rPr lang="en-US" sz="1797" spc="-35">
                <a:solidFill>
                  <a:srgbClr val="F7F7F7"/>
                </a:solidFill>
                <a:latin typeface="Glacial Indifference"/>
                <a:ea typeface="Glacial Indifference"/>
                <a:cs typeface="Glacial Indifference"/>
                <a:sym typeface="Glacial Indifference"/>
              </a:rPr>
              <a:t>3. Security Issues</a:t>
            </a:r>
          </a:p>
          <a:p>
            <a:pPr algn="l">
              <a:lnSpc>
                <a:spcPts val="2516"/>
              </a:lnSpc>
            </a:pPr>
            <a:r>
              <a:rPr lang="en-US" sz="1797" spc="-35">
                <a:solidFill>
                  <a:srgbClr val="F7F7F7"/>
                </a:solidFill>
                <a:latin typeface="Glacial Indifference"/>
                <a:ea typeface="Glacial Indifference"/>
                <a:cs typeface="Glacial Indifference"/>
                <a:sym typeface="Glacial Indifference"/>
              </a:rPr>
              <a:t>Web applications may face risks such as unauthorized access, data leaks, and malicious attacks. Developers need to follow secure coding practices to protect application data.</a:t>
            </a:r>
          </a:p>
          <a:p>
            <a:pPr algn="l">
              <a:lnSpc>
                <a:spcPts val="2516"/>
              </a:lnSpc>
            </a:pPr>
            <a:r>
              <a:rPr lang="en-US" sz="1797" spc="-35">
                <a:solidFill>
                  <a:srgbClr val="F7F7F7"/>
                </a:solidFill>
                <a:latin typeface="Glacial Indifference"/>
                <a:ea typeface="Glacial Indifference"/>
                <a:cs typeface="Glacial Indifference"/>
                <a:sym typeface="Glacial Indifference"/>
              </a:rPr>
              <a:t>4. Performance Optimization</a:t>
            </a:r>
          </a:p>
          <a:p>
            <a:pPr algn="l">
              <a:lnSpc>
                <a:spcPts val="2516"/>
              </a:lnSpc>
            </a:pPr>
            <a:r>
              <a:rPr lang="en-US" sz="1797" spc="-35">
                <a:solidFill>
                  <a:srgbClr val="F7F7F7"/>
                </a:solidFill>
                <a:latin typeface="Glacial Indifference"/>
                <a:ea typeface="Glacial Indifference"/>
                <a:cs typeface="Glacial Indifference"/>
                <a:sym typeface="Glacial Indifference"/>
              </a:rPr>
              <a:t>Slow applications can affect user experience. Programmers improve performance by optimizing code, database queries, and resource usage.</a:t>
            </a:r>
          </a:p>
          <a:p>
            <a:pPr algn="l">
              <a:lnSpc>
                <a:spcPts val="2516"/>
              </a:lnSpc>
            </a:pPr>
            <a:r>
              <a:rPr lang="en-US" sz="1797" spc="-35">
                <a:solidFill>
                  <a:srgbClr val="F7F7F7"/>
                </a:solidFill>
                <a:latin typeface="Glacial Indifference"/>
                <a:ea typeface="Glacial Indifference"/>
                <a:cs typeface="Glacial Indifference"/>
                <a:sym typeface="Glacial Indifference"/>
              </a:rPr>
              <a:t>5. Learning New Technologies</a:t>
            </a:r>
          </a:p>
          <a:p>
            <a:pPr algn="l">
              <a:lnSpc>
                <a:spcPts val="2516"/>
              </a:lnSpc>
            </a:pPr>
            <a:r>
              <a:rPr lang="en-US" sz="1797" spc="-35">
                <a:solidFill>
                  <a:srgbClr val="F7F7F7"/>
                </a:solidFill>
                <a:latin typeface="Glacial Indifference"/>
                <a:ea typeface="Glacial Indifference"/>
                <a:cs typeface="Glacial Indifference"/>
                <a:sym typeface="Glacial Indifference"/>
              </a:rPr>
              <a:t>Programming tools and frameworks continue to evolve. Developers need to keep learning new technologies and updating their skills.</a:t>
            </a:r>
          </a:p>
          <a:p>
            <a:pPr algn="l">
              <a:lnSpc>
                <a:spcPts val="2516"/>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15780466" y="639280"/>
            <a:ext cx="1478834" cy="453314"/>
            <a:chOff x="0" y="0"/>
            <a:chExt cx="389487" cy="119391"/>
          </a:xfrm>
        </p:grpSpPr>
        <p:sp>
          <p:nvSpPr>
            <p:cNvPr name="Freeform 4" id="4"/>
            <p:cNvSpPr/>
            <p:nvPr/>
          </p:nvSpPr>
          <p:spPr>
            <a:xfrm flipH="false" flipV="false" rot="0">
              <a:off x="0" y="0"/>
              <a:ext cx="389487" cy="119391"/>
            </a:xfrm>
            <a:custGeom>
              <a:avLst/>
              <a:gdLst/>
              <a:ahLst/>
              <a:cxnLst/>
              <a:rect r="r" b="b" t="t" l="l"/>
              <a:pathLst>
                <a:path h="119391" w="389487">
                  <a:moveTo>
                    <a:pt x="52352" y="0"/>
                  </a:moveTo>
                  <a:lnTo>
                    <a:pt x="337136" y="0"/>
                  </a:lnTo>
                  <a:cubicBezTo>
                    <a:pt x="366049" y="0"/>
                    <a:pt x="389487" y="23439"/>
                    <a:pt x="389487" y="52352"/>
                  </a:cubicBezTo>
                  <a:lnTo>
                    <a:pt x="389487" y="67040"/>
                  </a:lnTo>
                  <a:cubicBezTo>
                    <a:pt x="389487" y="80924"/>
                    <a:pt x="383972" y="94240"/>
                    <a:pt x="374154" y="104058"/>
                  </a:cubicBezTo>
                  <a:cubicBezTo>
                    <a:pt x="364336" y="113876"/>
                    <a:pt x="351020" y="119391"/>
                    <a:pt x="337136" y="119391"/>
                  </a:cubicBezTo>
                  <a:lnTo>
                    <a:pt x="52352" y="119391"/>
                  </a:lnTo>
                  <a:cubicBezTo>
                    <a:pt x="23439" y="119391"/>
                    <a:pt x="0" y="95953"/>
                    <a:pt x="0" y="67040"/>
                  </a:cubicBezTo>
                  <a:lnTo>
                    <a:pt x="0" y="52352"/>
                  </a:lnTo>
                  <a:cubicBezTo>
                    <a:pt x="0" y="23439"/>
                    <a:pt x="23439" y="0"/>
                    <a:pt x="52352" y="0"/>
                  </a:cubicBezTo>
                  <a:close/>
                </a:path>
              </a:pathLst>
            </a:custGeom>
            <a:gradFill rotWithShape="true">
              <a:gsLst>
                <a:gs pos="0">
                  <a:srgbClr val="5DE0E6">
                    <a:alpha val="100000"/>
                  </a:srgbClr>
                </a:gs>
                <a:gs pos="100000">
                  <a:srgbClr val="004AAD">
                    <a:alpha val="100000"/>
                  </a:srgbClr>
                </a:gs>
              </a:gsLst>
              <a:lin ang="0"/>
            </a:gradFill>
            <a:ln cap="sq">
              <a:noFill/>
              <a:prstDash val="solid"/>
              <a:miter/>
            </a:ln>
          </p:spPr>
        </p:sp>
        <p:sp>
          <p:nvSpPr>
            <p:cNvPr name="TextBox 5" id="5"/>
            <p:cNvSpPr txBox="true"/>
            <p:nvPr/>
          </p:nvSpPr>
          <p:spPr>
            <a:xfrm>
              <a:off x="0" y="28575"/>
              <a:ext cx="389487" cy="90816"/>
            </a:xfrm>
            <a:prstGeom prst="rect">
              <a:avLst/>
            </a:prstGeom>
          </p:spPr>
          <p:txBody>
            <a:bodyPr anchor="ctr" rtlCol="false" tIns="50800" lIns="50800" bIns="50800" rIns="50800"/>
            <a:lstStyle/>
            <a:p>
              <a:pPr algn="ctr">
                <a:lnSpc>
                  <a:spcPts val="1134"/>
                </a:lnSpc>
              </a:pPr>
            </a:p>
          </p:txBody>
        </p:sp>
      </p:grpSp>
      <p:grpSp>
        <p:nvGrpSpPr>
          <p:cNvPr name="Group 6" id="6"/>
          <p:cNvGrpSpPr/>
          <p:nvPr/>
        </p:nvGrpSpPr>
        <p:grpSpPr>
          <a:xfrm rot="0">
            <a:off x="10422062" y="5733806"/>
            <a:ext cx="6837238" cy="684161"/>
            <a:chOff x="0" y="0"/>
            <a:chExt cx="1800754" cy="180191"/>
          </a:xfrm>
        </p:grpSpPr>
        <p:sp>
          <p:nvSpPr>
            <p:cNvPr name="Freeform 7" id="7"/>
            <p:cNvSpPr/>
            <p:nvPr/>
          </p:nvSpPr>
          <p:spPr>
            <a:xfrm flipH="false" flipV="false" rot="0">
              <a:off x="0" y="0"/>
              <a:ext cx="1800754" cy="180191"/>
            </a:xfrm>
            <a:custGeom>
              <a:avLst/>
              <a:gdLst/>
              <a:ahLst/>
              <a:cxnLst/>
              <a:rect r="r" b="b" t="t" l="l"/>
              <a:pathLst>
                <a:path h="180191" w="1800754">
                  <a:moveTo>
                    <a:pt x="33970" y="0"/>
                  </a:moveTo>
                  <a:lnTo>
                    <a:pt x="1766785" y="0"/>
                  </a:lnTo>
                  <a:cubicBezTo>
                    <a:pt x="1785545" y="0"/>
                    <a:pt x="1800754" y="15209"/>
                    <a:pt x="1800754" y="33970"/>
                  </a:cubicBezTo>
                  <a:lnTo>
                    <a:pt x="1800754" y="146221"/>
                  </a:lnTo>
                  <a:cubicBezTo>
                    <a:pt x="1800754" y="155230"/>
                    <a:pt x="1797175" y="163871"/>
                    <a:pt x="1790805" y="170241"/>
                  </a:cubicBezTo>
                  <a:cubicBezTo>
                    <a:pt x="1784434" y="176612"/>
                    <a:pt x="1775794" y="180191"/>
                    <a:pt x="1766785" y="180191"/>
                  </a:cubicBezTo>
                  <a:lnTo>
                    <a:pt x="33970" y="180191"/>
                  </a:lnTo>
                  <a:cubicBezTo>
                    <a:pt x="15209" y="180191"/>
                    <a:pt x="0" y="164982"/>
                    <a:pt x="0" y="146221"/>
                  </a:cubicBezTo>
                  <a:lnTo>
                    <a:pt x="0" y="33970"/>
                  </a:lnTo>
                  <a:cubicBezTo>
                    <a:pt x="0" y="15209"/>
                    <a:pt x="15209" y="0"/>
                    <a:pt x="33970" y="0"/>
                  </a:cubicBezTo>
                  <a:close/>
                </a:path>
              </a:pathLst>
            </a:custGeom>
            <a:gradFill rotWithShape="true">
              <a:gsLst>
                <a:gs pos="0">
                  <a:srgbClr val="5DE0E6">
                    <a:alpha val="100000"/>
                  </a:srgbClr>
                </a:gs>
                <a:gs pos="100000">
                  <a:srgbClr val="004AAD">
                    <a:alpha val="100000"/>
                  </a:srgbClr>
                </a:gs>
              </a:gsLst>
              <a:lin ang="0"/>
            </a:gradFill>
            <a:ln cap="rnd">
              <a:noFill/>
              <a:prstDash val="solid"/>
              <a:round/>
            </a:ln>
          </p:spPr>
        </p:sp>
        <p:sp>
          <p:nvSpPr>
            <p:cNvPr name="TextBox 8" id="8"/>
            <p:cNvSpPr txBox="true"/>
            <p:nvPr/>
          </p:nvSpPr>
          <p:spPr>
            <a:xfrm>
              <a:off x="0" y="28575"/>
              <a:ext cx="1800754" cy="151616"/>
            </a:xfrm>
            <a:prstGeom prst="rect">
              <a:avLst/>
            </a:prstGeom>
          </p:spPr>
          <p:txBody>
            <a:bodyPr anchor="ctr" rtlCol="false" tIns="50800" lIns="50800" bIns="50800" rIns="50800"/>
            <a:lstStyle/>
            <a:p>
              <a:pPr algn="ctr">
                <a:lnSpc>
                  <a:spcPts val="1134"/>
                </a:lnSpc>
              </a:pPr>
            </a:p>
          </p:txBody>
        </p:sp>
      </p:grpSp>
      <p:sp>
        <p:nvSpPr>
          <p:cNvPr name="TextBox 9" id="9"/>
          <p:cNvSpPr txBox="true"/>
          <p:nvPr/>
        </p:nvSpPr>
        <p:spPr>
          <a:xfrm rot="0">
            <a:off x="10422062" y="3721611"/>
            <a:ext cx="6837238" cy="1805386"/>
          </a:xfrm>
          <a:prstGeom prst="rect">
            <a:avLst/>
          </a:prstGeom>
        </p:spPr>
        <p:txBody>
          <a:bodyPr anchor="t" rtlCol="false" tIns="0" lIns="0" bIns="0" rIns="0">
            <a:spAutoFit/>
          </a:bodyPr>
          <a:lstStyle/>
          <a:p>
            <a:pPr algn="l">
              <a:lnSpc>
                <a:spcPts val="6044"/>
              </a:lnSpc>
            </a:pPr>
            <a:r>
              <a:rPr lang="en-US" b="true" sz="7282" spc="-473">
                <a:solidFill>
                  <a:srgbClr val="52CFE0"/>
                </a:solidFill>
                <a:latin typeface="Helvetica World Bold"/>
                <a:ea typeface="Helvetica World Bold"/>
                <a:cs typeface="Helvetica World Bold"/>
                <a:sym typeface="Helvetica World Bold"/>
              </a:rPr>
              <a:t>THE IMPACT OF PROGRAMMERS</a:t>
            </a:r>
          </a:p>
        </p:txBody>
      </p:sp>
      <p:sp>
        <p:nvSpPr>
          <p:cNvPr name="TextBox 10" id="10"/>
          <p:cNvSpPr txBox="true"/>
          <p:nvPr/>
        </p:nvSpPr>
        <p:spPr>
          <a:xfrm rot="0">
            <a:off x="7054987" y="807453"/>
            <a:ext cx="810952"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Home</a:t>
            </a:r>
          </a:p>
        </p:txBody>
      </p:sp>
      <p:sp>
        <p:nvSpPr>
          <p:cNvPr name="TextBox 11" id="11"/>
          <p:cNvSpPr txBox="true"/>
          <p:nvPr/>
        </p:nvSpPr>
        <p:spPr>
          <a:xfrm rot="0">
            <a:off x="8498359" y="807453"/>
            <a:ext cx="1051116"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About Us</a:t>
            </a:r>
          </a:p>
        </p:txBody>
      </p:sp>
      <p:sp>
        <p:nvSpPr>
          <p:cNvPr name="TextBox 12" id="12"/>
          <p:cNvSpPr txBox="true"/>
          <p:nvPr/>
        </p:nvSpPr>
        <p:spPr>
          <a:xfrm rot="0">
            <a:off x="10181897" y="807453"/>
            <a:ext cx="1051116"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Services</a:t>
            </a:r>
          </a:p>
        </p:txBody>
      </p:sp>
      <p:sp>
        <p:nvSpPr>
          <p:cNvPr name="TextBox 13" id="13"/>
          <p:cNvSpPr txBox="true"/>
          <p:nvPr/>
        </p:nvSpPr>
        <p:spPr>
          <a:xfrm rot="0">
            <a:off x="16034591" y="807453"/>
            <a:ext cx="970584" cy="177293"/>
          </a:xfrm>
          <a:prstGeom prst="rect">
            <a:avLst/>
          </a:prstGeom>
        </p:spPr>
        <p:txBody>
          <a:bodyPr anchor="t" rtlCol="false" tIns="0" lIns="0" bIns="0" rIns="0">
            <a:spAutoFit/>
          </a:bodyPr>
          <a:lstStyle/>
          <a:p>
            <a:pPr algn="ctr">
              <a:lnSpc>
                <a:spcPts val="1134"/>
              </a:lnSpc>
            </a:pPr>
            <a:r>
              <a:rPr lang="en-US" b="true" sz="1400" spc="-28">
                <a:solidFill>
                  <a:srgbClr val="000000"/>
                </a:solidFill>
                <a:latin typeface="Helvetica World Bold"/>
                <a:ea typeface="Helvetica World Bold"/>
                <a:cs typeface="Helvetica World Bold"/>
                <a:sym typeface="Helvetica World Bold"/>
              </a:rPr>
              <a:t>Contact</a:t>
            </a:r>
          </a:p>
        </p:txBody>
      </p:sp>
      <p:sp>
        <p:nvSpPr>
          <p:cNvPr name="TextBox 14" id="14"/>
          <p:cNvSpPr txBox="true"/>
          <p:nvPr/>
        </p:nvSpPr>
        <p:spPr>
          <a:xfrm rot="0">
            <a:off x="10422062" y="5879164"/>
            <a:ext cx="6837238" cy="431546"/>
          </a:xfrm>
          <a:prstGeom prst="rect">
            <a:avLst/>
          </a:prstGeom>
        </p:spPr>
        <p:txBody>
          <a:bodyPr anchor="t" rtlCol="false" tIns="0" lIns="0" bIns="0" rIns="0">
            <a:spAutoFit/>
          </a:bodyPr>
          <a:lstStyle/>
          <a:p>
            <a:pPr algn="ctr">
              <a:lnSpc>
                <a:spcPts val="2911"/>
              </a:lnSpc>
            </a:pPr>
            <a:r>
              <a:rPr lang="en-US" b="true" sz="2799" spc="-55">
                <a:solidFill>
                  <a:srgbClr val="000000"/>
                </a:solidFill>
                <a:latin typeface="Helvetica World Bold"/>
                <a:ea typeface="Helvetica World Bold"/>
                <a:cs typeface="Helvetica World Bold"/>
                <a:sym typeface="Helvetica World Bold"/>
              </a:rPr>
              <a:t>Shaping the Digital World</a:t>
            </a:r>
          </a:p>
        </p:txBody>
      </p:sp>
      <p:grpSp>
        <p:nvGrpSpPr>
          <p:cNvPr name="Group 15" id="15"/>
          <p:cNvGrpSpPr/>
          <p:nvPr/>
        </p:nvGrpSpPr>
        <p:grpSpPr>
          <a:xfrm rot="0">
            <a:off x="10422062" y="2571871"/>
            <a:ext cx="624254" cy="624254"/>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100000"/>
                  </a:srgbClr>
                </a:gs>
                <a:gs pos="100000">
                  <a:srgbClr val="004AAD">
                    <a:alpha val="100000"/>
                  </a:srgbClr>
                </a:gs>
              </a:gsLst>
              <a:lin ang="0"/>
            </a:gradFill>
          </p:spPr>
        </p:sp>
        <p:sp>
          <p:nvSpPr>
            <p:cNvPr name="TextBox 17" id="17"/>
            <p:cNvSpPr txBox="true"/>
            <p:nvPr/>
          </p:nvSpPr>
          <p:spPr>
            <a:xfrm>
              <a:off x="76200" y="123825"/>
              <a:ext cx="660400" cy="612775"/>
            </a:xfrm>
            <a:prstGeom prst="rect">
              <a:avLst/>
            </a:prstGeom>
          </p:spPr>
          <p:txBody>
            <a:bodyPr anchor="ctr" rtlCol="false" tIns="50800" lIns="50800" bIns="50800" rIns="50800"/>
            <a:lstStyle/>
            <a:p>
              <a:pPr algn="ctr">
                <a:lnSpc>
                  <a:spcPts val="1134"/>
                </a:lnSpc>
              </a:pPr>
            </a:p>
          </p:txBody>
        </p:sp>
      </p:grpSp>
      <p:sp>
        <p:nvSpPr>
          <p:cNvPr name="Freeform 18" id="18"/>
          <p:cNvSpPr/>
          <p:nvPr/>
        </p:nvSpPr>
        <p:spPr>
          <a:xfrm flipH="true" flipV="false" rot="0">
            <a:off x="10652638" y="2714820"/>
            <a:ext cx="203860" cy="338357"/>
          </a:xfrm>
          <a:custGeom>
            <a:avLst/>
            <a:gdLst/>
            <a:ahLst/>
            <a:cxnLst/>
            <a:rect r="r" b="b" t="t" l="l"/>
            <a:pathLst>
              <a:path h="338357" w="203860">
                <a:moveTo>
                  <a:pt x="203860" y="0"/>
                </a:moveTo>
                <a:lnTo>
                  <a:pt x="0" y="0"/>
                </a:lnTo>
                <a:lnTo>
                  <a:pt x="0" y="338357"/>
                </a:lnTo>
                <a:lnTo>
                  <a:pt x="203860" y="338357"/>
                </a:lnTo>
                <a:lnTo>
                  <a:pt x="20386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0">
            <a:off x="1028700" y="2571871"/>
            <a:ext cx="8520776" cy="6686429"/>
            <a:chOff x="0" y="0"/>
            <a:chExt cx="2244155" cy="1761035"/>
          </a:xfrm>
        </p:grpSpPr>
        <p:sp>
          <p:nvSpPr>
            <p:cNvPr name="Freeform 20" id="20"/>
            <p:cNvSpPr/>
            <p:nvPr/>
          </p:nvSpPr>
          <p:spPr>
            <a:xfrm flipH="false" flipV="false" rot="0">
              <a:off x="0" y="0"/>
              <a:ext cx="2244155" cy="1761035"/>
            </a:xfrm>
            <a:custGeom>
              <a:avLst/>
              <a:gdLst/>
              <a:ahLst/>
              <a:cxnLst/>
              <a:rect r="r" b="b" t="t" l="l"/>
              <a:pathLst>
                <a:path h="1761035" w="2244155">
                  <a:moveTo>
                    <a:pt x="45430" y="0"/>
                  </a:moveTo>
                  <a:lnTo>
                    <a:pt x="2198725" y="0"/>
                  </a:lnTo>
                  <a:cubicBezTo>
                    <a:pt x="2223815" y="0"/>
                    <a:pt x="2244155" y="20340"/>
                    <a:pt x="2244155" y="45430"/>
                  </a:cubicBezTo>
                  <a:lnTo>
                    <a:pt x="2244155" y="1715605"/>
                  </a:lnTo>
                  <a:cubicBezTo>
                    <a:pt x="2244155" y="1740695"/>
                    <a:pt x="2223815" y="1761035"/>
                    <a:pt x="2198725" y="1761035"/>
                  </a:cubicBezTo>
                  <a:lnTo>
                    <a:pt x="45430" y="1761035"/>
                  </a:lnTo>
                  <a:cubicBezTo>
                    <a:pt x="33381" y="1761035"/>
                    <a:pt x="21826" y="1756248"/>
                    <a:pt x="13306" y="1747729"/>
                  </a:cubicBezTo>
                  <a:cubicBezTo>
                    <a:pt x="4786" y="1739209"/>
                    <a:pt x="0" y="1727654"/>
                    <a:pt x="0" y="1715605"/>
                  </a:cubicBezTo>
                  <a:lnTo>
                    <a:pt x="0" y="45430"/>
                  </a:lnTo>
                  <a:cubicBezTo>
                    <a:pt x="0" y="20340"/>
                    <a:pt x="20340" y="0"/>
                    <a:pt x="45430" y="0"/>
                  </a:cubicBezTo>
                  <a:close/>
                </a:path>
              </a:pathLst>
            </a:custGeom>
            <a:solidFill>
              <a:srgbClr val="000000">
                <a:alpha val="49804"/>
              </a:srgbClr>
            </a:solidFill>
          </p:spPr>
        </p:sp>
        <p:sp>
          <p:nvSpPr>
            <p:cNvPr name="TextBox 21" id="21"/>
            <p:cNvSpPr txBox="true"/>
            <p:nvPr/>
          </p:nvSpPr>
          <p:spPr>
            <a:xfrm>
              <a:off x="0" y="47625"/>
              <a:ext cx="2244155" cy="1713410"/>
            </a:xfrm>
            <a:prstGeom prst="rect">
              <a:avLst/>
            </a:prstGeom>
          </p:spPr>
          <p:txBody>
            <a:bodyPr anchor="ctr" rtlCol="false" tIns="50800" lIns="50800" bIns="50800" rIns="50800"/>
            <a:lstStyle/>
            <a:p>
              <a:pPr algn="ctr">
                <a:lnSpc>
                  <a:spcPts val="1134"/>
                </a:lnSpc>
              </a:pPr>
            </a:p>
          </p:txBody>
        </p:sp>
      </p:grpSp>
      <p:grpSp>
        <p:nvGrpSpPr>
          <p:cNvPr name="Group 22" id="22"/>
          <p:cNvGrpSpPr/>
          <p:nvPr/>
        </p:nvGrpSpPr>
        <p:grpSpPr>
          <a:xfrm rot="0">
            <a:off x="1044243" y="2571871"/>
            <a:ext cx="8520776" cy="6686429"/>
            <a:chOff x="0" y="0"/>
            <a:chExt cx="2244155" cy="1761035"/>
          </a:xfrm>
        </p:grpSpPr>
        <p:sp>
          <p:nvSpPr>
            <p:cNvPr name="Freeform 23" id="23"/>
            <p:cNvSpPr/>
            <p:nvPr/>
          </p:nvSpPr>
          <p:spPr>
            <a:xfrm flipH="false" flipV="false" rot="0">
              <a:off x="0" y="0"/>
              <a:ext cx="2244155" cy="1761035"/>
            </a:xfrm>
            <a:custGeom>
              <a:avLst/>
              <a:gdLst/>
              <a:ahLst/>
              <a:cxnLst/>
              <a:rect r="r" b="b" t="t" l="l"/>
              <a:pathLst>
                <a:path h="1761035" w="2244155">
                  <a:moveTo>
                    <a:pt x="45430" y="0"/>
                  </a:moveTo>
                  <a:lnTo>
                    <a:pt x="2198725" y="0"/>
                  </a:lnTo>
                  <a:cubicBezTo>
                    <a:pt x="2223815" y="0"/>
                    <a:pt x="2244155" y="20340"/>
                    <a:pt x="2244155" y="45430"/>
                  </a:cubicBezTo>
                  <a:lnTo>
                    <a:pt x="2244155" y="1715605"/>
                  </a:lnTo>
                  <a:cubicBezTo>
                    <a:pt x="2244155" y="1740695"/>
                    <a:pt x="2223815" y="1761035"/>
                    <a:pt x="2198725" y="1761035"/>
                  </a:cubicBezTo>
                  <a:lnTo>
                    <a:pt x="45430" y="1761035"/>
                  </a:lnTo>
                  <a:cubicBezTo>
                    <a:pt x="33381" y="1761035"/>
                    <a:pt x="21826" y="1756248"/>
                    <a:pt x="13306" y="1747729"/>
                  </a:cubicBezTo>
                  <a:cubicBezTo>
                    <a:pt x="4786" y="1739209"/>
                    <a:pt x="0" y="1727654"/>
                    <a:pt x="0" y="1715605"/>
                  </a:cubicBezTo>
                  <a:lnTo>
                    <a:pt x="0" y="45430"/>
                  </a:lnTo>
                  <a:cubicBezTo>
                    <a:pt x="0" y="20340"/>
                    <a:pt x="20340" y="0"/>
                    <a:pt x="45430" y="0"/>
                  </a:cubicBezTo>
                  <a:close/>
                </a:path>
              </a:pathLst>
            </a:custGeom>
            <a:ln w="19050" cap="rnd">
              <a:gradFill>
                <a:gsLst>
                  <a:gs pos="0">
                    <a:srgbClr val="5DE0E6">
                      <a:alpha val="100000"/>
                    </a:srgbClr>
                  </a:gs>
                  <a:gs pos="100000">
                    <a:srgbClr val="004AAD">
                      <a:alpha val="100000"/>
                    </a:srgbClr>
                  </a:gs>
                </a:gsLst>
                <a:lin ang="0"/>
              </a:gradFill>
              <a:prstDash val="solid"/>
              <a:round/>
            </a:ln>
          </p:spPr>
        </p:sp>
        <p:sp>
          <p:nvSpPr>
            <p:cNvPr name="TextBox 24" id="24"/>
            <p:cNvSpPr txBox="true"/>
            <p:nvPr/>
          </p:nvSpPr>
          <p:spPr>
            <a:xfrm>
              <a:off x="0" y="47625"/>
              <a:ext cx="2244155" cy="1713410"/>
            </a:xfrm>
            <a:prstGeom prst="rect">
              <a:avLst/>
            </a:prstGeom>
          </p:spPr>
          <p:txBody>
            <a:bodyPr anchor="ctr" rtlCol="false" tIns="50800" lIns="50800" bIns="50800" rIns="50800"/>
            <a:lstStyle/>
            <a:p>
              <a:pPr algn="ctr">
                <a:lnSpc>
                  <a:spcPts val="1134"/>
                </a:lnSpc>
              </a:pPr>
            </a:p>
          </p:txBody>
        </p:sp>
      </p:grpSp>
      <p:sp>
        <p:nvSpPr>
          <p:cNvPr name="TextBox 25" id="25"/>
          <p:cNvSpPr txBox="true"/>
          <p:nvPr/>
        </p:nvSpPr>
        <p:spPr>
          <a:xfrm rot="0">
            <a:off x="1722027" y="3788181"/>
            <a:ext cx="7567250" cy="973554"/>
          </a:xfrm>
          <a:prstGeom prst="rect">
            <a:avLst/>
          </a:prstGeom>
        </p:spPr>
        <p:txBody>
          <a:bodyPr anchor="t" rtlCol="false" tIns="0" lIns="0" bIns="0" rIns="0">
            <a:spAutoFit/>
          </a:bodyPr>
          <a:lstStyle/>
          <a:p>
            <a:pPr algn="l">
              <a:lnSpc>
                <a:spcPts val="2519"/>
              </a:lnSpc>
            </a:pPr>
            <a:r>
              <a:rPr lang="en-US" sz="1799" i="true" spc="-35">
                <a:solidFill>
                  <a:srgbClr val="F7F7F7"/>
                </a:solidFill>
                <a:latin typeface="Times New Roman MT Italics"/>
                <a:ea typeface="Times New Roman MT Italics"/>
                <a:cs typeface="Times New Roman MT Italics"/>
                <a:sym typeface="Times New Roman MT Italics"/>
              </a:rPr>
              <a:t>Python helps developers build AI applications such as chatbots and recommendation systems. Automation reduces repetitive tasks, saves time, improves accuracy, and increases business efficiency.</a:t>
            </a:r>
          </a:p>
        </p:txBody>
      </p:sp>
      <p:sp>
        <p:nvSpPr>
          <p:cNvPr name="TextBox 26" id="26"/>
          <p:cNvSpPr txBox="true"/>
          <p:nvPr/>
        </p:nvSpPr>
        <p:spPr>
          <a:xfrm rot="0">
            <a:off x="1722027" y="3237723"/>
            <a:ext cx="7071950" cy="412529"/>
          </a:xfrm>
          <a:prstGeom prst="rect">
            <a:avLst/>
          </a:prstGeom>
        </p:spPr>
        <p:txBody>
          <a:bodyPr anchor="t" rtlCol="false" tIns="0" lIns="0" bIns="0" rIns="0">
            <a:spAutoFit/>
          </a:bodyPr>
          <a:lstStyle/>
          <a:p>
            <a:pPr algn="l">
              <a:lnSpc>
                <a:spcPts val="2911"/>
              </a:lnSpc>
            </a:pPr>
            <a:r>
              <a:rPr lang="en-US" sz="2799" spc="-55" b="true">
                <a:solidFill>
                  <a:srgbClr val="52CFE0"/>
                </a:solidFill>
                <a:latin typeface="Helvetica World Bold"/>
                <a:ea typeface="Helvetica World Bold"/>
                <a:cs typeface="Helvetica World Bold"/>
                <a:sym typeface="Helvetica World Bold"/>
              </a:rPr>
              <a:t>Advancing AI and automation technologies</a:t>
            </a:r>
          </a:p>
        </p:txBody>
      </p:sp>
      <p:sp>
        <p:nvSpPr>
          <p:cNvPr name="TextBox 27" id="27"/>
          <p:cNvSpPr txBox="true"/>
          <p:nvPr/>
        </p:nvSpPr>
        <p:spPr>
          <a:xfrm rot="0">
            <a:off x="1753113" y="5941395"/>
            <a:ext cx="7650323" cy="946242"/>
          </a:xfrm>
          <a:prstGeom prst="rect">
            <a:avLst/>
          </a:prstGeom>
        </p:spPr>
        <p:txBody>
          <a:bodyPr anchor="t" rtlCol="false" tIns="0" lIns="0" bIns="0" rIns="0">
            <a:spAutoFit/>
          </a:bodyPr>
          <a:lstStyle/>
          <a:p>
            <a:pPr algn="l">
              <a:lnSpc>
                <a:spcPts val="2439"/>
              </a:lnSpc>
            </a:pPr>
            <a:r>
              <a:rPr lang="en-US" sz="1742" i="true" spc="-34">
                <a:solidFill>
                  <a:srgbClr val="F7F7F7"/>
                </a:solidFill>
                <a:latin typeface="Times New Roman MT Italics"/>
                <a:ea typeface="Times New Roman MT Italics"/>
                <a:cs typeface="Times New Roman MT Italics"/>
                <a:sym typeface="Times New Roman MT Italics"/>
              </a:rPr>
              <a:t>Python helps industries develop applications based on their specific needs. Businesses use these applications to manage data, improve daily operations, serve customers, and increase productivity.</a:t>
            </a:r>
          </a:p>
        </p:txBody>
      </p:sp>
      <p:sp>
        <p:nvSpPr>
          <p:cNvPr name="TextBox 28" id="28"/>
          <p:cNvSpPr txBox="true"/>
          <p:nvPr/>
        </p:nvSpPr>
        <p:spPr>
          <a:xfrm rot="0">
            <a:off x="1690942" y="5034801"/>
            <a:ext cx="7103036" cy="806262"/>
          </a:xfrm>
          <a:prstGeom prst="rect">
            <a:avLst/>
          </a:prstGeom>
        </p:spPr>
        <p:txBody>
          <a:bodyPr anchor="t" rtlCol="false" tIns="0" lIns="0" bIns="0" rIns="0">
            <a:spAutoFit/>
          </a:bodyPr>
          <a:lstStyle/>
          <a:p>
            <a:pPr algn="l">
              <a:lnSpc>
                <a:spcPts val="2911"/>
              </a:lnSpc>
            </a:pPr>
            <a:r>
              <a:rPr lang="en-US" sz="2799" spc="-55" b="true">
                <a:solidFill>
                  <a:srgbClr val="52CFE0"/>
                </a:solidFill>
                <a:latin typeface="Helvetica World Bold"/>
                <a:ea typeface="Helvetica World Bold"/>
                <a:cs typeface="Helvetica World Bold"/>
                <a:sym typeface="Helvetica World Bold"/>
              </a:rPr>
              <a:t>Empowering industries through tailored applications</a:t>
            </a:r>
          </a:p>
        </p:txBody>
      </p:sp>
      <p:sp>
        <p:nvSpPr>
          <p:cNvPr name="TextBox 29" id="29"/>
          <p:cNvSpPr txBox="true"/>
          <p:nvPr/>
        </p:nvSpPr>
        <p:spPr>
          <a:xfrm rot="0">
            <a:off x="1722027" y="8094609"/>
            <a:ext cx="7071950" cy="694690"/>
          </a:xfrm>
          <a:prstGeom prst="rect">
            <a:avLst/>
          </a:prstGeom>
        </p:spPr>
        <p:txBody>
          <a:bodyPr anchor="t" rtlCol="false" tIns="0" lIns="0" bIns="0" rIns="0">
            <a:spAutoFit/>
          </a:bodyPr>
          <a:lstStyle/>
          <a:p>
            <a:pPr algn="l">
              <a:lnSpc>
                <a:spcPts val="2659"/>
              </a:lnSpc>
            </a:pPr>
            <a:r>
              <a:rPr lang="en-US" sz="1899" i="true" spc="-37">
                <a:solidFill>
                  <a:srgbClr val="F7F7F7"/>
                </a:solidFill>
                <a:latin typeface="Times New Roman MT Italics"/>
                <a:ea typeface="Times New Roman MT Italics"/>
                <a:cs typeface="Times New Roman MT Italics"/>
                <a:sym typeface="Times New Roman MT Italics"/>
              </a:rPr>
              <a:t>Python helps create apps that connect people worldwide through messaging, video calls, and information sharing.</a:t>
            </a:r>
          </a:p>
        </p:txBody>
      </p:sp>
      <p:sp>
        <p:nvSpPr>
          <p:cNvPr name="TextBox 30" id="30"/>
          <p:cNvSpPr txBox="true"/>
          <p:nvPr/>
        </p:nvSpPr>
        <p:spPr>
          <a:xfrm rot="0">
            <a:off x="1753113" y="7136013"/>
            <a:ext cx="7071950" cy="806262"/>
          </a:xfrm>
          <a:prstGeom prst="rect">
            <a:avLst/>
          </a:prstGeom>
        </p:spPr>
        <p:txBody>
          <a:bodyPr anchor="t" rtlCol="false" tIns="0" lIns="0" bIns="0" rIns="0">
            <a:spAutoFit/>
          </a:bodyPr>
          <a:lstStyle/>
          <a:p>
            <a:pPr algn="l">
              <a:lnSpc>
                <a:spcPts val="2911"/>
              </a:lnSpc>
            </a:pPr>
            <a:r>
              <a:rPr lang="en-US" sz="2799" spc="-55" b="true">
                <a:solidFill>
                  <a:srgbClr val="52CFE0"/>
                </a:solidFill>
                <a:latin typeface="Helvetica World Bold"/>
                <a:ea typeface="Helvetica World Bold"/>
                <a:cs typeface="Helvetica World Bold"/>
                <a:sym typeface="Helvetica World Bold"/>
              </a:rPr>
              <a:t>Facilitating global communication with apps and platforms</a:t>
            </a:r>
          </a:p>
        </p:txBody>
      </p:sp>
      <p:grpSp>
        <p:nvGrpSpPr>
          <p:cNvPr name="Group 31" id="31"/>
          <p:cNvGrpSpPr/>
          <p:nvPr/>
        </p:nvGrpSpPr>
        <p:grpSpPr>
          <a:xfrm rot="0">
            <a:off x="10422062" y="7094415"/>
            <a:ext cx="6837238" cy="3843674"/>
            <a:chOff x="0" y="0"/>
            <a:chExt cx="1228031" cy="690359"/>
          </a:xfrm>
        </p:grpSpPr>
        <p:sp>
          <p:nvSpPr>
            <p:cNvPr name="Freeform 32" id="32"/>
            <p:cNvSpPr/>
            <p:nvPr/>
          </p:nvSpPr>
          <p:spPr>
            <a:xfrm flipH="false" flipV="false" rot="0">
              <a:off x="0" y="0"/>
              <a:ext cx="1228031" cy="690359"/>
            </a:xfrm>
            <a:custGeom>
              <a:avLst/>
              <a:gdLst/>
              <a:ahLst/>
              <a:cxnLst/>
              <a:rect r="r" b="b" t="t" l="l"/>
              <a:pathLst>
                <a:path h="690359" w="1228031">
                  <a:moveTo>
                    <a:pt x="56616" y="0"/>
                  </a:moveTo>
                  <a:lnTo>
                    <a:pt x="1171415" y="0"/>
                  </a:lnTo>
                  <a:cubicBezTo>
                    <a:pt x="1186431" y="0"/>
                    <a:pt x="1200831" y="5965"/>
                    <a:pt x="1211449" y="16582"/>
                  </a:cubicBezTo>
                  <a:cubicBezTo>
                    <a:pt x="1222066" y="27200"/>
                    <a:pt x="1228031" y="41600"/>
                    <a:pt x="1228031" y="56616"/>
                  </a:cubicBezTo>
                  <a:lnTo>
                    <a:pt x="1228031" y="633743"/>
                  </a:lnTo>
                  <a:cubicBezTo>
                    <a:pt x="1228031" y="665011"/>
                    <a:pt x="1202683" y="690359"/>
                    <a:pt x="1171415" y="690359"/>
                  </a:cubicBezTo>
                  <a:lnTo>
                    <a:pt x="56616" y="690359"/>
                  </a:lnTo>
                  <a:cubicBezTo>
                    <a:pt x="25348" y="690359"/>
                    <a:pt x="0" y="665011"/>
                    <a:pt x="0" y="633743"/>
                  </a:cubicBezTo>
                  <a:lnTo>
                    <a:pt x="0" y="56616"/>
                  </a:lnTo>
                  <a:cubicBezTo>
                    <a:pt x="0" y="25348"/>
                    <a:pt x="25348" y="0"/>
                    <a:pt x="56616" y="0"/>
                  </a:cubicBezTo>
                  <a:close/>
                </a:path>
              </a:pathLst>
            </a:custGeom>
            <a:blipFill>
              <a:blip r:embed="rId5"/>
              <a:stretch>
                <a:fillRect l="0" t="-9257" r="0" b="-9257"/>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15780466" y="639280"/>
            <a:ext cx="1478834" cy="453314"/>
            <a:chOff x="0" y="0"/>
            <a:chExt cx="389487" cy="119391"/>
          </a:xfrm>
        </p:grpSpPr>
        <p:sp>
          <p:nvSpPr>
            <p:cNvPr name="Freeform 4" id="4"/>
            <p:cNvSpPr/>
            <p:nvPr/>
          </p:nvSpPr>
          <p:spPr>
            <a:xfrm flipH="false" flipV="false" rot="0">
              <a:off x="0" y="0"/>
              <a:ext cx="389487" cy="119391"/>
            </a:xfrm>
            <a:custGeom>
              <a:avLst/>
              <a:gdLst/>
              <a:ahLst/>
              <a:cxnLst/>
              <a:rect r="r" b="b" t="t" l="l"/>
              <a:pathLst>
                <a:path h="119391" w="389487">
                  <a:moveTo>
                    <a:pt x="52352" y="0"/>
                  </a:moveTo>
                  <a:lnTo>
                    <a:pt x="337136" y="0"/>
                  </a:lnTo>
                  <a:cubicBezTo>
                    <a:pt x="366049" y="0"/>
                    <a:pt x="389487" y="23439"/>
                    <a:pt x="389487" y="52352"/>
                  </a:cubicBezTo>
                  <a:lnTo>
                    <a:pt x="389487" y="67040"/>
                  </a:lnTo>
                  <a:cubicBezTo>
                    <a:pt x="389487" y="80924"/>
                    <a:pt x="383972" y="94240"/>
                    <a:pt x="374154" y="104058"/>
                  </a:cubicBezTo>
                  <a:cubicBezTo>
                    <a:pt x="364336" y="113876"/>
                    <a:pt x="351020" y="119391"/>
                    <a:pt x="337136" y="119391"/>
                  </a:cubicBezTo>
                  <a:lnTo>
                    <a:pt x="52352" y="119391"/>
                  </a:lnTo>
                  <a:cubicBezTo>
                    <a:pt x="23439" y="119391"/>
                    <a:pt x="0" y="95953"/>
                    <a:pt x="0" y="67040"/>
                  </a:cubicBezTo>
                  <a:lnTo>
                    <a:pt x="0" y="52352"/>
                  </a:lnTo>
                  <a:cubicBezTo>
                    <a:pt x="0" y="23439"/>
                    <a:pt x="23439" y="0"/>
                    <a:pt x="52352" y="0"/>
                  </a:cubicBezTo>
                  <a:close/>
                </a:path>
              </a:pathLst>
            </a:custGeom>
            <a:gradFill rotWithShape="true">
              <a:gsLst>
                <a:gs pos="0">
                  <a:srgbClr val="5DE0E6">
                    <a:alpha val="100000"/>
                  </a:srgbClr>
                </a:gs>
                <a:gs pos="100000">
                  <a:srgbClr val="004AAD">
                    <a:alpha val="100000"/>
                  </a:srgbClr>
                </a:gs>
              </a:gsLst>
              <a:lin ang="0"/>
            </a:gradFill>
            <a:ln cap="sq">
              <a:noFill/>
              <a:prstDash val="solid"/>
              <a:miter/>
            </a:ln>
          </p:spPr>
        </p:sp>
        <p:sp>
          <p:nvSpPr>
            <p:cNvPr name="TextBox 5" id="5"/>
            <p:cNvSpPr txBox="true"/>
            <p:nvPr/>
          </p:nvSpPr>
          <p:spPr>
            <a:xfrm>
              <a:off x="0" y="28575"/>
              <a:ext cx="389487" cy="90816"/>
            </a:xfrm>
            <a:prstGeom prst="rect">
              <a:avLst/>
            </a:prstGeom>
          </p:spPr>
          <p:txBody>
            <a:bodyPr anchor="ctr" rtlCol="false" tIns="50800" lIns="50800" bIns="50800" rIns="50800"/>
            <a:lstStyle/>
            <a:p>
              <a:pPr algn="ctr">
                <a:lnSpc>
                  <a:spcPts val="1134"/>
                </a:lnSpc>
              </a:pPr>
            </a:p>
          </p:txBody>
        </p:sp>
      </p:grpSp>
      <p:sp>
        <p:nvSpPr>
          <p:cNvPr name="TextBox 6" id="6"/>
          <p:cNvSpPr txBox="true"/>
          <p:nvPr/>
        </p:nvSpPr>
        <p:spPr>
          <a:xfrm rot="0">
            <a:off x="1028700" y="2437368"/>
            <a:ext cx="6837238" cy="2904191"/>
          </a:xfrm>
          <a:prstGeom prst="rect">
            <a:avLst/>
          </a:prstGeom>
        </p:spPr>
        <p:txBody>
          <a:bodyPr anchor="t" rtlCol="false" tIns="0" lIns="0" bIns="0" rIns="0">
            <a:spAutoFit/>
          </a:bodyPr>
          <a:lstStyle/>
          <a:p>
            <a:pPr algn="l">
              <a:lnSpc>
                <a:spcPts val="6596"/>
              </a:lnSpc>
            </a:pPr>
            <a:r>
              <a:rPr lang="en-US" b="true" sz="7947" spc="-516">
                <a:solidFill>
                  <a:srgbClr val="52CFE0"/>
                </a:solidFill>
                <a:latin typeface="Helvetica World Bold"/>
                <a:ea typeface="Helvetica World Bold"/>
                <a:cs typeface="Helvetica World Bold"/>
                <a:sym typeface="Helvetica World Bold"/>
              </a:rPr>
              <a:t>HOW TO BECOME A PROGRAMMER</a:t>
            </a:r>
          </a:p>
        </p:txBody>
      </p:sp>
      <p:sp>
        <p:nvSpPr>
          <p:cNvPr name="TextBox 7" id="7"/>
          <p:cNvSpPr txBox="true"/>
          <p:nvPr/>
        </p:nvSpPr>
        <p:spPr>
          <a:xfrm rot="0">
            <a:off x="7054987" y="807453"/>
            <a:ext cx="810952"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Home</a:t>
            </a:r>
          </a:p>
        </p:txBody>
      </p:sp>
      <p:sp>
        <p:nvSpPr>
          <p:cNvPr name="TextBox 8" id="8"/>
          <p:cNvSpPr txBox="true"/>
          <p:nvPr/>
        </p:nvSpPr>
        <p:spPr>
          <a:xfrm rot="0">
            <a:off x="8498359" y="807453"/>
            <a:ext cx="1051116"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About Us</a:t>
            </a:r>
          </a:p>
        </p:txBody>
      </p:sp>
      <p:sp>
        <p:nvSpPr>
          <p:cNvPr name="TextBox 9" id="9"/>
          <p:cNvSpPr txBox="true"/>
          <p:nvPr/>
        </p:nvSpPr>
        <p:spPr>
          <a:xfrm rot="0">
            <a:off x="10181897" y="807453"/>
            <a:ext cx="1051116"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Services</a:t>
            </a:r>
          </a:p>
        </p:txBody>
      </p:sp>
      <p:sp>
        <p:nvSpPr>
          <p:cNvPr name="TextBox 10" id="10"/>
          <p:cNvSpPr txBox="true"/>
          <p:nvPr/>
        </p:nvSpPr>
        <p:spPr>
          <a:xfrm rot="0">
            <a:off x="16034591" y="807453"/>
            <a:ext cx="970584" cy="177293"/>
          </a:xfrm>
          <a:prstGeom prst="rect">
            <a:avLst/>
          </a:prstGeom>
        </p:spPr>
        <p:txBody>
          <a:bodyPr anchor="t" rtlCol="false" tIns="0" lIns="0" bIns="0" rIns="0">
            <a:spAutoFit/>
          </a:bodyPr>
          <a:lstStyle/>
          <a:p>
            <a:pPr algn="ctr">
              <a:lnSpc>
                <a:spcPts val="1134"/>
              </a:lnSpc>
            </a:pPr>
            <a:r>
              <a:rPr lang="en-US" b="true" sz="1400" spc="-28">
                <a:solidFill>
                  <a:srgbClr val="000000"/>
                </a:solidFill>
                <a:latin typeface="Helvetica World Bold"/>
                <a:ea typeface="Helvetica World Bold"/>
                <a:cs typeface="Helvetica World Bold"/>
                <a:sym typeface="Helvetica World Bold"/>
              </a:rPr>
              <a:t>Contact</a:t>
            </a:r>
          </a:p>
        </p:txBody>
      </p:sp>
      <p:grpSp>
        <p:nvGrpSpPr>
          <p:cNvPr name="Group 11" id="11"/>
          <p:cNvGrpSpPr/>
          <p:nvPr/>
        </p:nvGrpSpPr>
        <p:grpSpPr>
          <a:xfrm rot="0">
            <a:off x="7241684" y="2392028"/>
            <a:ext cx="624254" cy="62425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100000"/>
                  </a:srgbClr>
                </a:gs>
                <a:gs pos="100000">
                  <a:srgbClr val="004AAD">
                    <a:alpha val="100000"/>
                  </a:srgbClr>
                </a:gs>
              </a:gsLst>
              <a:lin ang="0"/>
            </a:gradFill>
          </p:spPr>
        </p:sp>
        <p:sp>
          <p:nvSpPr>
            <p:cNvPr name="TextBox 13" id="13"/>
            <p:cNvSpPr txBox="true"/>
            <p:nvPr/>
          </p:nvSpPr>
          <p:spPr>
            <a:xfrm>
              <a:off x="76200" y="123825"/>
              <a:ext cx="660400" cy="612775"/>
            </a:xfrm>
            <a:prstGeom prst="rect">
              <a:avLst/>
            </a:prstGeom>
          </p:spPr>
          <p:txBody>
            <a:bodyPr anchor="ctr" rtlCol="false" tIns="50800" lIns="50800" bIns="50800" rIns="50800"/>
            <a:lstStyle/>
            <a:p>
              <a:pPr algn="ctr">
                <a:lnSpc>
                  <a:spcPts val="1134"/>
                </a:lnSpc>
              </a:pPr>
            </a:p>
          </p:txBody>
        </p:sp>
      </p:grpSp>
      <p:sp>
        <p:nvSpPr>
          <p:cNvPr name="Freeform 14" id="14"/>
          <p:cNvSpPr/>
          <p:nvPr/>
        </p:nvSpPr>
        <p:spPr>
          <a:xfrm flipH="true" flipV="false" rot="0">
            <a:off x="7472261" y="2534976"/>
            <a:ext cx="203860" cy="338357"/>
          </a:xfrm>
          <a:custGeom>
            <a:avLst/>
            <a:gdLst/>
            <a:ahLst/>
            <a:cxnLst/>
            <a:rect r="r" b="b" t="t" l="l"/>
            <a:pathLst>
              <a:path h="338357" w="203860">
                <a:moveTo>
                  <a:pt x="203860" y="0"/>
                </a:moveTo>
                <a:lnTo>
                  <a:pt x="0" y="0"/>
                </a:lnTo>
                <a:lnTo>
                  <a:pt x="0" y="338357"/>
                </a:lnTo>
                <a:lnTo>
                  <a:pt x="203860" y="338357"/>
                </a:lnTo>
                <a:lnTo>
                  <a:pt x="20386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0">
            <a:off x="9549476" y="2392028"/>
            <a:ext cx="7709824" cy="1643475"/>
            <a:chOff x="0" y="0"/>
            <a:chExt cx="2030571" cy="432849"/>
          </a:xfrm>
        </p:grpSpPr>
        <p:sp>
          <p:nvSpPr>
            <p:cNvPr name="Freeform 16" id="16"/>
            <p:cNvSpPr/>
            <p:nvPr/>
          </p:nvSpPr>
          <p:spPr>
            <a:xfrm flipH="false" flipV="false" rot="0">
              <a:off x="0" y="0"/>
              <a:ext cx="2030571" cy="432849"/>
            </a:xfrm>
            <a:custGeom>
              <a:avLst/>
              <a:gdLst/>
              <a:ahLst/>
              <a:cxnLst/>
              <a:rect r="r" b="b" t="t" l="l"/>
              <a:pathLst>
                <a:path h="432849" w="2030571">
                  <a:moveTo>
                    <a:pt x="50208" y="0"/>
                  </a:moveTo>
                  <a:lnTo>
                    <a:pt x="1980363" y="0"/>
                  </a:lnTo>
                  <a:cubicBezTo>
                    <a:pt x="1993679" y="0"/>
                    <a:pt x="2006450" y="5290"/>
                    <a:pt x="2015865" y="14706"/>
                  </a:cubicBezTo>
                  <a:cubicBezTo>
                    <a:pt x="2025281" y="24121"/>
                    <a:pt x="2030571" y="36892"/>
                    <a:pt x="2030571" y="50208"/>
                  </a:cubicBezTo>
                  <a:lnTo>
                    <a:pt x="2030571" y="382641"/>
                  </a:lnTo>
                  <a:cubicBezTo>
                    <a:pt x="2030571" y="395957"/>
                    <a:pt x="2025281" y="408728"/>
                    <a:pt x="2015865" y="418144"/>
                  </a:cubicBezTo>
                  <a:cubicBezTo>
                    <a:pt x="2006450" y="427560"/>
                    <a:pt x="1993679" y="432849"/>
                    <a:pt x="1980363" y="432849"/>
                  </a:cubicBezTo>
                  <a:lnTo>
                    <a:pt x="50208" y="432849"/>
                  </a:lnTo>
                  <a:cubicBezTo>
                    <a:pt x="36892" y="432849"/>
                    <a:pt x="24121" y="427560"/>
                    <a:pt x="14706" y="418144"/>
                  </a:cubicBezTo>
                  <a:cubicBezTo>
                    <a:pt x="5290" y="408728"/>
                    <a:pt x="0" y="395957"/>
                    <a:pt x="0" y="382641"/>
                  </a:cubicBezTo>
                  <a:lnTo>
                    <a:pt x="0" y="50208"/>
                  </a:lnTo>
                  <a:cubicBezTo>
                    <a:pt x="0" y="36892"/>
                    <a:pt x="5290" y="24121"/>
                    <a:pt x="14706" y="14706"/>
                  </a:cubicBezTo>
                  <a:cubicBezTo>
                    <a:pt x="24121" y="5290"/>
                    <a:pt x="36892" y="0"/>
                    <a:pt x="50208" y="0"/>
                  </a:cubicBezTo>
                  <a:close/>
                </a:path>
              </a:pathLst>
            </a:custGeom>
            <a:solidFill>
              <a:srgbClr val="000000">
                <a:alpha val="49804"/>
              </a:srgbClr>
            </a:solidFill>
          </p:spPr>
        </p:sp>
        <p:sp>
          <p:nvSpPr>
            <p:cNvPr name="TextBox 17" id="17"/>
            <p:cNvSpPr txBox="true"/>
            <p:nvPr/>
          </p:nvSpPr>
          <p:spPr>
            <a:xfrm>
              <a:off x="0" y="47625"/>
              <a:ext cx="2030571" cy="385224"/>
            </a:xfrm>
            <a:prstGeom prst="rect">
              <a:avLst/>
            </a:prstGeom>
          </p:spPr>
          <p:txBody>
            <a:bodyPr anchor="ctr" rtlCol="false" tIns="50800" lIns="50800" bIns="50800" rIns="50800"/>
            <a:lstStyle/>
            <a:p>
              <a:pPr algn="ctr">
                <a:lnSpc>
                  <a:spcPts val="1134"/>
                </a:lnSpc>
              </a:pPr>
            </a:p>
          </p:txBody>
        </p:sp>
      </p:grpSp>
      <p:grpSp>
        <p:nvGrpSpPr>
          <p:cNvPr name="Group 18" id="18"/>
          <p:cNvGrpSpPr/>
          <p:nvPr/>
        </p:nvGrpSpPr>
        <p:grpSpPr>
          <a:xfrm rot="0">
            <a:off x="9549476" y="2392028"/>
            <a:ext cx="7709824" cy="1643475"/>
            <a:chOff x="0" y="0"/>
            <a:chExt cx="2030571" cy="432849"/>
          </a:xfrm>
        </p:grpSpPr>
        <p:sp>
          <p:nvSpPr>
            <p:cNvPr name="Freeform 19" id="19"/>
            <p:cNvSpPr/>
            <p:nvPr/>
          </p:nvSpPr>
          <p:spPr>
            <a:xfrm flipH="false" flipV="false" rot="0">
              <a:off x="0" y="0"/>
              <a:ext cx="2030571" cy="432849"/>
            </a:xfrm>
            <a:custGeom>
              <a:avLst/>
              <a:gdLst/>
              <a:ahLst/>
              <a:cxnLst/>
              <a:rect r="r" b="b" t="t" l="l"/>
              <a:pathLst>
                <a:path h="432849" w="2030571">
                  <a:moveTo>
                    <a:pt x="50208" y="0"/>
                  </a:moveTo>
                  <a:lnTo>
                    <a:pt x="1980363" y="0"/>
                  </a:lnTo>
                  <a:cubicBezTo>
                    <a:pt x="1993679" y="0"/>
                    <a:pt x="2006450" y="5290"/>
                    <a:pt x="2015865" y="14706"/>
                  </a:cubicBezTo>
                  <a:cubicBezTo>
                    <a:pt x="2025281" y="24121"/>
                    <a:pt x="2030571" y="36892"/>
                    <a:pt x="2030571" y="50208"/>
                  </a:cubicBezTo>
                  <a:lnTo>
                    <a:pt x="2030571" y="382641"/>
                  </a:lnTo>
                  <a:cubicBezTo>
                    <a:pt x="2030571" y="395957"/>
                    <a:pt x="2025281" y="408728"/>
                    <a:pt x="2015865" y="418144"/>
                  </a:cubicBezTo>
                  <a:cubicBezTo>
                    <a:pt x="2006450" y="427560"/>
                    <a:pt x="1993679" y="432849"/>
                    <a:pt x="1980363" y="432849"/>
                  </a:cubicBezTo>
                  <a:lnTo>
                    <a:pt x="50208" y="432849"/>
                  </a:lnTo>
                  <a:cubicBezTo>
                    <a:pt x="36892" y="432849"/>
                    <a:pt x="24121" y="427560"/>
                    <a:pt x="14706" y="418144"/>
                  </a:cubicBezTo>
                  <a:cubicBezTo>
                    <a:pt x="5290" y="408728"/>
                    <a:pt x="0" y="395957"/>
                    <a:pt x="0" y="382641"/>
                  </a:cubicBezTo>
                  <a:lnTo>
                    <a:pt x="0" y="50208"/>
                  </a:lnTo>
                  <a:cubicBezTo>
                    <a:pt x="0" y="36892"/>
                    <a:pt x="5290" y="24121"/>
                    <a:pt x="14706" y="14706"/>
                  </a:cubicBezTo>
                  <a:cubicBezTo>
                    <a:pt x="24121" y="5290"/>
                    <a:pt x="36892" y="0"/>
                    <a:pt x="50208" y="0"/>
                  </a:cubicBezTo>
                  <a:close/>
                </a:path>
              </a:pathLst>
            </a:custGeom>
            <a:ln w="19050" cap="rnd">
              <a:gradFill>
                <a:gsLst>
                  <a:gs pos="0">
                    <a:srgbClr val="5DE0E6">
                      <a:alpha val="100000"/>
                    </a:srgbClr>
                  </a:gs>
                  <a:gs pos="100000">
                    <a:srgbClr val="004AAD">
                      <a:alpha val="100000"/>
                    </a:srgbClr>
                  </a:gs>
                </a:gsLst>
                <a:lin ang="0"/>
              </a:gradFill>
              <a:prstDash val="solid"/>
              <a:round/>
            </a:ln>
          </p:spPr>
        </p:sp>
        <p:sp>
          <p:nvSpPr>
            <p:cNvPr name="TextBox 20" id="20"/>
            <p:cNvSpPr txBox="true"/>
            <p:nvPr/>
          </p:nvSpPr>
          <p:spPr>
            <a:xfrm>
              <a:off x="0" y="47625"/>
              <a:ext cx="2030571" cy="385224"/>
            </a:xfrm>
            <a:prstGeom prst="rect">
              <a:avLst/>
            </a:prstGeom>
          </p:spPr>
          <p:txBody>
            <a:bodyPr anchor="ctr" rtlCol="false" tIns="50800" lIns="50800" bIns="50800" rIns="50800"/>
            <a:lstStyle/>
            <a:p>
              <a:pPr algn="ctr">
                <a:lnSpc>
                  <a:spcPts val="1134"/>
                </a:lnSpc>
              </a:pPr>
            </a:p>
          </p:txBody>
        </p:sp>
      </p:grpSp>
      <p:sp>
        <p:nvSpPr>
          <p:cNvPr name="TextBox 21" id="21"/>
          <p:cNvSpPr txBox="true"/>
          <p:nvPr/>
        </p:nvSpPr>
        <p:spPr>
          <a:xfrm rot="0">
            <a:off x="10560427" y="2810667"/>
            <a:ext cx="5687922" cy="844296"/>
          </a:xfrm>
          <a:prstGeom prst="rect">
            <a:avLst/>
          </a:prstGeom>
        </p:spPr>
        <p:txBody>
          <a:bodyPr anchor="t" rtlCol="false" tIns="0" lIns="0" bIns="0" rIns="0">
            <a:spAutoFit/>
          </a:bodyPr>
          <a:lstStyle/>
          <a:p>
            <a:pPr algn="ctr">
              <a:lnSpc>
                <a:spcPts val="2911"/>
              </a:lnSpc>
            </a:pPr>
            <a:r>
              <a:rPr lang="en-US" b="true" sz="2799" spc="-55">
                <a:solidFill>
                  <a:srgbClr val="52CFE0"/>
                </a:solidFill>
                <a:latin typeface="Helvetica World Bold"/>
                <a:ea typeface="Helvetica World Bold"/>
                <a:cs typeface="Helvetica World Bold"/>
                <a:sym typeface="Helvetica World Bold"/>
              </a:rPr>
              <a:t>Facilitating global communication with apps and platforms</a:t>
            </a:r>
          </a:p>
        </p:txBody>
      </p:sp>
      <p:grpSp>
        <p:nvGrpSpPr>
          <p:cNvPr name="Group 22" id="22"/>
          <p:cNvGrpSpPr/>
          <p:nvPr/>
        </p:nvGrpSpPr>
        <p:grpSpPr>
          <a:xfrm rot="0">
            <a:off x="9549476" y="5003426"/>
            <a:ext cx="7709824" cy="1643475"/>
            <a:chOff x="0" y="0"/>
            <a:chExt cx="2030571" cy="432849"/>
          </a:xfrm>
        </p:grpSpPr>
        <p:sp>
          <p:nvSpPr>
            <p:cNvPr name="Freeform 23" id="23"/>
            <p:cNvSpPr/>
            <p:nvPr/>
          </p:nvSpPr>
          <p:spPr>
            <a:xfrm flipH="false" flipV="false" rot="0">
              <a:off x="0" y="0"/>
              <a:ext cx="2030571" cy="432849"/>
            </a:xfrm>
            <a:custGeom>
              <a:avLst/>
              <a:gdLst/>
              <a:ahLst/>
              <a:cxnLst/>
              <a:rect r="r" b="b" t="t" l="l"/>
              <a:pathLst>
                <a:path h="432849" w="2030571">
                  <a:moveTo>
                    <a:pt x="50208" y="0"/>
                  </a:moveTo>
                  <a:lnTo>
                    <a:pt x="1980363" y="0"/>
                  </a:lnTo>
                  <a:cubicBezTo>
                    <a:pt x="1993679" y="0"/>
                    <a:pt x="2006450" y="5290"/>
                    <a:pt x="2015865" y="14706"/>
                  </a:cubicBezTo>
                  <a:cubicBezTo>
                    <a:pt x="2025281" y="24121"/>
                    <a:pt x="2030571" y="36892"/>
                    <a:pt x="2030571" y="50208"/>
                  </a:cubicBezTo>
                  <a:lnTo>
                    <a:pt x="2030571" y="382641"/>
                  </a:lnTo>
                  <a:cubicBezTo>
                    <a:pt x="2030571" y="395957"/>
                    <a:pt x="2025281" y="408728"/>
                    <a:pt x="2015865" y="418144"/>
                  </a:cubicBezTo>
                  <a:cubicBezTo>
                    <a:pt x="2006450" y="427560"/>
                    <a:pt x="1993679" y="432849"/>
                    <a:pt x="1980363" y="432849"/>
                  </a:cubicBezTo>
                  <a:lnTo>
                    <a:pt x="50208" y="432849"/>
                  </a:lnTo>
                  <a:cubicBezTo>
                    <a:pt x="36892" y="432849"/>
                    <a:pt x="24121" y="427560"/>
                    <a:pt x="14706" y="418144"/>
                  </a:cubicBezTo>
                  <a:cubicBezTo>
                    <a:pt x="5290" y="408728"/>
                    <a:pt x="0" y="395957"/>
                    <a:pt x="0" y="382641"/>
                  </a:cubicBezTo>
                  <a:lnTo>
                    <a:pt x="0" y="50208"/>
                  </a:lnTo>
                  <a:cubicBezTo>
                    <a:pt x="0" y="36892"/>
                    <a:pt x="5290" y="24121"/>
                    <a:pt x="14706" y="14706"/>
                  </a:cubicBezTo>
                  <a:cubicBezTo>
                    <a:pt x="24121" y="5290"/>
                    <a:pt x="36892" y="0"/>
                    <a:pt x="50208" y="0"/>
                  </a:cubicBezTo>
                  <a:close/>
                </a:path>
              </a:pathLst>
            </a:custGeom>
            <a:solidFill>
              <a:srgbClr val="000000">
                <a:alpha val="49804"/>
              </a:srgbClr>
            </a:solidFill>
          </p:spPr>
        </p:sp>
        <p:sp>
          <p:nvSpPr>
            <p:cNvPr name="TextBox 24" id="24"/>
            <p:cNvSpPr txBox="true"/>
            <p:nvPr/>
          </p:nvSpPr>
          <p:spPr>
            <a:xfrm>
              <a:off x="0" y="47625"/>
              <a:ext cx="2030571" cy="385224"/>
            </a:xfrm>
            <a:prstGeom prst="rect">
              <a:avLst/>
            </a:prstGeom>
          </p:spPr>
          <p:txBody>
            <a:bodyPr anchor="ctr" rtlCol="false" tIns="50800" lIns="50800" bIns="50800" rIns="50800"/>
            <a:lstStyle/>
            <a:p>
              <a:pPr algn="ctr">
                <a:lnSpc>
                  <a:spcPts val="1134"/>
                </a:lnSpc>
              </a:pPr>
            </a:p>
          </p:txBody>
        </p:sp>
      </p:grpSp>
      <p:grpSp>
        <p:nvGrpSpPr>
          <p:cNvPr name="Group 25" id="25"/>
          <p:cNvGrpSpPr/>
          <p:nvPr/>
        </p:nvGrpSpPr>
        <p:grpSpPr>
          <a:xfrm rot="0">
            <a:off x="9549476" y="5003426"/>
            <a:ext cx="7709824" cy="1643475"/>
            <a:chOff x="0" y="0"/>
            <a:chExt cx="2030571" cy="432849"/>
          </a:xfrm>
        </p:grpSpPr>
        <p:sp>
          <p:nvSpPr>
            <p:cNvPr name="Freeform 26" id="26"/>
            <p:cNvSpPr/>
            <p:nvPr/>
          </p:nvSpPr>
          <p:spPr>
            <a:xfrm flipH="false" flipV="false" rot="0">
              <a:off x="0" y="0"/>
              <a:ext cx="2030571" cy="432849"/>
            </a:xfrm>
            <a:custGeom>
              <a:avLst/>
              <a:gdLst/>
              <a:ahLst/>
              <a:cxnLst/>
              <a:rect r="r" b="b" t="t" l="l"/>
              <a:pathLst>
                <a:path h="432849" w="2030571">
                  <a:moveTo>
                    <a:pt x="50208" y="0"/>
                  </a:moveTo>
                  <a:lnTo>
                    <a:pt x="1980363" y="0"/>
                  </a:lnTo>
                  <a:cubicBezTo>
                    <a:pt x="1993679" y="0"/>
                    <a:pt x="2006450" y="5290"/>
                    <a:pt x="2015865" y="14706"/>
                  </a:cubicBezTo>
                  <a:cubicBezTo>
                    <a:pt x="2025281" y="24121"/>
                    <a:pt x="2030571" y="36892"/>
                    <a:pt x="2030571" y="50208"/>
                  </a:cubicBezTo>
                  <a:lnTo>
                    <a:pt x="2030571" y="382641"/>
                  </a:lnTo>
                  <a:cubicBezTo>
                    <a:pt x="2030571" y="395957"/>
                    <a:pt x="2025281" y="408728"/>
                    <a:pt x="2015865" y="418144"/>
                  </a:cubicBezTo>
                  <a:cubicBezTo>
                    <a:pt x="2006450" y="427560"/>
                    <a:pt x="1993679" y="432849"/>
                    <a:pt x="1980363" y="432849"/>
                  </a:cubicBezTo>
                  <a:lnTo>
                    <a:pt x="50208" y="432849"/>
                  </a:lnTo>
                  <a:cubicBezTo>
                    <a:pt x="36892" y="432849"/>
                    <a:pt x="24121" y="427560"/>
                    <a:pt x="14706" y="418144"/>
                  </a:cubicBezTo>
                  <a:cubicBezTo>
                    <a:pt x="5290" y="408728"/>
                    <a:pt x="0" y="395957"/>
                    <a:pt x="0" y="382641"/>
                  </a:cubicBezTo>
                  <a:lnTo>
                    <a:pt x="0" y="50208"/>
                  </a:lnTo>
                  <a:cubicBezTo>
                    <a:pt x="0" y="36892"/>
                    <a:pt x="5290" y="24121"/>
                    <a:pt x="14706" y="14706"/>
                  </a:cubicBezTo>
                  <a:cubicBezTo>
                    <a:pt x="24121" y="5290"/>
                    <a:pt x="36892" y="0"/>
                    <a:pt x="50208" y="0"/>
                  </a:cubicBezTo>
                  <a:close/>
                </a:path>
              </a:pathLst>
            </a:custGeom>
            <a:ln w="19050" cap="rnd">
              <a:gradFill>
                <a:gsLst>
                  <a:gs pos="0">
                    <a:srgbClr val="5DE0E6">
                      <a:alpha val="100000"/>
                    </a:srgbClr>
                  </a:gs>
                  <a:gs pos="100000">
                    <a:srgbClr val="004AAD">
                      <a:alpha val="100000"/>
                    </a:srgbClr>
                  </a:gs>
                </a:gsLst>
                <a:lin ang="0"/>
              </a:gradFill>
              <a:prstDash val="solid"/>
              <a:round/>
            </a:ln>
          </p:spPr>
        </p:sp>
        <p:sp>
          <p:nvSpPr>
            <p:cNvPr name="TextBox 27" id="27"/>
            <p:cNvSpPr txBox="true"/>
            <p:nvPr/>
          </p:nvSpPr>
          <p:spPr>
            <a:xfrm>
              <a:off x="0" y="47625"/>
              <a:ext cx="2030571" cy="385224"/>
            </a:xfrm>
            <a:prstGeom prst="rect">
              <a:avLst/>
            </a:prstGeom>
          </p:spPr>
          <p:txBody>
            <a:bodyPr anchor="ctr" rtlCol="false" tIns="50800" lIns="50800" bIns="50800" rIns="50800"/>
            <a:lstStyle/>
            <a:p>
              <a:pPr algn="ctr">
                <a:lnSpc>
                  <a:spcPts val="1134"/>
                </a:lnSpc>
              </a:pPr>
            </a:p>
          </p:txBody>
        </p:sp>
      </p:grpSp>
      <p:sp>
        <p:nvSpPr>
          <p:cNvPr name="TextBox 28" id="28"/>
          <p:cNvSpPr txBox="true"/>
          <p:nvPr/>
        </p:nvSpPr>
        <p:spPr>
          <a:xfrm rot="0">
            <a:off x="10854732" y="5422066"/>
            <a:ext cx="5099312" cy="844296"/>
          </a:xfrm>
          <a:prstGeom prst="rect">
            <a:avLst/>
          </a:prstGeom>
        </p:spPr>
        <p:txBody>
          <a:bodyPr anchor="t" rtlCol="false" tIns="0" lIns="0" bIns="0" rIns="0">
            <a:spAutoFit/>
          </a:bodyPr>
          <a:lstStyle/>
          <a:p>
            <a:pPr algn="ctr">
              <a:lnSpc>
                <a:spcPts val="2911"/>
              </a:lnSpc>
            </a:pPr>
            <a:r>
              <a:rPr lang="en-US" b="true" sz="2799" spc="-55">
                <a:solidFill>
                  <a:srgbClr val="52CFE0"/>
                </a:solidFill>
                <a:latin typeface="Helvetica World Bold"/>
                <a:ea typeface="Helvetica World Bold"/>
                <a:cs typeface="Helvetica World Bold"/>
                <a:sym typeface="Helvetica World Bold"/>
              </a:rPr>
              <a:t>Build a portfolio to showcase your projects</a:t>
            </a:r>
          </a:p>
        </p:txBody>
      </p:sp>
      <p:grpSp>
        <p:nvGrpSpPr>
          <p:cNvPr name="Group 29" id="29"/>
          <p:cNvGrpSpPr/>
          <p:nvPr/>
        </p:nvGrpSpPr>
        <p:grpSpPr>
          <a:xfrm rot="0">
            <a:off x="9549476" y="7614825"/>
            <a:ext cx="7709824" cy="1643475"/>
            <a:chOff x="0" y="0"/>
            <a:chExt cx="2030571" cy="432849"/>
          </a:xfrm>
        </p:grpSpPr>
        <p:sp>
          <p:nvSpPr>
            <p:cNvPr name="Freeform 30" id="30"/>
            <p:cNvSpPr/>
            <p:nvPr/>
          </p:nvSpPr>
          <p:spPr>
            <a:xfrm flipH="false" flipV="false" rot="0">
              <a:off x="0" y="0"/>
              <a:ext cx="2030571" cy="432849"/>
            </a:xfrm>
            <a:custGeom>
              <a:avLst/>
              <a:gdLst/>
              <a:ahLst/>
              <a:cxnLst/>
              <a:rect r="r" b="b" t="t" l="l"/>
              <a:pathLst>
                <a:path h="432849" w="2030571">
                  <a:moveTo>
                    <a:pt x="50208" y="0"/>
                  </a:moveTo>
                  <a:lnTo>
                    <a:pt x="1980363" y="0"/>
                  </a:lnTo>
                  <a:cubicBezTo>
                    <a:pt x="1993679" y="0"/>
                    <a:pt x="2006450" y="5290"/>
                    <a:pt x="2015865" y="14706"/>
                  </a:cubicBezTo>
                  <a:cubicBezTo>
                    <a:pt x="2025281" y="24121"/>
                    <a:pt x="2030571" y="36892"/>
                    <a:pt x="2030571" y="50208"/>
                  </a:cubicBezTo>
                  <a:lnTo>
                    <a:pt x="2030571" y="382641"/>
                  </a:lnTo>
                  <a:cubicBezTo>
                    <a:pt x="2030571" y="395957"/>
                    <a:pt x="2025281" y="408728"/>
                    <a:pt x="2015865" y="418144"/>
                  </a:cubicBezTo>
                  <a:cubicBezTo>
                    <a:pt x="2006450" y="427560"/>
                    <a:pt x="1993679" y="432849"/>
                    <a:pt x="1980363" y="432849"/>
                  </a:cubicBezTo>
                  <a:lnTo>
                    <a:pt x="50208" y="432849"/>
                  </a:lnTo>
                  <a:cubicBezTo>
                    <a:pt x="36892" y="432849"/>
                    <a:pt x="24121" y="427560"/>
                    <a:pt x="14706" y="418144"/>
                  </a:cubicBezTo>
                  <a:cubicBezTo>
                    <a:pt x="5290" y="408728"/>
                    <a:pt x="0" y="395957"/>
                    <a:pt x="0" y="382641"/>
                  </a:cubicBezTo>
                  <a:lnTo>
                    <a:pt x="0" y="50208"/>
                  </a:lnTo>
                  <a:cubicBezTo>
                    <a:pt x="0" y="36892"/>
                    <a:pt x="5290" y="24121"/>
                    <a:pt x="14706" y="14706"/>
                  </a:cubicBezTo>
                  <a:cubicBezTo>
                    <a:pt x="24121" y="5290"/>
                    <a:pt x="36892" y="0"/>
                    <a:pt x="50208" y="0"/>
                  </a:cubicBezTo>
                  <a:close/>
                </a:path>
              </a:pathLst>
            </a:custGeom>
            <a:solidFill>
              <a:srgbClr val="000000">
                <a:alpha val="49804"/>
              </a:srgbClr>
            </a:solidFill>
          </p:spPr>
        </p:sp>
        <p:sp>
          <p:nvSpPr>
            <p:cNvPr name="TextBox 31" id="31"/>
            <p:cNvSpPr txBox="true"/>
            <p:nvPr/>
          </p:nvSpPr>
          <p:spPr>
            <a:xfrm>
              <a:off x="0" y="47625"/>
              <a:ext cx="2030571" cy="385224"/>
            </a:xfrm>
            <a:prstGeom prst="rect">
              <a:avLst/>
            </a:prstGeom>
          </p:spPr>
          <p:txBody>
            <a:bodyPr anchor="ctr" rtlCol="false" tIns="50800" lIns="50800" bIns="50800" rIns="50800"/>
            <a:lstStyle/>
            <a:p>
              <a:pPr algn="ctr">
                <a:lnSpc>
                  <a:spcPts val="1134"/>
                </a:lnSpc>
              </a:pPr>
            </a:p>
          </p:txBody>
        </p:sp>
      </p:grpSp>
      <p:grpSp>
        <p:nvGrpSpPr>
          <p:cNvPr name="Group 32" id="32"/>
          <p:cNvGrpSpPr/>
          <p:nvPr/>
        </p:nvGrpSpPr>
        <p:grpSpPr>
          <a:xfrm rot="0">
            <a:off x="9549476" y="7614825"/>
            <a:ext cx="7709824" cy="1643475"/>
            <a:chOff x="0" y="0"/>
            <a:chExt cx="2030571" cy="432849"/>
          </a:xfrm>
        </p:grpSpPr>
        <p:sp>
          <p:nvSpPr>
            <p:cNvPr name="Freeform 33" id="33"/>
            <p:cNvSpPr/>
            <p:nvPr/>
          </p:nvSpPr>
          <p:spPr>
            <a:xfrm flipH="false" flipV="false" rot="0">
              <a:off x="0" y="0"/>
              <a:ext cx="2030571" cy="432849"/>
            </a:xfrm>
            <a:custGeom>
              <a:avLst/>
              <a:gdLst/>
              <a:ahLst/>
              <a:cxnLst/>
              <a:rect r="r" b="b" t="t" l="l"/>
              <a:pathLst>
                <a:path h="432849" w="2030571">
                  <a:moveTo>
                    <a:pt x="50208" y="0"/>
                  </a:moveTo>
                  <a:lnTo>
                    <a:pt x="1980363" y="0"/>
                  </a:lnTo>
                  <a:cubicBezTo>
                    <a:pt x="1993679" y="0"/>
                    <a:pt x="2006450" y="5290"/>
                    <a:pt x="2015865" y="14706"/>
                  </a:cubicBezTo>
                  <a:cubicBezTo>
                    <a:pt x="2025281" y="24121"/>
                    <a:pt x="2030571" y="36892"/>
                    <a:pt x="2030571" y="50208"/>
                  </a:cubicBezTo>
                  <a:lnTo>
                    <a:pt x="2030571" y="382641"/>
                  </a:lnTo>
                  <a:cubicBezTo>
                    <a:pt x="2030571" y="395957"/>
                    <a:pt x="2025281" y="408728"/>
                    <a:pt x="2015865" y="418144"/>
                  </a:cubicBezTo>
                  <a:cubicBezTo>
                    <a:pt x="2006450" y="427560"/>
                    <a:pt x="1993679" y="432849"/>
                    <a:pt x="1980363" y="432849"/>
                  </a:cubicBezTo>
                  <a:lnTo>
                    <a:pt x="50208" y="432849"/>
                  </a:lnTo>
                  <a:cubicBezTo>
                    <a:pt x="36892" y="432849"/>
                    <a:pt x="24121" y="427560"/>
                    <a:pt x="14706" y="418144"/>
                  </a:cubicBezTo>
                  <a:cubicBezTo>
                    <a:pt x="5290" y="408728"/>
                    <a:pt x="0" y="395957"/>
                    <a:pt x="0" y="382641"/>
                  </a:cubicBezTo>
                  <a:lnTo>
                    <a:pt x="0" y="50208"/>
                  </a:lnTo>
                  <a:cubicBezTo>
                    <a:pt x="0" y="36892"/>
                    <a:pt x="5290" y="24121"/>
                    <a:pt x="14706" y="14706"/>
                  </a:cubicBezTo>
                  <a:cubicBezTo>
                    <a:pt x="24121" y="5290"/>
                    <a:pt x="36892" y="0"/>
                    <a:pt x="50208" y="0"/>
                  </a:cubicBezTo>
                  <a:close/>
                </a:path>
              </a:pathLst>
            </a:custGeom>
            <a:ln w="19050" cap="rnd">
              <a:gradFill>
                <a:gsLst>
                  <a:gs pos="0">
                    <a:srgbClr val="5DE0E6">
                      <a:alpha val="100000"/>
                    </a:srgbClr>
                  </a:gs>
                  <a:gs pos="100000">
                    <a:srgbClr val="004AAD">
                      <a:alpha val="100000"/>
                    </a:srgbClr>
                  </a:gs>
                </a:gsLst>
                <a:lin ang="0"/>
              </a:gradFill>
              <a:prstDash val="solid"/>
              <a:round/>
            </a:ln>
          </p:spPr>
        </p:sp>
        <p:sp>
          <p:nvSpPr>
            <p:cNvPr name="TextBox 34" id="34"/>
            <p:cNvSpPr txBox="true"/>
            <p:nvPr/>
          </p:nvSpPr>
          <p:spPr>
            <a:xfrm>
              <a:off x="0" y="47625"/>
              <a:ext cx="2030571" cy="385224"/>
            </a:xfrm>
            <a:prstGeom prst="rect">
              <a:avLst/>
            </a:prstGeom>
          </p:spPr>
          <p:txBody>
            <a:bodyPr anchor="ctr" rtlCol="false" tIns="50800" lIns="50800" bIns="50800" rIns="50800"/>
            <a:lstStyle/>
            <a:p>
              <a:pPr algn="ctr">
                <a:lnSpc>
                  <a:spcPts val="1134"/>
                </a:lnSpc>
              </a:pPr>
            </a:p>
          </p:txBody>
        </p:sp>
      </p:grpSp>
      <p:sp>
        <p:nvSpPr>
          <p:cNvPr name="TextBox 35" id="35"/>
          <p:cNvSpPr txBox="true"/>
          <p:nvPr/>
        </p:nvSpPr>
        <p:spPr>
          <a:xfrm rot="0">
            <a:off x="10854732" y="8033465"/>
            <a:ext cx="5099312" cy="844296"/>
          </a:xfrm>
          <a:prstGeom prst="rect">
            <a:avLst/>
          </a:prstGeom>
        </p:spPr>
        <p:txBody>
          <a:bodyPr anchor="t" rtlCol="false" tIns="0" lIns="0" bIns="0" rIns="0">
            <a:spAutoFit/>
          </a:bodyPr>
          <a:lstStyle/>
          <a:p>
            <a:pPr algn="ctr">
              <a:lnSpc>
                <a:spcPts val="2911"/>
              </a:lnSpc>
            </a:pPr>
            <a:r>
              <a:rPr lang="en-US" b="true" sz="2799" spc="-55">
                <a:solidFill>
                  <a:srgbClr val="52CFE0"/>
                </a:solidFill>
                <a:latin typeface="Helvetica World Bold"/>
                <a:ea typeface="Helvetica World Bold"/>
                <a:cs typeface="Helvetica World Bold"/>
                <a:sym typeface="Helvetica World Bold"/>
              </a:rPr>
              <a:t>Gain experience through internships or freelancing</a:t>
            </a:r>
          </a:p>
        </p:txBody>
      </p:sp>
      <p:grpSp>
        <p:nvGrpSpPr>
          <p:cNvPr name="Group 36" id="36"/>
          <p:cNvGrpSpPr/>
          <p:nvPr/>
        </p:nvGrpSpPr>
        <p:grpSpPr>
          <a:xfrm rot="0">
            <a:off x="1028700" y="5580874"/>
            <a:ext cx="6837238" cy="684161"/>
            <a:chOff x="0" y="0"/>
            <a:chExt cx="1800754" cy="180191"/>
          </a:xfrm>
        </p:grpSpPr>
        <p:sp>
          <p:nvSpPr>
            <p:cNvPr name="Freeform 37" id="37"/>
            <p:cNvSpPr/>
            <p:nvPr/>
          </p:nvSpPr>
          <p:spPr>
            <a:xfrm flipH="false" flipV="false" rot="0">
              <a:off x="0" y="0"/>
              <a:ext cx="1800754" cy="180191"/>
            </a:xfrm>
            <a:custGeom>
              <a:avLst/>
              <a:gdLst/>
              <a:ahLst/>
              <a:cxnLst/>
              <a:rect r="r" b="b" t="t" l="l"/>
              <a:pathLst>
                <a:path h="180191" w="1800754">
                  <a:moveTo>
                    <a:pt x="33970" y="0"/>
                  </a:moveTo>
                  <a:lnTo>
                    <a:pt x="1766785" y="0"/>
                  </a:lnTo>
                  <a:cubicBezTo>
                    <a:pt x="1785545" y="0"/>
                    <a:pt x="1800754" y="15209"/>
                    <a:pt x="1800754" y="33970"/>
                  </a:cubicBezTo>
                  <a:lnTo>
                    <a:pt x="1800754" y="146221"/>
                  </a:lnTo>
                  <a:cubicBezTo>
                    <a:pt x="1800754" y="155230"/>
                    <a:pt x="1797175" y="163871"/>
                    <a:pt x="1790805" y="170241"/>
                  </a:cubicBezTo>
                  <a:cubicBezTo>
                    <a:pt x="1784434" y="176612"/>
                    <a:pt x="1775794" y="180191"/>
                    <a:pt x="1766785" y="180191"/>
                  </a:cubicBezTo>
                  <a:lnTo>
                    <a:pt x="33970" y="180191"/>
                  </a:lnTo>
                  <a:cubicBezTo>
                    <a:pt x="15209" y="180191"/>
                    <a:pt x="0" y="164982"/>
                    <a:pt x="0" y="146221"/>
                  </a:cubicBezTo>
                  <a:lnTo>
                    <a:pt x="0" y="33970"/>
                  </a:lnTo>
                  <a:cubicBezTo>
                    <a:pt x="0" y="15209"/>
                    <a:pt x="15209" y="0"/>
                    <a:pt x="33970" y="0"/>
                  </a:cubicBezTo>
                  <a:close/>
                </a:path>
              </a:pathLst>
            </a:custGeom>
            <a:gradFill rotWithShape="true">
              <a:gsLst>
                <a:gs pos="0">
                  <a:srgbClr val="5DE0E6">
                    <a:alpha val="100000"/>
                  </a:srgbClr>
                </a:gs>
                <a:gs pos="100000">
                  <a:srgbClr val="004AAD">
                    <a:alpha val="100000"/>
                  </a:srgbClr>
                </a:gs>
              </a:gsLst>
              <a:lin ang="0"/>
            </a:gradFill>
            <a:ln cap="rnd">
              <a:noFill/>
              <a:prstDash val="solid"/>
              <a:round/>
            </a:ln>
          </p:spPr>
        </p:sp>
        <p:sp>
          <p:nvSpPr>
            <p:cNvPr name="TextBox 38" id="38"/>
            <p:cNvSpPr txBox="true"/>
            <p:nvPr/>
          </p:nvSpPr>
          <p:spPr>
            <a:xfrm>
              <a:off x="0" y="28575"/>
              <a:ext cx="1800754" cy="151616"/>
            </a:xfrm>
            <a:prstGeom prst="rect">
              <a:avLst/>
            </a:prstGeom>
          </p:spPr>
          <p:txBody>
            <a:bodyPr anchor="ctr" rtlCol="false" tIns="50800" lIns="50800" bIns="50800" rIns="50800"/>
            <a:lstStyle/>
            <a:p>
              <a:pPr algn="ctr">
                <a:lnSpc>
                  <a:spcPts val="1134"/>
                </a:lnSpc>
              </a:pPr>
            </a:p>
          </p:txBody>
        </p:sp>
      </p:grpSp>
      <p:sp>
        <p:nvSpPr>
          <p:cNvPr name="TextBox 39" id="39"/>
          <p:cNvSpPr txBox="true"/>
          <p:nvPr/>
        </p:nvSpPr>
        <p:spPr>
          <a:xfrm rot="0">
            <a:off x="1028700" y="5726231"/>
            <a:ext cx="6837238" cy="431546"/>
          </a:xfrm>
          <a:prstGeom prst="rect">
            <a:avLst/>
          </a:prstGeom>
        </p:spPr>
        <p:txBody>
          <a:bodyPr anchor="t" rtlCol="false" tIns="0" lIns="0" bIns="0" rIns="0">
            <a:spAutoFit/>
          </a:bodyPr>
          <a:lstStyle/>
          <a:p>
            <a:pPr algn="ctr">
              <a:lnSpc>
                <a:spcPts val="2911"/>
              </a:lnSpc>
            </a:pPr>
            <a:r>
              <a:rPr lang="en-US" b="true" sz="2799" spc="-55">
                <a:solidFill>
                  <a:srgbClr val="000000"/>
                </a:solidFill>
                <a:latin typeface="Helvetica World Bold"/>
                <a:ea typeface="Helvetica World Bold"/>
                <a:cs typeface="Helvetica World Bold"/>
                <a:sym typeface="Helvetica World Bold"/>
              </a:rPr>
              <a:t>Steps to Start Your Journey</a:t>
            </a:r>
          </a:p>
        </p:txBody>
      </p:sp>
      <p:sp>
        <p:nvSpPr>
          <p:cNvPr name="TextBox 40" id="40"/>
          <p:cNvSpPr txBox="true"/>
          <p:nvPr/>
        </p:nvSpPr>
        <p:spPr>
          <a:xfrm rot="0">
            <a:off x="1028700" y="6763311"/>
            <a:ext cx="4455683" cy="3695365"/>
          </a:xfrm>
          <a:prstGeom prst="rect">
            <a:avLst/>
          </a:prstGeom>
        </p:spPr>
        <p:txBody>
          <a:bodyPr anchor="t" rtlCol="false" tIns="0" lIns="0" bIns="0" rIns="0">
            <a:spAutoFit/>
          </a:bodyPr>
          <a:lstStyle/>
          <a:p>
            <a:pPr algn="l">
              <a:lnSpc>
                <a:spcPts val="2643"/>
              </a:lnSpc>
            </a:pPr>
            <a:r>
              <a:rPr lang="en-US" b="true" sz="1888" i="true" spc="-37">
                <a:solidFill>
                  <a:srgbClr val="F7F7F7"/>
                </a:solidFill>
                <a:latin typeface="Times New Roman MT Bold Italics"/>
                <a:ea typeface="Times New Roman MT Bold Italics"/>
                <a:cs typeface="Times New Roman MT Bold Italics"/>
                <a:sym typeface="Times New Roman MT Bold Italics"/>
              </a:rPr>
              <a:t>Becoming a programmer starts with learning the basics of programming languages like Python. Practice coding regularly, understand problem-solving techniques, and build small projects to improve your skills. Learn to find and fix errors, explore new technologies, and create a portfolio to showcase your work. With consistent practice and hands-on experience, you can build a strong foundation for a programming career.</a:t>
            </a:r>
          </a:p>
          <a:p>
            <a:pPr algn="l">
              <a:lnSpc>
                <a:spcPts val="2643"/>
              </a:lnSpc>
            </a:pPr>
          </a:p>
        </p:txBody>
      </p:sp>
      <p:sp>
        <p:nvSpPr>
          <p:cNvPr name="TextBox 41" id="41"/>
          <p:cNvSpPr txBox="true"/>
          <p:nvPr/>
        </p:nvSpPr>
        <p:spPr>
          <a:xfrm rot="0">
            <a:off x="5615670" y="6763311"/>
            <a:ext cx="3802519" cy="2362080"/>
          </a:xfrm>
          <a:prstGeom prst="rect">
            <a:avLst/>
          </a:prstGeom>
        </p:spPr>
        <p:txBody>
          <a:bodyPr anchor="t" rtlCol="false" tIns="0" lIns="0" bIns="0" rIns="0">
            <a:spAutoFit/>
          </a:bodyPr>
          <a:lstStyle/>
          <a:p>
            <a:pPr algn="l">
              <a:lnSpc>
                <a:spcPts val="2631"/>
              </a:lnSpc>
            </a:pPr>
            <a:r>
              <a:rPr lang="en-US" b="true" sz="1879" i="true" spc="-37">
                <a:solidFill>
                  <a:srgbClr val="F7F7F7"/>
                </a:solidFill>
                <a:latin typeface="Times New Roman MT Bold Italics"/>
                <a:ea typeface="Times New Roman MT Bold Italics"/>
                <a:cs typeface="Times New Roman MT Bold Italics"/>
                <a:sym typeface="Times New Roman MT Bold Italics"/>
              </a:rPr>
              <a:t>Steps to Get Started</a:t>
            </a:r>
          </a:p>
          <a:p>
            <a:pPr algn="l" marL="405833" indent="-202916" lvl="1">
              <a:lnSpc>
                <a:spcPts val="2631"/>
              </a:lnSpc>
              <a:buFont typeface="Arial"/>
              <a:buChar char="•"/>
            </a:pPr>
            <a:r>
              <a:rPr lang="en-US" b="true" sz="1879" i="true" spc="-37">
                <a:solidFill>
                  <a:srgbClr val="F7F7F7"/>
                </a:solidFill>
                <a:latin typeface="Times New Roman MT Bold Italics"/>
                <a:ea typeface="Times New Roman MT Bold Italics"/>
                <a:cs typeface="Times New Roman MT Bold Italics"/>
                <a:sym typeface="Times New Roman MT Bold Italics"/>
              </a:rPr>
              <a:t>Learn Programming Basics</a:t>
            </a:r>
          </a:p>
          <a:p>
            <a:pPr algn="l" marL="405833" indent="-202916" lvl="1">
              <a:lnSpc>
                <a:spcPts val="2631"/>
              </a:lnSpc>
              <a:buFont typeface="Arial"/>
              <a:buChar char="•"/>
            </a:pPr>
            <a:r>
              <a:rPr lang="en-US" b="true" sz="1879" i="true" spc="-37">
                <a:solidFill>
                  <a:srgbClr val="F7F7F7"/>
                </a:solidFill>
                <a:latin typeface="Times New Roman MT Bold Italics"/>
                <a:ea typeface="Times New Roman MT Bold Italics"/>
                <a:cs typeface="Times New Roman MT Bold Italics"/>
                <a:sym typeface="Times New Roman MT Bold Italics"/>
              </a:rPr>
              <a:t>Practice Coding Regularly</a:t>
            </a:r>
          </a:p>
          <a:p>
            <a:pPr algn="l" marL="405833" indent="-202916" lvl="1">
              <a:lnSpc>
                <a:spcPts val="2631"/>
              </a:lnSpc>
              <a:buFont typeface="Arial"/>
              <a:buChar char="•"/>
            </a:pPr>
            <a:r>
              <a:rPr lang="en-US" b="true" sz="1879" i="true" spc="-37">
                <a:solidFill>
                  <a:srgbClr val="F7F7F7"/>
                </a:solidFill>
                <a:latin typeface="Times New Roman MT Bold Italics"/>
                <a:ea typeface="Times New Roman MT Bold Italics"/>
                <a:cs typeface="Times New Roman MT Bold Italics"/>
                <a:sym typeface="Times New Roman MT Bold Italics"/>
              </a:rPr>
              <a:t>Build Real-World Projects</a:t>
            </a:r>
          </a:p>
          <a:p>
            <a:pPr algn="l" marL="405833" indent="-202916" lvl="1">
              <a:lnSpc>
                <a:spcPts val="2631"/>
              </a:lnSpc>
              <a:buFont typeface="Arial"/>
              <a:buChar char="•"/>
            </a:pPr>
            <a:r>
              <a:rPr lang="en-US" b="true" sz="1879" i="true" spc="-37">
                <a:solidFill>
                  <a:srgbClr val="F7F7F7"/>
                </a:solidFill>
                <a:latin typeface="Times New Roman MT Bold Italics"/>
                <a:ea typeface="Times New Roman MT Bold Italics"/>
                <a:cs typeface="Times New Roman MT Bold Italics"/>
                <a:sym typeface="Times New Roman MT Bold Italics"/>
              </a:rPr>
              <a:t>Develop Problem-Solving Skills</a:t>
            </a:r>
          </a:p>
          <a:p>
            <a:pPr algn="l" marL="405833" indent="-202916" lvl="1">
              <a:lnSpc>
                <a:spcPts val="2631"/>
              </a:lnSpc>
              <a:buFont typeface="Arial"/>
              <a:buChar char="•"/>
            </a:pPr>
            <a:r>
              <a:rPr lang="en-US" b="true" sz="1879" i="true" spc="-37">
                <a:solidFill>
                  <a:srgbClr val="F7F7F7"/>
                </a:solidFill>
                <a:latin typeface="Times New Roman MT Bold Italics"/>
                <a:ea typeface="Times New Roman MT Bold Italics"/>
                <a:cs typeface="Times New Roman MT Bold Italics"/>
                <a:sym typeface="Times New Roman MT Bold Italics"/>
              </a:rPr>
              <a:t>Create a Project Portfolio</a:t>
            </a:r>
          </a:p>
          <a:p>
            <a:pPr algn="l">
              <a:lnSpc>
                <a:spcPts val="2631"/>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15780466" y="639280"/>
            <a:ext cx="1478834" cy="453314"/>
            <a:chOff x="0" y="0"/>
            <a:chExt cx="389487" cy="119391"/>
          </a:xfrm>
        </p:grpSpPr>
        <p:sp>
          <p:nvSpPr>
            <p:cNvPr name="Freeform 4" id="4"/>
            <p:cNvSpPr/>
            <p:nvPr/>
          </p:nvSpPr>
          <p:spPr>
            <a:xfrm flipH="false" flipV="false" rot="0">
              <a:off x="0" y="0"/>
              <a:ext cx="389487" cy="119391"/>
            </a:xfrm>
            <a:custGeom>
              <a:avLst/>
              <a:gdLst/>
              <a:ahLst/>
              <a:cxnLst/>
              <a:rect r="r" b="b" t="t" l="l"/>
              <a:pathLst>
                <a:path h="119391" w="389487">
                  <a:moveTo>
                    <a:pt x="52352" y="0"/>
                  </a:moveTo>
                  <a:lnTo>
                    <a:pt x="337136" y="0"/>
                  </a:lnTo>
                  <a:cubicBezTo>
                    <a:pt x="366049" y="0"/>
                    <a:pt x="389487" y="23439"/>
                    <a:pt x="389487" y="52352"/>
                  </a:cubicBezTo>
                  <a:lnTo>
                    <a:pt x="389487" y="67040"/>
                  </a:lnTo>
                  <a:cubicBezTo>
                    <a:pt x="389487" y="80924"/>
                    <a:pt x="383972" y="94240"/>
                    <a:pt x="374154" y="104058"/>
                  </a:cubicBezTo>
                  <a:cubicBezTo>
                    <a:pt x="364336" y="113876"/>
                    <a:pt x="351020" y="119391"/>
                    <a:pt x="337136" y="119391"/>
                  </a:cubicBezTo>
                  <a:lnTo>
                    <a:pt x="52352" y="119391"/>
                  </a:lnTo>
                  <a:cubicBezTo>
                    <a:pt x="23439" y="119391"/>
                    <a:pt x="0" y="95953"/>
                    <a:pt x="0" y="67040"/>
                  </a:cubicBezTo>
                  <a:lnTo>
                    <a:pt x="0" y="52352"/>
                  </a:lnTo>
                  <a:cubicBezTo>
                    <a:pt x="0" y="23439"/>
                    <a:pt x="23439" y="0"/>
                    <a:pt x="52352" y="0"/>
                  </a:cubicBezTo>
                  <a:close/>
                </a:path>
              </a:pathLst>
            </a:custGeom>
            <a:gradFill rotWithShape="true">
              <a:gsLst>
                <a:gs pos="0">
                  <a:srgbClr val="5DE0E6">
                    <a:alpha val="100000"/>
                  </a:srgbClr>
                </a:gs>
                <a:gs pos="100000">
                  <a:srgbClr val="004AAD">
                    <a:alpha val="100000"/>
                  </a:srgbClr>
                </a:gs>
              </a:gsLst>
              <a:lin ang="0"/>
            </a:gradFill>
            <a:ln cap="sq">
              <a:noFill/>
              <a:prstDash val="solid"/>
              <a:miter/>
            </a:ln>
          </p:spPr>
        </p:sp>
        <p:sp>
          <p:nvSpPr>
            <p:cNvPr name="TextBox 5" id="5"/>
            <p:cNvSpPr txBox="true"/>
            <p:nvPr/>
          </p:nvSpPr>
          <p:spPr>
            <a:xfrm>
              <a:off x="0" y="28575"/>
              <a:ext cx="389487" cy="90816"/>
            </a:xfrm>
            <a:prstGeom prst="rect">
              <a:avLst/>
            </a:prstGeom>
          </p:spPr>
          <p:txBody>
            <a:bodyPr anchor="ctr" rtlCol="false" tIns="50800" lIns="50800" bIns="50800" rIns="50800"/>
            <a:lstStyle/>
            <a:p>
              <a:pPr algn="ctr">
                <a:lnSpc>
                  <a:spcPts val="1134"/>
                </a:lnSpc>
              </a:pPr>
            </a:p>
          </p:txBody>
        </p:sp>
      </p:grpSp>
      <p:sp>
        <p:nvSpPr>
          <p:cNvPr name="TextBox 6" id="6"/>
          <p:cNvSpPr txBox="true"/>
          <p:nvPr/>
        </p:nvSpPr>
        <p:spPr>
          <a:xfrm rot="0">
            <a:off x="7054987" y="807453"/>
            <a:ext cx="810952"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Home</a:t>
            </a:r>
          </a:p>
        </p:txBody>
      </p:sp>
      <p:sp>
        <p:nvSpPr>
          <p:cNvPr name="TextBox 7" id="7"/>
          <p:cNvSpPr txBox="true"/>
          <p:nvPr/>
        </p:nvSpPr>
        <p:spPr>
          <a:xfrm rot="0">
            <a:off x="8498359" y="807453"/>
            <a:ext cx="1051116"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About Us</a:t>
            </a:r>
          </a:p>
        </p:txBody>
      </p:sp>
      <p:sp>
        <p:nvSpPr>
          <p:cNvPr name="TextBox 8" id="8"/>
          <p:cNvSpPr txBox="true"/>
          <p:nvPr/>
        </p:nvSpPr>
        <p:spPr>
          <a:xfrm rot="0">
            <a:off x="10181897" y="807453"/>
            <a:ext cx="1051116" cy="164592"/>
          </a:xfrm>
          <a:prstGeom prst="rect">
            <a:avLst/>
          </a:prstGeom>
        </p:spPr>
        <p:txBody>
          <a:bodyPr anchor="t" rtlCol="false" tIns="0" lIns="0" bIns="0" rIns="0">
            <a:spAutoFit/>
          </a:bodyPr>
          <a:lstStyle/>
          <a:p>
            <a:pPr algn="ctr">
              <a:lnSpc>
                <a:spcPts val="1134"/>
              </a:lnSpc>
            </a:pPr>
            <a:r>
              <a:rPr lang="en-US" sz="1400" spc="-28">
                <a:solidFill>
                  <a:srgbClr val="F7F7F7"/>
                </a:solidFill>
                <a:latin typeface="Helvetica World"/>
                <a:ea typeface="Helvetica World"/>
                <a:cs typeface="Helvetica World"/>
                <a:sym typeface="Helvetica World"/>
              </a:rPr>
              <a:t>Services</a:t>
            </a:r>
          </a:p>
        </p:txBody>
      </p:sp>
      <p:sp>
        <p:nvSpPr>
          <p:cNvPr name="TextBox 9" id="9"/>
          <p:cNvSpPr txBox="true"/>
          <p:nvPr/>
        </p:nvSpPr>
        <p:spPr>
          <a:xfrm rot="0">
            <a:off x="16034591" y="807453"/>
            <a:ext cx="970584" cy="177293"/>
          </a:xfrm>
          <a:prstGeom prst="rect">
            <a:avLst/>
          </a:prstGeom>
        </p:spPr>
        <p:txBody>
          <a:bodyPr anchor="t" rtlCol="false" tIns="0" lIns="0" bIns="0" rIns="0">
            <a:spAutoFit/>
          </a:bodyPr>
          <a:lstStyle/>
          <a:p>
            <a:pPr algn="ctr">
              <a:lnSpc>
                <a:spcPts val="1134"/>
              </a:lnSpc>
            </a:pPr>
            <a:r>
              <a:rPr lang="en-US" b="true" sz="1400" spc="-28">
                <a:solidFill>
                  <a:srgbClr val="000000"/>
                </a:solidFill>
                <a:latin typeface="Helvetica World Bold"/>
                <a:ea typeface="Helvetica World Bold"/>
                <a:cs typeface="Helvetica World Bold"/>
                <a:sym typeface="Helvetica World Bold"/>
              </a:rPr>
              <a:t>Contact</a:t>
            </a:r>
          </a:p>
        </p:txBody>
      </p:sp>
      <p:sp>
        <p:nvSpPr>
          <p:cNvPr name="TextBox 10" id="10"/>
          <p:cNvSpPr txBox="true"/>
          <p:nvPr/>
        </p:nvSpPr>
        <p:spPr>
          <a:xfrm rot="0">
            <a:off x="934318" y="2395750"/>
            <a:ext cx="8464832" cy="1635722"/>
          </a:xfrm>
          <a:prstGeom prst="rect">
            <a:avLst/>
          </a:prstGeom>
        </p:spPr>
        <p:txBody>
          <a:bodyPr anchor="t" rtlCol="false" tIns="0" lIns="0" bIns="0" rIns="0">
            <a:spAutoFit/>
          </a:bodyPr>
          <a:lstStyle/>
          <a:p>
            <a:pPr algn="ctr">
              <a:lnSpc>
                <a:spcPts val="10415"/>
              </a:lnSpc>
            </a:pPr>
            <a:r>
              <a:rPr lang="en-US" b="true" sz="12549" spc="-815">
                <a:solidFill>
                  <a:srgbClr val="52CFE0"/>
                </a:solidFill>
                <a:latin typeface="Helvetica World Bold"/>
                <a:ea typeface="Helvetica World Bold"/>
                <a:cs typeface="Helvetica World Bold"/>
                <a:sym typeface="Helvetica World Bold"/>
              </a:rPr>
              <a:t>THANK YOU</a:t>
            </a:r>
          </a:p>
        </p:txBody>
      </p:sp>
      <p:grpSp>
        <p:nvGrpSpPr>
          <p:cNvPr name="Group 11" id="11"/>
          <p:cNvGrpSpPr/>
          <p:nvPr/>
        </p:nvGrpSpPr>
        <p:grpSpPr>
          <a:xfrm rot="0">
            <a:off x="16635046" y="8634046"/>
            <a:ext cx="624254" cy="62425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100000"/>
                  </a:srgbClr>
                </a:gs>
                <a:gs pos="100000">
                  <a:srgbClr val="004AAD">
                    <a:alpha val="100000"/>
                  </a:srgbClr>
                </a:gs>
              </a:gsLst>
              <a:lin ang="0"/>
            </a:gradFill>
          </p:spPr>
        </p:sp>
        <p:sp>
          <p:nvSpPr>
            <p:cNvPr name="TextBox 13" id="13"/>
            <p:cNvSpPr txBox="true"/>
            <p:nvPr/>
          </p:nvSpPr>
          <p:spPr>
            <a:xfrm>
              <a:off x="76200" y="123825"/>
              <a:ext cx="660400" cy="612775"/>
            </a:xfrm>
            <a:prstGeom prst="rect">
              <a:avLst/>
            </a:prstGeom>
          </p:spPr>
          <p:txBody>
            <a:bodyPr anchor="ctr" rtlCol="false" tIns="50800" lIns="50800" bIns="50800" rIns="50800"/>
            <a:lstStyle/>
            <a:p>
              <a:pPr algn="ctr">
                <a:lnSpc>
                  <a:spcPts val="1134"/>
                </a:lnSpc>
              </a:pPr>
            </a:p>
          </p:txBody>
        </p:sp>
      </p:grpSp>
      <p:sp>
        <p:nvSpPr>
          <p:cNvPr name="Freeform 14" id="14"/>
          <p:cNvSpPr/>
          <p:nvPr/>
        </p:nvSpPr>
        <p:spPr>
          <a:xfrm flipH="true" flipV="false" rot="0">
            <a:off x="16865622" y="8776995"/>
            <a:ext cx="203860" cy="338357"/>
          </a:xfrm>
          <a:custGeom>
            <a:avLst/>
            <a:gdLst/>
            <a:ahLst/>
            <a:cxnLst/>
            <a:rect r="r" b="b" t="t" l="l"/>
            <a:pathLst>
              <a:path h="338357" w="203860">
                <a:moveTo>
                  <a:pt x="203860" y="0"/>
                </a:moveTo>
                <a:lnTo>
                  <a:pt x="0" y="0"/>
                </a:lnTo>
                <a:lnTo>
                  <a:pt x="0" y="338356"/>
                </a:lnTo>
                <a:lnTo>
                  <a:pt x="203860" y="338356"/>
                </a:lnTo>
                <a:lnTo>
                  <a:pt x="20386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0">
            <a:off x="10933504" y="3446035"/>
            <a:ext cx="6325796" cy="1018237"/>
            <a:chOff x="0" y="0"/>
            <a:chExt cx="1666053" cy="268178"/>
          </a:xfrm>
        </p:grpSpPr>
        <p:sp>
          <p:nvSpPr>
            <p:cNvPr name="Freeform 16" id="16"/>
            <p:cNvSpPr/>
            <p:nvPr/>
          </p:nvSpPr>
          <p:spPr>
            <a:xfrm flipH="false" flipV="false" rot="0">
              <a:off x="0" y="0"/>
              <a:ext cx="1666053" cy="268178"/>
            </a:xfrm>
            <a:custGeom>
              <a:avLst/>
              <a:gdLst/>
              <a:ahLst/>
              <a:cxnLst/>
              <a:rect r="r" b="b" t="t" l="l"/>
              <a:pathLst>
                <a:path h="268178" w="1666053">
                  <a:moveTo>
                    <a:pt x="36716" y="0"/>
                  </a:moveTo>
                  <a:lnTo>
                    <a:pt x="1629337" y="0"/>
                  </a:lnTo>
                  <a:cubicBezTo>
                    <a:pt x="1639075" y="0"/>
                    <a:pt x="1648414" y="3868"/>
                    <a:pt x="1655299" y="10754"/>
                  </a:cubicBezTo>
                  <a:cubicBezTo>
                    <a:pt x="1662185" y="17639"/>
                    <a:pt x="1666053" y="26978"/>
                    <a:pt x="1666053" y="36716"/>
                  </a:cubicBezTo>
                  <a:lnTo>
                    <a:pt x="1666053" y="231462"/>
                  </a:lnTo>
                  <a:cubicBezTo>
                    <a:pt x="1666053" y="241199"/>
                    <a:pt x="1662185" y="250538"/>
                    <a:pt x="1655299" y="257424"/>
                  </a:cubicBezTo>
                  <a:cubicBezTo>
                    <a:pt x="1648414" y="264309"/>
                    <a:pt x="1639075" y="268178"/>
                    <a:pt x="1629337" y="268178"/>
                  </a:cubicBezTo>
                  <a:lnTo>
                    <a:pt x="36716" y="268178"/>
                  </a:lnTo>
                  <a:cubicBezTo>
                    <a:pt x="26978" y="268178"/>
                    <a:pt x="17639" y="264309"/>
                    <a:pt x="10754" y="257424"/>
                  </a:cubicBezTo>
                  <a:cubicBezTo>
                    <a:pt x="3868" y="250538"/>
                    <a:pt x="0" y="241199"/>
                    <a:pt x="0" y="231462"/>
                  </a:cubicBezTo>
                  <a:lnTo>
                    <a:pt x="0" y="36716"/>
                  </a:lnTo>
                  <a:cubicBezTo>
                    <a:pt x="0" y="26978"/>
                    <a:pt x="3868" y="17639"/>
                    <a:pt x="10754" y="10754"/>
                  </a:cubicBezTo>
                  <a:cubicBezTo>
                    <a:pt x="17639" y="3868"/>
                    <a:pt x="26978" y="0"/>
                    <a:pt x="36716" y="0"/>
                  </a:cubicBezTo>
                  <a:close/>
                </a:path>
              </a:pathLst>
            </a:custGeom>
            <a:gradFill rotWithShape="true">
              <a:gsLst>
                <a:gs pos="0">
                  <a:srgbClr val="5DE0E6">
                    <a:alpha val="100000"/>
                  </a:srgbClr>
                </a:gs>
                <a:gs pos="100000">
                  <a:srgbClr val="004AAD">
                    <a:alpha val="100000"/>
                  </a:srgbClr>
                </a:gs>
              </a:gsLst>
              <a:lin ang="0"/>
            </a:gradFill>
            <a:ln cap="rnd">
              <a:noFill/>
              <a:prstDash val="solid"/>
              <a:round/>
            </a:ln>
          </p:spPr>
        </p:sp>
        <p:sp>
          <p:nvSpPr>
            <p:cNvPr name="TextBox 17" id="17"/>
            <p:cNvSpPr txBox="true"/>
            <p:nvPr/>
          </p:nvSpPr>
          <p:spPr>
            <a:xfrm>
              <a:off x="0" y="28575"/>
              <a:ext cx="1666053" cy="239603"/>
            </a:xfrm>
            <a:prstGeom prst="rect">
              <a:avLst/>
            </a:prstGeom>
          </p:spPr>
          <p:txBody>
            <a:bodyPr anchor="ctr" rtlCol="false" tIns="50800" lIns="50800" bIns="50800" rIns="50800"/>
            <a:lstStyle/>
            <a:p>
              <a:pPr algn="ctr">
                <a:lnSpc>
                  <a:spcPts val="1134"/>
                </a:lnSpc>
              </a:pPr>
            </a:p>
          </p:txBody>
        </p:sp>
      </p:grpSp>
      <p:grpSp>
        <p:nvGrpSpPr>
          <p:cNvPr name="Group 18" id="18"/>
          <p:cNvGrpSpPr/>
          <p:nvPr/>
        </p:nvGrpSpPr>
        <p:grpSpPr>
          <a:xfrm rot="0">
            <a:off x="11134745" y="5265829"/>
            <a:ext cx="5812428" cy="2797815"/>
            <a:chOff x="0" y="0"/>
            <a:chExt cx="1530845" cy="736873"/>
          </a:xfrm>
        </p:grpSpPr>
        <p:sp>
          <p:nvSpPr>
            <p:cNvPr name="Freeform 19" id="19"/>
            <p:cNvSpPr/>
            <p:nvPr/>
          </p:nvSpPr>
          <p:spPr>
            <a:xfrm flipH="false" flipV="false" rot="0">
              <a:off x="0" y="0"/>
              <a:ext cx="1530845" cy="736873"/>
            </a:xfrm>
            <a:custGeom>
              <a:avLst/>
              <a:gdLst/>
              <a:ahLst/>
              <a:cxnLst/>
              <a:rect r="r" b="b" t="t" l="l"/>
              <a:pathLst>
                <a:path h="736873" w="1530845">
                  <a:moveTo>
                    <a:pt x="66598" y="0"/>
                  </a:moveTo>
                  <a:lnTo>
                    <a:pt x="1464247" y="0"/>
                  </a:lnTo>
                  <a:cubicBezTo>
                    <a:pt x="1481910" y="0"/>
                    <a:pt x="1498850" y="7017"/>
                    <a:pt x="1511339" y="19506"/>
                  </a:cubicBezTo>
                  <a:cubicBezTo>
                    <a:pt x="1523829" y="31996"/>
                    <a:pt x="1530845" y="48935"/>
                    <a:pt x="1530845" y="66598"/>
                  </a:cubicBezTo>
                  <a:lnTo>
                    <a:pt x="1530845" y="670275"/>
                  </a:lnTo>
                  <a:cubicBezTo>
                    <a:pt x="1530845" y="707056"/>
                    <a:pt x="1501028" y="736873"/>
                    <a:pt x="1464247" y="736873"/>
                  </a:cubicBezTo>
                  <a:lnTo>
                    <a:pt x="66598" y="736873"/>
                  </a:lnTo>
                  <a:cubicBezTo>
                    <a:pt x="48935" y="736873"/>
                    <a:pt x="31996" y="729856"/>
                    <a:pt x="19506" y="717367"/>
                  </a:cubicBezTo>
                  <a:cubicBezTo>
                    <a:pt x="7017" y="704877"/>
                    <a:pt x="0" y="687938"/>
                    <a:pt x="0" y="670275"/>
                  </a:cubicBezTo>
                  <a:lnTo>
                    <a:pt x="0" y="66598"/>
                  </a:lnTo>
                  <a:cubicBezTo>
                    <a:pt x="0" y="29817"/>
                    <a:pt x="29817" y="0"/>
                    <a:pt x="66598" y="0"/>
                  </a:cubicBezTo>
                  <a:close/>
                </a:path>
              </a:pathLst>
            </a:custGeom>
            <a:solidFill>
              <a:srgbClr val="000000">
                <a:alpha val="49804"/>
              </a:srgbClr>
            </a:solidFill>
          </p:spPr>
        </p:sp>
        <p:sp>
          <p:nvSpPr>
            <p:cNvPr name="TextBox 20" id="20"/>
            <p:cNvSpPr txBox="true"/>
            <p:nvPr/>
          </p:nvSpPr>
          <p:spPr>
            <a:xfrm>
              <a:off x="0" y="47625"/>
              <a:ext cx="1530845" cy="689248"/>
            </a:xfrm>
            <a:prstGeom prst="rect">
              <a:avLst/>
            </a:prstGeom>
          </p:spPr>
          <p:txBody>
            <a:bodyPr anchor="ctr" rtlCol="false" tIns="50800" lIns="50800" bIns="50800" rIns="50800"/>
            <a:lstStyle/>
            <a:p>
              <a:pPr algn="ctr">
                <a:lnSpc>
                  <a:spcPts val="1134"/>
                </a:lnSpc>
              </a:pPr>
            </a:p>
          </p:txBody>
        </p:sp>
      </p:grpSp>
      <p:grpSp>
        <p:nvGrpSpPr>
          <p:cNvPr name="Group 21" id="21"/>
          <p:cNvGrpSpPr/>
          <p:nvPr/>
        </p:nvGrpSpPr>
        <p:grpSpPr>
          <a:xfrm rot="0">
            <a:off x="11363836" y="5625587"/>
            <a:ext cx="5354246" cy="2078299"/>
            <a:chOff x="0" y="0"/>
            <a:chExt cx="1410172" cy="547371"/>
          </a:xfrm>
        </p:grpSpPr>
        <p:sp>
          <p:nvSpPr>
            <p:cNvPr name="Freeform 22" id="22"/>
            <p:cNvSpPr/>
            <p:nvPr/>
          </p:nvSpPr>
          <p:spPr>
            <a:xfrm flipH="false" flipV="false" rot="0">
              <a:off x="0" y="0"/>
              <a:ext cx="1410172" cy="547371"/>
            </a:xfrm>
            <a:custGeom>
              <a:avLst/>
              <a:gdLst/>
              <a:ahLst/>
              <a:cxnLst/>
              <a:rect r="r" b="b" t="t" l="l"/>
              <a:pathLst>
                <a:path h="547371" w="1410172">
                  <a:moveTo>
                    <a:pt x="72297" y="0"/>
                  </a:moveTo>
                  <a:lnTo>
                    <a:pt x="1337875" y="0"/>
                  </a:lnTo>
                  <a:cubicBezTo>
                    <a:pt x="1377803" y="0"/>
                    <a:pt x="1410172" y="32368"/>
                    <a:pt x="1410172" y="72297"/>
                  </a:cubicBezTo>
                  <a:lnTo>
                    <a:pt x="1410172" y="475074"/>
                  </a:lnTo>
                  <a:cubicBezTo>
                    <a:pt x="1410172" y="515003"/>
                    <a:pt x="1377803" y="547371"/>
                    <a:pt x="1337875" y="547371"/>
                  </a:cubicBezTo>
                  <a:lnTo>
                    <a:pt x="72297" y="547371"/>
                  </a:lnTo>
                  <a:cubicBezTo>
                    <a:pt x="53123" y="547371"/>
                    <a:pt x="34734" y="539754"/>
                    <a:pt x="21175" y="526196"/>
                  </a:cubicBezTo>
                  <a:cubicBezTo>
                    <a:pt x="7617" y="512637"/>
                    <a:pt x="0" y="494248"/>
                    <a:pt x="0" y="475074"/>
                  </a:cubicBezTo>
                  <a:lnTo>
                    <a:pt x="0" y="72297"/>
                  </a:lnTo>
                  <a:cubicBezTo>
                    <a:pt x="0" y="32368"/>
                    <a:pt x="32368" y="0"/>
                    <a:pt x="72297" y="0"/>
                  </a:cubicBezTo>
                  <a:close/>
                </a:path>
              </a:pathLst>
            </a:custGeom>
            <a:ln w="19050" cap="rnd">
              <a:gradFill>
                <a:gsLst>
                  <a:gs pos="0">
                    <a:srgbClr val="5DE0E6">
                      <a:alpha val="100000"/>
                    </a:srgbClr>
                  </a:gs>
                  <a:gs pos="100000">
                    <a:srgbClr val="004AAD">
                      <a:alpha val="100000"/>
                    </a:srgbClr>
                  </a:gs>
                </a:gsLst>
                <a:lin ang="0"/>
              </a:gradFill>
              <a:prstDash val="solid"/>
              <a:round/>
            </a:ln>
          </p:spPr>
        </p:sp>
        <p:sp>
          <p:nvSpPr>
            <p:cNvPr name="TextBox 23" id="23"/>
            <p:cNvSpPr txBox="true"/>
            <p:nvPr/>
          </p:nvSpPr>
          <p:spPr>
            <a:xfrm>
              <a:off x="0" y="47625"/>
              <a:ext cx="1410172" cy="499746"/>
            </a:xfrm>
            <a:prstGeom prst="rect">
              <a:avLst/>
            </a:prstGeom>
          </p:spPr>
          <p:txBody>
            <a:bodyPr anchor="ctr" rtlCol="false" tIns="50800" lIns="50800" bIns="50800" rIns="50800"/>
            <a:lstStyle/>
            <a:p>
              <a:pPr algn="ctr">
                <a:lnSpc>
                  <a:spcPts val="1134"/>
                </a:lnSpc>
              </a:pPr>
            </a:p>
          </p:txBody>
        </p:sp>
      </p:grpSp>
      <p:sp>
        <p:nvSpPr>
          <p:cNvPr name="Freeform 24" id="24"/>
          <p:cNvSpPr/>
          <p:nvPr/>
        </p:nvSpPr>
        <p:spPr>
          <a:xfrm flipH="false" flipV="false" rot="0">
            <a:off x="11707669" y="6052759"/>
            <a:ext cx="440305" cy="440305"/>
          </a:xfrm>
          <a:custGeom>
            <a:avLst/>
            <a:gdLst/>
            <a:ahLst/>
            <a:cxnLst/>
            <a:rect r="r" b="b" t="t" l="l"/>
            <a:pathLst>
              <a:path h="440305" w="440305">
                <a:moveTo>
                  <a:pt x="0" y="0"/>
                </a:moveTo>
                <a:lnTo>
                  <a:pt x="440305" y="0"/>
                </a:lnTo>
                <a:lnTo>
                  <a:pt x="440305" y="440305"/>
                </a:lnTo>
                <a:lnTo>
                  <a:pt x="0" y="4403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5" id="25"/>
          <p:cNvSpPr/>
          <p:nvPr/>
        </p:nvSpPr>
        <p:spPr>
          <a:xfrm flipH="false" flipV="false" rot="0">
            <a:off x="11707669" y="6817713"/>
            <a:ext cx="463229" cy="463229"/>
          </a:xfrm>
          <a:custGeom>
            <a:avLst/>
            <a:gdLst/>
            <a:ahLst/>
            <a:cxnLst/>
            <a:rect r="r" b="b" t="t" l="l"/>
            <a:pathLst>
              <a:path h="463229" w="463229">
                <a:moveTo>
                  <a:pt x="0" y="0"/>
                </a:moveTo>
                <a:lnTo>
                  <a:pt x="463229" y="0"/>
                </a:lnTo>
                <a:lnTo>
                  <a:pt x="463229" y="463230"/>
                </a:lnTo>
                <a:lnTo>
                  <a:pt x="0" y="4632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6" id="26"/>
          <p:cNvSpPr txBox="true"/>
          <p:nvPr/>
        </p:nvSpPr>
        <p:spPr>
          <a:xfrm rot="0">
            <a:off x="12417056" y="6014659"/>
            <a:ext cx="4652426" cy="306738"/>
          </a:xfrm>
          <a:prstGeom prst="rect">
            <a:avLst/>
          </a:prstGeom>
        </p:spPr>
        <p:txBody>
          <a:bodyPr anchor="t" rtlCol="false" tIns="0" lIns="0" bIns="0" rIns="0">
            <a:spAutoFit/>
          </a:bodyPr>
          <a:lstStyle/>
          <a:p>
            <a:pPr algn="l">
              <a:lnSpc>
                <a:spcPts val="2520"/>
              </a:lnSpc>
              <a:spcBef>
                <a:spcPct val="0"/>
              </a:spcBef>
            </a:pPr>
            <a:r>
              <a:rPr lang="en-US" sz="1800">
                <a:solidFill>
                  <a:srgbClr val="FFFFFF"/>
                </a:solidFill>
                <a:latin typeface="Helvetica World"/>
                <a:ea typeface="Helvetica World"/>
                <a:cs typeface="Helvetica World"/>
                <a:sym typeface="Helvetica World"/>
              </a:rPr>
              <a:t>+91 63745 10754</a:t>
            </a:r>
          </a:p>
        </p:txBody>
      </p:sp>
      <p:sp>
        <p:nvSpPr>
          <p:cNvPr name="TextBox 27" id="27"/>
          <p:cNvSpPr txBox="true"/>
          <p:nvPr/>
        </p:nvSpPr>
        <p:spPr>
          <a:xfrm rot="0">
            <a:off x="12417056" y="6876909"/>
            <a:ext cx="4661831" cy="306738"/>
          </a:xfrm>
          <a:prstGeom prst="rect">
            <a:avLst/>
          </a:prstGeom>
        </p:spPr>
        <p:txBody>
          <a:bodyPr anchor="t" rtlCol="false" tIns="0" lIns="0" bIns="0" rIns="0">
            <a:spAutoFit/>
          </a:bodyPr>
          <a:lstStyle/>
          <a:p>
            <a:pPr algn="l">
              <a:lnSpc>
                <a:spcPts val="2520"/>
              </a:lnSpc>
              <a:spcBef>
                <a:spcPct val="0"/>
              </a:spcBef>
            </a:pPr>
            <a:r>
              <a:rPr lang="en-US" sz="1800">
                <a:solidFill>
                  <a:srgbClr val="FFFFFF"/>
                </a:solidFill>
                <a:latin typeface="Helvetica World"/>
                <a:ea typeface="Helvetica World"/>
                <a:cs typeface="Helvetica World"/>
                <a:sym typeface="Helvetica World"/>
              </a:rPr>
              <a:t>https://code99itacademy.com/</a:t>
            </a:r>
          </a:p>
        </p:txBody>
      </p:sp>
      <p:sp>
        <p:nvSpPr>
          <p:cNvPr name="TextBox 28" id="28"/>
          <p:cNvSpPr txBox="true"/>
          <p:nvPr/>
        </p:nvSpPr>
        <p:spPr>
          <a:xfrm rot="0">
            <a:off x="10933504" y="3757958"/>
            <a:ext cx="6325796" cy="431546"/>
          </a:xfrm>
          <a:prstGeom prst="rect">
            <a:avLst/>
          </a:prstGeom>
        </p:spPr>
        <p:txBody>
          <a:bodyPr anchor="t" rtlCol="false" tIns="0" lIns="0" bIns="0" rIns="0">
            <a:spAutoFit/>
          </a:bodyPr>
          <a:lstStyle/>
          <a:p>
            <a:pPr algn="ctr">
              <a:lnSpc>
                <a:spcPts val="2911"/>
              </a:lnSpc>
            </a:pPr>
            <a:r>
              <a:rPr lang="en-US" b="true" sz="2799" spc="-55">
                <a:solidFill>
                  <a:srgbClr val="000000"/>
                </a:solidFill>
                <a:latin typeface="Helvetica World Bold"/>
                <a:ea typeface="Helvetica World Bold"/>
                <a:cs typeface="Helvetica World Bold"/>
                <a:sym typeface="Helvetica World Bold"/>
              </a:rPr>
              <a:t>Get In Touch</a:t>
            </a:r>
          </a:p>
        </p:txBody>
      </p:sp>
      <p:grpSp>
        <p:nvGrpSpPr>
          <p:cNvPr name="Group 29" id="29"/>
          <p:cNvGrpSpPr/>
          <p:nvPr/>
        </p:nvGrpSpPr>
        <p:grpSpPr>
          <a:xfrm rot="0">
            <a:off x="992616" y="4395456"/>
            <a:ext cx="8348235" cy="4844514"/>
            <a:chOff x="0" y="0"/>
            <a:chExt cx="2198712" cy="1275921"/>
          </a:xfrm>
        </p:grpSpPr>
        <p:sp>
          <p:nvSpPr>
            <p:cNvPr name="Freeform 30" id="30"/>
            <p:cNvSpPr/>
            <p:nvPr/>
          </p:nvSpPr>
          <p:spPr>
            <a:xfrm flipH="false" flipV="false" rot="0">
              <a:off x="0" y="0"/>
              <a:ext cx="2198712" cy="1275921"/>
            </a:xfrm>
            <a:custGeom>
              <a:avLst/>
              <a:gdLst/>
              <a:ahLst/>
              <a:cxnLst/>
              <a:rect r="r" b="b" t="t" l="l"/>
              <a:pathLst>
                <a:path h="1275921" w="2198712">
                  <a:moveTo>
                    <a:pt x="46369" y="0"/>
                  </a:moveTo>
                  <a:lnTo>
                    <a:pt x="2152343" y="0"/>
                  </a:lnTo>
                  <a:cubicBezTo>
                    <a:pt x="2164641" y="0"/>
                    <a:pt x="2176435" y="4885"/>
                    <a:pt x="2185131" y="13581"/>
                  </a:cubicBezTo>
                  <a:cubicBezTo>
                    <a:pt x="2193827" y="22277"/>
                    <a:pt x="2198712" y="34071"/>
                    <a:pt x="2198712" y="46369"/>
                  </a:cubicBezTo>
                  <a:lnTo>
                    <a:pt x="2198712" y="1229553"/>
                  </a:lnTo>
                  <a:cubicBezTo>
                    <a:pt x="2198712" y="1241851"/>
                    <a:pt x="2193827" y="1253645"/>
                    <a:pt x="2185131" y="1262340"/>
                  </a:cubicBezTo>
                  <a:cubicBezTo>
                    <a:pt x="2176435" y="1271036"/>
                    <a:pt x="2164641" y="1275921"/>
                    <a:pt x="2152343" y="1275921"/>
                  </a:cubicBezTo>
                  <a:lnTo>
                    <a:pt x="46369" y="1275921"/>
                  </a:lnTo>
                  <a:cubicBezTo>
                    <a:pt x="20760" y="1275921"/>
                    <a:pt x="0" y="1255161"/>
                    <a:pt x="0" y="1229553"/>
                  </a:cubicBezTo>
                  <a:lnTo>
                    <a:pt x="0" y="46369"/>
                  </a:lnTo>
                  <a:cubicBezTo>
                    <a:pt x="0" y="34071"/>
                    <a:pt x="4885" y="22277"/>
                    <a:pt x="13581" y="13581"/>
                  </a:cubicBezTo>
                  <a:cubicBezTo>
                    <a:pt x="22277" y="4885"/>
                    <a:pt x="34071" y="0"/>
                    <a:pt x="46369" y="0"/>
                  </a:cubicBezTo>
                  <a:close/>
                </a:path>
              </a:pathLst>
            </a:custGeom>
            <a:solidFill>
              <a:srgbClr val="000000">
                <a:alpha val="49804"/>
              </a:srgbClr>
            </a:solidFill>
          </p:spPr>
        </p:sp>
        <p:sp>
          <p:nvSpPr>
            <p:cNvPr name="TextBox 31" id="31"/>
            <p:cNvSpPr txBox="true"/>
            <p:nvPr/>
          </p:nvSpPr>
          <p:spPr>
            <a:xfrm>
              <a:off x="0" y="47625"/>
              <a:ext cx="2198712" cy="1228296"/>
            </a:xfrm>
            <a:prstGeom prst="rect">
              <a:avLst/>
            </a:prstGeom>
          </p:spPr>
          <p:txBody>
            <a:bodyPr anchor="ctr" rtlCol="false" tIns="50800" lIns="50800" bIns="50800" rIns="50800"/>
            <a:lstStyle/>
            <a:p>
              <a:pPr algn="ctr">
                <a:lnSpc>
                  <a:spcPts val="1134"/>
                </a:lnSpc>
              </a:pPr>
            </a:p>
          </p:txBody>
        </p:sp>
      </p:grpSp>
      <p:grpSp>
        <p:nvGrpSpPr>
          <p:cNvPr name="Group 32" id="32"/>
          <p:cNvGrpSpPr/>
          <p:nvPr/>
        </p:nvGrpSpPr>
        <p:grpSpPr>
          <a:xfrm rot="0">
            <a:off x="992616" y="4395456"/>
            <a:ext cx="8348235" cy="4844514"/>
            <a:chOff x="0" y="0"/>
            <a:chExt cx="2198712" cy="1275921"/>
          </a:xfrm>
        </p:grpSpPr>
        <p:sp>
          <p:nvSpPr>
            <p:cNvPr name="Freeform 33" id="33"/>
            <p:cNvSpPr/>
            <p:nvPr/>
          </p:nvSpPr>
          <p:spPr>
            <a:xfrm flipH="false" flipV="false" rot="0">
              <a:off x="0" y="0"/>
              <a:ext cx="2198712" cy="1275921"/>
            </a:xfrm>
            <a:custGeom>
              <a:avLst/>
              <a:gdLst/>
              <a:ahLst/>
              <a:cxnLst/>
              <a:rect r="r" b="b" t="t" l="l"/>
              <a:pathLst>
                <a:path h="1275921" w="2198712">
                  <a:moveTo>
                    <a:pt x="46369" y="0"/>
                  </a:moveTo>
                  <a:lnTo>
                    <a:pt x="2152343" y="0"/>
                  </a:lnTo>
                  <a:cubicBezTo>
                    <a:pt x="2164641" y="0"/>
                    <a:pt x="2176435" y="4885"/>
                    <a:pt x="2185131" y="13581"/>
                  </a:cubicBezTo>
                  <a:cubicBezTo>
                    <a:pt x="2193827" y="22277"/>
                    <a:pt x="2198712" y="34071"/>
                    <a:pt x="2198712" y="46369"/>
                  </a:cubicBezTo>
                  <a:lnTo>
                    <a:pt x="2198712" y="1229553"/>
                  </a:lnTo>
                  <a:cubicBezTo>
                    <a:pt x="2198712" y="1241851"/>
                    <a:pt x="2193827" y="1253645"/>
                    <a:pt x="2185131" y="1262340"/>
                  </a:cubicBezTo>
                  <a:cubicBezTo>
                    <a:pt x="2176435" y="1271036"/>
                    <a:pt x="2164641" y="1275921"/>
                    <a:pt x="2152343" y="1275921"/>
                  </a:cubicBezTo>
                  <a:lnTo>
                    <a:pt x="46369" y="1275921"/>
                  </a:lnTo>
                  <a:cubicBezTo>
                    <a:pt x="20760" y="1275921"/>
                    <a:pt x="0" y="1255161"/>
                    <a:pt x="0" y="1229553"/>
                  </a:cubicBezTo>
                  <a:lnTo>
                    <a:pt x="0" y="46369"/>
                  </a:lnTo>
                  <a:cubicBezTo>
                    <a:pt x="0" y="34071"/>
                    <a:pt x="4885" y="22277"/>
                    <a:pt x="13581" y="13581"/>
                  </a:cubicBezTo>
                  <a:cubicBezTo>
                    <a:pt x="22277" y="4885"/>
                    <a:pt x="34071" y="0"/>
                    <a:pt x="46369" y="0"/>
                  </a:cubicBezTo>
                  <a:close/>
                </a:path>
              </a:pathLst>
            </a:custGeom>
            <a:ln w="19050" cap="rnd">
              <a:gradFill>
                <a:gsLst>
                  <a:gs pos="0">
                    <a:srgbClr val="5DE0E6">
                      <a:alpha val="100000"/>
                    </a:srgbClr>
                  </a:gs>
                  <a:gs pos="100000">
                    <a:srgbClr val="004AAD">
                      <a:alpha val="100000"/>
                    </a:srgbClr>
                  </a:gs>
                </a:gsLst>
                <a:lin ang="0"/>
              </a:gradFill>
              <a:prstDash val="solid"/>
              <a:round/>
            </a:ln>
          </p:spPr>
        </p:sp>
        <p:sp>
          <p:nvSpPr>
            <p:cNvPr name="TextBox 34" id="34"/>
            <p:cNvSpPr txBox="true"/>
            <p:nvPr/>
          </p:nvSpPr>
          <p:spPr>
            <a:xfrm>
              <a:off x="0" y="47625"/>
              <a:ext cx="2198712" cy="1228296"/>
            </a:xfrm>
            <a:prstGeom prst="rect">
              <a:avLst/>
            </a:prstGeom>
          </p:spPr>
          <p:txBody>
            <a:bodyPr anchor="ctr" rtlCol="false" tIns="50800" lIns="50800" bIns="50800" rIns="50800"/>
            <a:lstStyle/>
            <a:p>
              <a:pPr algn="ctr">
                <a:lnSpc>
                  <a:spcPts val="1134"/>
                </a:lnSpc>
              </a:pPr>
            </a:p>
          </p:txBody>
        </p:sp>
      </p:grpSp>
      <p:grpSp>
        <p:nvGrpSpPr>
          <p:cNvPr name="Group 35" id="35"/>
          <p:cNvGrpSpPr/>
          <p:nvPr/>
        </p:nvGrpSpPr>
        <p:grpSpPr>
          <a:xfrm rot="0">
            <a:off x="1509670" y="4889267"/>
            <a:ext cx="7314126" cy="3856892"/>
            <a:chOff x="0" y="0"/>
            <a:chExt cx="1313684" cy="692733"/>
          </a:xfrm>
        </p:grpSpPr>
        <p:sp>
          <p:nvSpPr>
            <p:cNvPr name="Freeform 36" id="36"/>
            <p:cNvSpPr/>
            <p:nvPr/>
          </p:nvSpPr>
          <p:spPr>
            <a:xfrm flipH="false" flipV="false" rot="0">
              <a:off x="0" y="0"/>
              <a:ext cx="1313684" cy="692733"/>
            </a:xfrm>
            <a:custGeom>
              <a:avLst/>
              <a:gdLst/>
              <a:ahLst/>
              <a:cxnLst/>
              <a:rect r="r" b="b" t="t" l="l"/>
              <a:pathLst>
                <a:path h="692733" w="1313684">
                  <a:moveTo>
                    <a:pt x="52924" y="0"/>
                  </a:moveTo>
                  <a:lnTo>
                    <a:pt x="1260760" y="0"/>
                  </a:lnTo>
                  <a:cubicBezTo>
                    <a:pt x="1289989" y="0"/>
                    <a:pt x="1313684" y="23695"/>
                    <a:pt x="1313684" y="52924"/>
                  </a:cubicBezTo>
                  <a:lnTo>
                    <a:pt x="1313684" y="639809"/>
                  </a:lnTo>
                  <a:cubicBezTo>
                    <a:pt x="1313684" y="653845"/>
                    <a:pt x="1308109" y="667307"/>
                    <a:pt x="1298183" y="677232"/>
                  </a:cubicBezTo>
                  <a:cubicBezTo>
                    <a:pt x="1288258" y="687157"/>
                    <a:pt x="1274796" y="692733"/>
                    <a:pt x="1260760" y="692733"/>
                  </a:cubicBezTo>
                  <a:lnTo>
                    <a:pt x="52924" y="692733"/>
                  </a:lnTo>
                  <a:cubicBezTo>
                    <a:pt x="38888" y="692733"/>
                    <a:pt x="25426" y="687157"/>
                    <a:pt x="15501" y="677232"/>
                  </a:cubicBezTo>
                  <a:cubicBezTo>
                    <a:pt x="5576" y="667307"/>
                    <a:pt x="0" y="653845"/>
                    <a:pt x="0" y="639809"/>
                  </a:cubicBezTo>
                  <a:lnTo>
                    <a:pt x="0" y="52924"/>
                  </a:lnTo>
                  <a:cubicBezTo>
                    <a:pt x="0" y="38888"/>
                    <a:pt x="5576" y="25426"/>
                    <a:pt x="15501" y="15501"/>
                  </a:cubicBezTo>
                  <a:cubicBezTo>
                    <a:pt x="25426" y="5576"/>
                    <a:pt x="38888" y="0"/>
                    <a:pt x="52924" y="0"/>
                  </a:cubicBezTo>
                  <a:close/>
                </a:path>
              </a:pathLst>
            </a:custGeom>
            <a:blipFill>
              <a:blip r:embed="rId9"/>
              <a:stretch>
                <a:fillRect l="0" t="-13291" r="0" b="-13291"/>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DAHZGJTs-j8</dc:identifier>
  <dcterms:modified xsi:type="dcterms:W3CDTF">2011-08-01T06:04:30Z</dcterms:modified>
  <cp:revision>1</cp:revision>
  <dc:title>python ppt 2</dc:title>
</cp:coreProperties>
</file>